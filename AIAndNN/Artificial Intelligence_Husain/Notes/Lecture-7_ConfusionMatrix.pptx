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media/image1.png" ContentType="image/png"/>
  <Override PartName="/ppt/media/image2.svg" ContentType="image/svg"/>
  <Override PartName="/ppt/media/image5.png" ContentType="image/png"/>
  <Override PartName="/ppt/media/image3.png" ContentType="image/png"/>
  <Override PartName="/ppt/media/image4.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69200" cy="114156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69200" cy="114156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69200" cy="114156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12"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pic>
        <p:nvPicPr>
          <p:cNvPr id="0" name="Graphic 7" descr=""/>
          <p:cNvPicPr/>
          <p:nvPr/>
        </p:nvPicPr>
        <p:blipFill>
          <a:blip r:embed="rId2">
            <a:extLst>
              <a:ext uri="{96DAC541-7B7A-43D3-8B79-37D633B846F1}">
                <asvg:svgBlip xmlns:asvg="http://schemas.microsoft.com/office/drawing/2016/SVG/main" r:embed="rId3"/>
              </a:ext>
            </a:extLst>
          </a:blip>
          <a:stretch/>
        </p:blipFill>
        <p:spPr>
          <a:xfrm>
            <a:off x="0" y="0"/>
            <a:ext cx="9484200" cy="5050440"/>
          </a:xfrm>
          <a:prstGeom prst="rect">
            <a:avLst/>
          </a:prstGeom>
          <a:noFill/>
          <a:ln w="0">
            <a:noFill/>
          </a:ln>
        </p:spPr>
      </p:pic>
      <p:sp>
        <p:nvSpPr>
          <p:cNvPr id="1" name="PlaceHolder 1"/>
          <p:cNvSpPr>
            <a:spLocks noGrp="1"/>
          </p:cNvSpPr>
          <p:nvPr>
            <p:ph type="title"/>
          </p:nvPr>
        </p:nvSpPr>
        <p:spPr>
          <a:xfrm>
            <a:off x="609480" y="273600"/>
            <a:ext cx="10969200" cy="114156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pic>
        <p:nvPicPr>
          <p:cNvPr id="4" name="Graphic 7" descr=""/>
          <p:cNvPicPr/>
          <p:nvPr/>
        </p:nvPicPr>
        <p:blipFill>
          <a:blip r:embed="rId2">
            <a:extLst>
              <a:ext uri="{96DAC541-7B7A-43D3-8B79-37D633B846F1}">
                <asvg:svgBlip xmlns:asvg="http://schemas.microsoft.com/office/drawing/2016/SVG/main" r:embed="rId3"/>
              </a:ext>
            </a:extLst>
          </a:blip>
          <a:stretch/>
        </p:blipFill>
        <p:spPr>
          <a:xfrm>
            <a:off x="0" y="0"/>
            <a:ext cx="9484200" cy="5050440"/>
          </a:xfrm>
          <a:prstGeom prst="rect">
            <a:avLst/>
          </a:prstGeom>
          <a:noFill/>
          <a:ln w="0">
            <a:noFill/>
          </a:ln>
        </p:spPr>
      </p:pic>
      <p:sp>
        <p:nvSpPr>
          <p:cNvPr id="5" name="PlaceHolder 1"/>
          <p:cNvSpPr>
            <a:spLocks noGrp="1"/>
          </p:cNvSpPr>
          <p:nvPr>
            <p:ph type="title"/>
          </p:nvPr>
        </p:nvSpPr>
        <p:spPr>
          <a:xfrm>
            <a:off x="609480" y="273600"/>
            <a:ext cx="10969200" cy="114156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pic>
        <p:nvPicPr>
          <p:cNvPr id="8" name="Graphic 7" descr=""/>
          <p:cNvPicPr/>
          <p:nvPr/>
        </p:nvPicPr>
        <p:blipFill>
          <a:blip r:embed="rId2">
            <a:extLst>
              <a:ext uri="{96DAC541-7B7A-43D3-8B79-37D633B846F1}">
                <asvg:svgBlip xmlns:asvg="http://schemas.microsoft.com/office/drawing/2016/SVG/main" r:embed="rId3"/>
              </a:ext>
            </a:extLst>
          </a:blip>
          <a:stretch/>
        </p:blipFill>
        <p:spPr>
          <a:xfrm>
            <a:off x="0" y="0"/>
            <a:ext cx="9484200" cy="5050440"/>
          </a:xfrm>
          <a:prstGeom prst="rect">
            <a:avLst/>
          </a:prstGeom>
          <a:noFill/>
          <a:ln w="0">
            <a:noFill/>
          </a:ln>
        </p:spPr>
      </p:pic>
      <p:sp>
        <p:nvSpPr>
          <p:cNvPr id="9" name="PlaceHolder 1"/>
          <p:cNvSpPr>
            <a:spLocks noGrp="1"/>
          </p:cNvSpPr>
          <p:nvPr>
            <p:ph type="title"/>
          </p:nvPr>
        </p:nvSpPr>
        <p:spPr>
          <a:xfrm>
            <a:off x="609480" y="273600"/>
            <a:ext cx="10969200" cy="114156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10"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uFillTx/>
                <a:latin typeface="Arial"/>
              </a:rPr>
              <a:t>Click to edit the outline text format</a:t>
            </a:r>
            <a:endParaRPr b="0" lang="en-US" sz="32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uFillTx/>
                <a:latin typeface="Arial"/>
              </a:rPr>
              <a:t>Second Outline Level</a:t>
            </a:r>
            <a:endParaRPr b="0" lang="en-US" sz="2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uFillTx/>
                <a:latin typeface="Arial"/>
              </a:rPr>
              <a:t>Third Outline Level</a:t>
            </a:r>
            <a:endParaRPr b="0" lang="en-US" sz="24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uFillTx/>
                <a:latin typeface="Arial"/>
              </a:rPr>
              <a:t>Fourth Outline Level</a:t>
            </a:r>
            <a:endParaRPr b="0" lang="en-US" sz="20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uFillTx/>
                <a:latin typeface="Arial"/>
              </a:rPr>
              <a:t>Fifth Outline Level</a:t>
            </a:r>
            <a:endParaRPr b="0" lang="en-US" sz="20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uFillTx/>
                <a:latin typeface="Arial"/>
              </a:rPr>
              <a:t>Sixth Outline Level</a:t>
            </a:r>
            <a:endParaRPr b="0" lang="en-US" sz="20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uFillTx/>
                <a:latin typeface="Arial"/>
              </a:rPr>
              <a:t>Seventh Outline Level</a:t>
            </a:r>
            <a:endParaRPr b="0" lang="en-US" sz="2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53"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6.png"/><Relationship Id="rId3"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7.png"/><Relationship Id="rId3"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8.png"/><Relationship Id="rId3"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9.png"/><Relationship Id="rId3"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10.png"/><Relationship Id="rId8"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12.png"/><Relationship Id="rId8"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PlaceHolder 1"/>
          <p:cNvSpPr>
            <a:spLocks noGrp="1"/>
          </p:cNvSpPr>
          <p:nvPr>
            <p:ph type="title"/>
          </p:nvPr>
        </p:nvSpPr>
        <p:spPr>
          <a:xfrm>
            <a:off x="3429000" y="4434840"/>
            <a:ext cx="7924680" cy="1118160"/>
          </a:xfrm>
          <a:prstGeom prst="rect">
            <a:avLst/>
          </a:prstGeom>
          <a:noFill/>
          <a:ln w="0">
            <a:noFill/>
          </a:ln>
        </p:spPr>
        <p:txBody>
          <a:bodyPr lIns="91440" rIns="91440" tIns="45720" bIns="45720" anchor="b">
            <a:noAutofit/>
          </a:bodyPr>
          <a:p>
            <a:pPr indent="0" defTabSz="914400">
              <a:lnSpc>
                <a:spcPct val="90000"/>
              </a:lnSpc>
              <a:buNone/>
              <a:tabLst>
                <a:tab algn="l" pos="0"/>
              </a:tabLst>
            </a:pPr>
            <a:r>
              <a:rPr b="1" lang="en-US" sz="4000" spc="150" strike="noStrike" u="none" cap="all">
                <a:solidFill>
                  <a:schemeClr val="dk1">
                    <a:lumMod val="75000"/>
                    <a:lumOff val="25000"/>
                  </a:schemeClr>
                </a:solidFill>
                <a:uFillTx/>
                <a:latin typeface="Tenorite"/>
              </a:rPr>
              <a:t>Supervised Learning</a:t>
            </a:r>
            <a:endParaRPr b="0" lang="en-US" sz="4000" strike="noStrike" u="none">
              <a:solidFill>
                <a:srgbClr val="000000"/>
              </a:solidFill>
              <a:uFillTx/>
              <a:latin typeface="Arial"/>
            </a:endParaRPr>
          </a:p>
        </p:txBody>
      </p:sp>
      <p:sp>
        <p:nvSpPr>
          <p:cNvPr id="14" name="PlaceHolder 2"/>
          <p:cNvSpPr>
            <a:spLocks noGrp="1"/>
          </p:cNvSpPr>
          <p:nvPr>
            <p:ph type="subTitle"/>
          </p:nvPr>
        </p:nvSpPr>
        <p:spPr>
          <a:xfrm>
            <a:off x="3520080" y="5556960"/>
            <a:ext cx="4937760" cy="39276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r>
              <a:rPr b="0" lang="en-US" sz="1800" strike="noStrike" u="none">
                <a:solidFill>
                  <a:schemeClr val="dk1">
                    <a:lumMod val="75000"/>
                    <a:lumOff val="25000"/>
                  </a:schemeClr>
                </a:solidFill>
                <a:uFillTx/>
                <a:latin typeface="Tenorite"/>
              </a:rPr>
              <a:t>Chapter 05 – Laura lgual &amp; Santa Segui </a:t>
            </a:r>
            <a:endParaRPr b="0" lang="en-US" sz="1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PlaceHolder 7"/>
          <p:cNvSpPr/>
          <p:nvPr/>
        </p:nvSpPr>
        <p:spPr>
          <a:xfrm>
            <a:off x="420120" y="172440"/>
            <a:ext cx="9635400" cy="510480"/>
          </a:xfrm>
          <a:prstGeom prst="rect">
            <a:avLst/>
          </a:prstGeom>
          <a:noFill/>
          <a:ln w="0">
            <a:noFill/>
          </a:ln>
        </p:spPr>
        <p:style>
          <a:lnRef idx="0"/>
          <a:fillRef idx="0"/>
          <a:effectRef idx="0"/>
          <a:fontRef idx="minor"/>
        </p:style>
        <p:txBody>
          <a:bodyPr lIns="90000" rIns="90000" tIns="45000" bIns="45000" anchor="ctr">
            <a:noAutofit/>
          </a:bodyPr>
          <a:p>
            <a:pPr defTabSz="914400">
              <a:lnSpc>
                <a:spcPct val="90000"/>
              </a:lnSpc>
              <a:spcBef>
                <a:spcPts val="1001"/>
              </a:spcBef>
              <a:tabLst>
                <a:tab algn="l" pos="0"/>
              </a:tabLst>
            </a:pPr>
            <a:r>
              <a:rPr b="1" lang="en-US" sz="2000" spc="150" strike="noStrike" u="none" cap="all">
                <a:solidFill>
                  <a:schemeClr val="dk1">
                    <a:lumMod val="75000"/>
                    <a:lumOff val="25000"/>
                  </a:schemeClr>
                </a:solidFill>
                <a:uFillTx/>
                <a:latin typeface="Tenorite"/>
                <a:ea typeface="DejaVu Sans"/>
              </a:rPr>
              <a:t>Machine Learning</a:t>
            </a:r>
            <a:endParaRPr b="0" lang="en-US" sz="2000" strike="noStrike" u="none">
              <a:solidFill>
                <a:srgbClr val="000000"/>
              </a:solidFill>
              <a:uFillTx/>
              <a:latin typeface="Arial"/>
            </a:endParaRPr>
          </a:p>
        </p:txBody>
      </p:sp>
      <p:sp>
        <p:nvSpPr>
          <p:cNvPr id="16" name=""/>
          <p:cNvSpPr/>
          <p:nvPr/>
        </p:nvSpPr>
        <p:spPr>
          <a:xfrm>
            <a:off x="432360" y="786960"/>
            <a:ext cx="11682720" cy="5612400"/>
          </a:xfrm>
          <a:prstGeom prst="rect">
            <a:avLst/>
          </a:prstGeom>
          <a:noFill/>
          <a:ln w="0">
            <a:noFill/>
          </a:ln>
        </p:spPr>
        <p:style>
          <a:lnRef idx="0"/>
          <a:fillRef idx="0"/>
          <a:effectRef idx="0"/>
          <a:fontRef idx="minor"/>
        </p:style>
        <p:txBody>
          <a:bodyPr lIns="0" rIns="0" tIns="0" bIns="0" anchor="t">
            <a:normAutofit fontScale="92500" lnSpcReduction="9999"/>
          </a:bodyPr>
          <a:p>
            <a:pPr marL="432000" indent="-324000">
              <a:lnSpc>
                <a:spcPct val="100000"/>
              </a:lnSpc>
              <a:spcBef>
                <a:spcPts val="1417"/>
              </a:spcBef>
              <a:buClr>
                <a:srgbClr val="000000"/>
              </a:buClr>
              <a:buSzPct val="45000"/>
              <a:buFont typeface="Wingdings" charset="2"/>
              <a:buChar char=""/>
            </a:pPr>
            <a:r>
              <a:rPr b="0" lang="en-US" sz="2000" strike="noStrike" u="none">
                <a:solidFill>
                  <a:srgbClr val="000000"/>
                </a:solidFill>
                <a:uFillTx/>
                <a:latin typeface="Arial"/>
                <a:ea typeface="DejaVu Sans"/>
              </a:rPr>
              <a:t>Three types of machine learning</a:t>
            </a:r>
            <a:endParaRPr b="0" lang="en-US" sz="2000" strike="noStrike" u="none">
              <a:solidFill>
                <a:srgbClr val="000000"/>
              </a:solidFill>
              <a:uFillTx/>
              <a:latin typeface="Arial"/>
            </a:endParaRPr>
          </a:p>
          <a:p>
            <a:pPr lvl="1" marL="864000" indent="-324000">
              <a:lnSpc>
                <a:spcPct val="100000"/>
              </a:lnSpc>
              <a:spcBef>
                <a:spcPts val="1417"/>
              </a:spcBef>
              <a:buClr>
                <a:srgbClr val="000000"/>
              </a:buClr>
              <a:buSzPct val="75000"/>
              <a:buFont typeface="Symbol" charset="2"/>
              <a:buChar char=""/>
            </a:pPr>
            <a:r>
              <a:rPr b="1" lang="en-US" sz="2000" strike="noStrike" u="none">
                <a:solidFill>
                  <a:srgbClr val="000000"/>
                </a:solidFill>
                <a:uFillTx/>
                <a:latin typeface="Arial"/>
                <a:ea typeface="DejaVu Sans"/>
              </a:rPr>
              <a:t>Supervised learning:</a:t>
            </a:r>
            <a:r>
              <a:rPr b="0" lang="en-US" sz="2000" strike="noStrike" u="none">
                <a:solidFill>
                  <a:srgbClr val="000000"/>
                </a:solidFill>
                <a:uFillTx/>
                <a:latin typeface="Arial"/>
                <a:ea typeface="DejaVu Sans"/>
              </a:rPr>
              <a:t> Learns by use of labeled data. Example Spam prediction algorithm</a:t>
            </a:r>
            <a:endParaRPr b="0" lang="en-US" sz="2000" strike="noStrike" u="none">
              <a:solidFill>
                <a:srgbClr val="000000"/>
              </a:solidFill>
              <a:uFillTx/>
              <a:latin typeface="Arial"/>
            </a:endParaRPr>
          </a:p>
          <a:p>
            <a:pPr lvl="4" marL="1080000" indent="-216000">
              <a:lnSpc>
                <a:spcPct val="100000"/>
              </a:lnSpc>
              <a:spcBef>
                <a:spcPts val="1417"/>
              </a:spcBef>
              <a:buClr>
                <a:srgbClr val="000000"/>
              </a:buClr>
              <a:buSzPct val="45000"/>
              <a:buFont typeface="Wingdings" charset="2"/>
              <a:buChar char=""/>
            </a:pPr>
            <a:r>
              <a:rPr b="0" lang="en-US" sz="2000" strike="noStrike" u="none">
                <a:solidFill>
                  <a:srgbClr val="000000"/>
                </a:solidFill>
                <a:uFillTx/>
                <a:latin typeface="Arial"/>
                <a:ea typeface="DejaVu Sans"/>
              </a:rPr>
              <a:t>Classification</a:t>
            </a:r>
            <a:endParaRPr b="0" lang="en-US" sz="2000" strike="noStrike" u="none">
              <a:solidFill>
                <a:srgbClr val="000000"/>
              </a:solidFill>
              <a:uFillTx/>
              <a:latin typeface="Arial"/>
            </a:endParaRPr>
          </a:p>
          <a:p>
            <a:pPr lvl="6" marL="1512000" indent="-216000">
              <a:lnSpc>
                <a:spcPct val="100000"/>
              </a:lnSpc>
              <a:spcBef>
                <a:spcPts val="1417"/>
              </a:spcBef>
              <a:buClr>
                <a:srgbClr val="000000"/>
              </a:buClr>
              <a:buSzPct val="45000"/>
              <a:buFont typeface="Wingdings" charset="2"/>
              <a:buChar char=""/>
            </a:pPr>
            <a:r>
              <a:rPr b="0" lang="en-US" sz="2000" strike="noStrike" u="none">
                <a:solidFill>
                  <a:srgbClr val="000000"/>
                </a:solidFill>
                <a:uFillTx/>
                <a:latin typeface="Arial"/>
                <a:ea typeface="DejaVu Sans"/>
              </a:rPr>
              <a:t>Multiclass classification</a:t>
            </a:r>
            <a:endParaRPr b="0" lang="en-US" sz="2000" strike="noStrike" u="none">
              <a:solidFill>
                <a:srgbClr val="000000"/>
              </a:solidFill>
              <a:uFillTx/>
              <a:latin typeface="Arial"/>
            </a:endParaRPr>
          </a:p>
          <a:p>
            <a:pPr lvl="6" marL="1512000" indent="-216000">
              <a:lnSpc>
                <a:spcPct val="100000"/>
              </a:lnSpc>
              <a:spcBef>
                <a:spcPts val="1417"/>
              </a:spcBef>
              <a:buClr>
                <a:srgbClr val="000000"/>
              </a:buClr>
              <a:buSzPct val="45000"/>
              <a:buFont typeface="Wingdings" charset="2"/>
              <a:buChar char=""/>
            </a:pPr>
            <a:r>
              <a:rPr b="0" lang="en-US" sz="2000" strike="noStrike" u="none">
                <a:solidFill>
                  <a:srgbClr val="000000"/>
                </a:solidFill>
                <a:uFillTx/>
                <a:latin typeface="Arial"/>
                <a:ea typeface="DejaVu Sans"/>
              </a:rPr>
              <a:t>Binary classification</a:t>
            </a:r>
            <a:endParaRPr b="0" lang="en-US" sz="2000" strike="noStrike" u="none">
              <a:solidFill>
                <a:srgbClr val="000000"/>
              </a:solidFill>
              <a:uFillTx/>
              <a:latin typeface="Arial"/>
            </a:endParaRPr>
          </a:p>
          <a:p>
            <a:pPr lvl="4" marL="1080000" indent="-216000">
              <a:lnSpc>
                <a:spcPct val="100000"/>
              </a:lnSpc>
              <a:spcBef>
                <a:spcPts val="1417"/>
              </a:spcBef>
              <a:buClr>
                <a:srgbClr val="000000"/>
              </a:buClr>
              <a:buSzPct val="45000"/>
              <a:buFont typeface="Wingdings" charset="2"/>
              <a:buChar char=""/>
            </a:pPr>
            <a:r>
              <a:rPr b="0" lang="en-US" sz="2000" strike="noStrike" u="none">
                <a:solidFill>
                  <a:srgbClr val="000000"/>
                </a:solidFill>
                <a:uFillTx/>
                <a:latin typeface="Arial"/>
                <a:ea typeface="DejaVu Sans"/>
              </a:rPr>
              <a:t>Regression </a:t>
            </a:r>
            <a:endParaRPr b="0" lang="en-US" sz="2000" strike="noStrike" u="none">
              <a:solidFill>
                <a:srgbClr val="000000"/>
              </a:solidFill>
              <a:uFillTx/>
              <a:latin typeface="Arial"/>
            </a:endParaRPr>
          </a:p>
          <a:p>
            <a:pPr lvl="1" marL="864000" indent="-324000">
              <a:lnSpc>
                <a:spcPct val="100000"/>
              </a:lnSpc>
              <a:spcBef>
                <a:spcPts val="1417"/>
              </a:spcBef>
              <a:buClr>
                <a:srgbClr val="000000"/>
              </a:buClr>
              <a:buSzPct val="75000"/>
              <a:buFont typeface="Symbol" charset="2"/>
              <a:buChar char=""/>
            </a:pPr>
            <a:r>
              <a:rPr b="1" lang="en-US" sz="2000" strike="noStrike" u="none">
                <a:solidFill>
                  <a:srgbClr val="000000"/>
                </a:solidFill>
                <a:uFillTx/>
                <a:latin typeface="Arial"/>
                <a:ea typeface="DejaVu Sans"/>
              </a:rPr>
              <a:t>Unsupervised learning:</a:t>
            </a:r>
            <a:r>
              <a:rPr b="0" lang="en-US" sz="2000" strike="noStrike" u="none">
                <a:solidFill>
                  <a:srgbClr val="000000"/>
                </a:solidFill>
                <a:uFillTx/>
                <a:latin typeface="Arial"/>
                <a:ea typeface="DejaVu Sans"/>
              </a:rPr>
              <a:t> Learns by use of unlabeled data. Ex Cluster books based on category</a:t>
            </a:r>
            <a:endParaRPr b="0" lang="en-US" sz="2000" strike="noStrike" u="none">
              <a:solidFill>
                <a:srgbClr val="000000"/>
              </a:solidFill>
              <a:uFillTx/>
              <a:latin typeface="Arial"/>
            </a:endParaRPr>
          </a:p>
          <a:p>
            <a:pPr lvl="4" marL="1080000" indent="-216000">
              <a:lnSpc>
                <a:spcPct val="100000"/>
              </a:lnSpc>
              <a:spcBef>
                <a:spcPts val="1417"/>
              </a:spcBef>
              <a:buClr>
                <a:srgbClr val="000000"/>
              </a:buClr>
              <a:buSzPct val="45000"/>
              <a:buFont typeface="Wingdings" charset="2"/>
              <a:buChar char=""/>
            </a:pPr>
            <a:r>
              <a:rPr b="0" lang="en-US" sz="2000" strike="noStrike" u="none">
                <a:solidFill>
                  <a:srgbClr val="000000"/>
                </a:solidFill>
                <a:uFillTx/>
                <a:latin typeface="Arial"/>
                <a:ea typeface="DejaVu Sans"/>
              </a:rPr>
              <a:t>Clustering (Connectivity, Centroid, Statistical)</a:t>
            </a:r>
            <a:endParaRPr b="0" lang="en-US" sz="2000" strike="noStrike" u="none">
              <a:solidFill>
                <a:srgbClr val="000000"/>
              </a:solidFill>
              <a:uFillTx/>
              <a:latin typeface="Arial"/>
            </a:endParaRPr>
          </a:p>
          <a:p>
            <a:pPr lvl="4" marL="1080000" indent="-216000">
              <a:lnSpc>
                <a:spcPct val="100000"/>
              </a:lnSpc>
              <a:spcBef>
                <a:spcPts val="1417"/>
              </a:spcBef>
              <a:buClr>
                <a:srgbClr val="000000"/>
              </a:buClr>
              <a:buSzPct val="45000"/>
              <a:buFont typeface="Wingdings" charset="2"/>
              <a:buChar char=""/>
            </a:pPr>
            <a:r>
              <a:rPr b="0" lang="en-US" sz="2000" strike="noStrike" u="none">
                <a:solidFill>
                  <a:srgbClr val="000000"/>
                </a:solidFill>
                <a:uFillTx/>
                <a:latin typeface="Arial"/>
                <a:ea typeface="DejaVu Sans"/>
              </a:rPr>
              <a:t>Outlier detection </a:t>
            </a:r>
            <a:endParaRPr b="0" lang="en-US" sz="2000" strike="noStrike" u="none">
              <a:solidFill>
                <a:srgbClr val="000000"/>
              </a:solidFill>
              <a:uFillTx/>
              <a:latin typeface="Arial"/>
            </a:endParaRPr>
          </a:p>
          <a:p>
            <a:pPr lvl="4" marL="1080000" indent="-216000">
              <a:lnSpc>
                <a:spcPct val="100000"/>
              </a:lnSpc>
              <a:spcBef>
                <a:spcPts val="1417"/>
              </a:spcBef>
              <a:buClr>
                <a:srgbClr val="000000"/>
              </a:buClr>
              <a:buSzPct val="45000"/>
              <a:buFont typeface="Wingdings" charset="2"/>
              <a:buChar char=""/>
            </a:pPr>
            <a:r>
              <a:rPr b="0" lang="en-US" sz="2000" strike="noStrike" u="none">
                <a:solidFill>
                  <a:srgbClr val="000000"/>
                </a:solidFill>
                <a:uFillTx/>
                <a:latin typeface="Arial"/>
                <a:ea typeface="DejaVu Sans"/>
              </a:rPr>
              <a:t>Latent variable modeling</a:t>
            </a:r>
            <a:endParaRPr b="0" lang="en-US" sz="2000" strike="noStrike" u="none">
              <a:solidFill>
                <a:srgbClr val="000000"/>
              </a:solidFill>
              <a:uFillTx/>
              <a:latin typeface="Arial"/>
            </a:endParaRPr>
          </a:p>
          <a:p>
            <a:pPr lvl="1" marL="864000" indent="-324000">
              <a:lnSpc>
                <a:spcPct val="100000"/>
              </a:lnSpc>
              <a:spcBef>
                <a:spcPts val="1417"/>
              </a:spcBef>
              <a:buClr>
                <a:srgbClr val="000000"/>
              </a:buClr>
              <a:buSzPct val="75000"/>
              <a:buFont typeface="Symbol" charset="2"/>
              <a:buChar char=""/>
            </a:pPr>
            <a:r>
              <a:rPr b="1" lang="en-US" sz="2000" strike="noStrike" u="none">
                <a:solidFill>
                  <a:srgbClr val="000000"/>
                </a:solidFill>
                <a:uFillTx/>
                <a:latin typeface="Arial"/>
                <a:ea typeface="DejaVu Sans"/>
              </a:rPr>
              <a:t>Reinforcement learning: </a:t>
            </a:r>
            <a:r>
              <a:rPr b="0" lang="en-US" sz="2000" strike="noStrike" u="none">
                <a:solidFill>
                  <a:srgbClr val="000000"/>
                </a:solidFill>
                <a:uFillTx/>
                <a:latin typeface="Arial"/>
                <a:ea typeface="DejaVu Sans"/>
              </a:rPr>
              <a:t>Software agents take actions in an environment and automatically try to improve its behavior. System of reward and punishment.</a:t>
            </a:r>
            <a:r>
              <a:rPr b="1" lang="en-US" sz="2000" strike="noStrike" u="none">
                <a:solidFill>
                  <a:srgbClr val="000000"/>
                </a:solidFill>
                <a:uFillTx/>
                <a:latin typeface="Arial"/>
                <a:ea typeface="DejaVu Sans"/>
              </a:rPr>
              <a:t> </a:t>
            </a:r>
            <a:r>
              <a:rPr b="0" lang="en-US" sz="2000" strike="noStrike" u="none">
                <a:solidFill>
                  <a:srgbClr val="000000"/>
                </a:solidFill>
                <a:uFillTx/>
                <a:latin typeface="Arial"/>
                <a:ea typeface="DejaVu Sans"/>
              </a:rPr>
              <a:t>Games</a:t>
            </a:r>
            <a:endParaRPr b="0" lang="en-US" sz="2000" strike="noStrike" u="none">
              <a:solidFill>
                <a:srgbClr val="000000"/>
              </a:solidFill>
              <a:uFillTx/>
              <a:latin typeface="Arial"/>
            </a:endParaRPr>
          </a:p>
          <a:p>
            <a:pPr lvl="4" marL="1080000" indent="-216000">
              <a:lnSpc>
                <a:spcPct val="100000"/>
              </a:lnSpc>
              <a:spcBef>
                <a:spcPts val="1417"/>
              </a:spcBef>
              <a:buClr>
                <a:srgbClr val="000000"/>
              </a:buClr>
              <a:buSzPct val="45000"/>
              <a:buFont typeface="Wingdings" charset="2"/>
              <a:buChar char=""/>
            </a:pPr>
            <a:r>
              <a:rPr b="0" lang="en-US" sz="2000" strike="noStrike" u="none">
                <a:solidFill>
                  <a:srgbClr val="000000"/>
                </a:solidFill>
                <a:uFillTx/>
                <a:latin typeface="Arial"/>
                <a:ea typeface="DejaVu Sans"/>
              </a:rPr>
              <a:t>Q-Learning</a:t>
            </a:r>
            <a:endParaRPr b="0" lang="en-US" sz="2000" strike="noStrike" u="none">
              <a:solidFill>
                <a:srgbClr val="000000"/>
              </a:solidFill>
              <a:uFillTx/>
              <a:latin typeface="Arial"/>
            </a:endParaRPr>
          </a:p>
          <a:p>
            <a:pPr lvl="4" marL="1080000" indent="-216000">
              <a:lnSpc>
                <a:spcPct val="100000"/>
              </a:lnSpc>
              <a:spcBef>
                <a:spcPts val="1417"/>
              </a:spcBef>
              <a:buClr>
                <a:srgbClr val="000000"/>
              </a:buClr>
              <a:buSzPct val="45000"/>
              <a:buFont typeface="Wingdings" charset="2"/>
              <a:buChar char=""/>
            </a:pPr>
            <a:r>
              <a:rPr b="0" lang="en-US" sz="2000" strike="noStrike" u="none">
                <a:solidFill>
                  <a:srgbClr val="000000"/>
                </a:solidFill>
                <a:uFillTx/>
                <a:latin typeface="Arial"/>
                <a:ea typeface="DejaVu Sans"/>
              </a:rPr>
              <a:t>Deep Q-Learning</a:t>
            </a: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PlaceHolder 3"/>
          <p:cNvSpPr/>
          <p:nvPr/>
        </p:nvSpPr>
        <p:spPr>
          <a:xfrm>
            <a:off x="420120" y="172440"/>
            <a:ext cx="9635400" cy="510480"/>
          </a:xfrm>
          <a:prstGeom prst="rect">
            <a:avLst/>
          </a:prstGeom>
          <a:noFill/>
          <a:ln w="0">
            <a:noFill/>
          </a:ln>
        </p:spPr>
        <p:style>
          <a:lnRef idx="0"/>
          <a:fillRef idx="0"/>
          <a:effectRef idx="0"/>
          <a:fontRef idx="minor"/>
        </p:style>
        <p:txBody>
          <a:bodyPr lIns="90000" rIns="90000" tIns="45000" bIns="45000" anchor="ctr">
            <a:noAutofit/>
          </a:bodyPr>
          <a:p>
            <a:pPr defTabSz="914400">
              <a:lnSpc>
                <a:spcPct val="90000"/>
              </a:lnSpc>
              <a:spcBef>
                <a:spcPts val="1001"/>
              </a:spcBef>
              <a:tabLst>
                <a:tab algn="l" pos="0"/>
              </a:tabLst>
            </a:pPr>
            <a:r>
              <a:rPr b="1" lang="en-US" sz="2000" spc="150" strike="noStrike" u="none" cap="all">
                <a:solidFill>
                  <a:schemeClr val="dk1">
                    <a:lumMod val="75000"/>
                    <a:lumOff val="25000"/>
                  </a:schemeClr>
                </a:solidFill>
                <a:uFillTx/>
                <a:latin typeface="Tenorite"/>
                <a:ea typeface="DejaVu Sans"/>
              </a:rPr>
              <a:t>Classification algorithm – Confusion matrix</a:t>
            </a:r>
            <a:endParaRPr b="0" lang="en-US" sz="2000" strike="noStrike" u="none">
              <a:solidFill>
                <a:srgbClr val="000000"/>
              </a:solidFill>
              <a:uFillTx/>
              <a:latin typeface="Arial"/>
            </a:endParaRPr>
          </a:p>
        </p:txBody>
      </p:sp>
      <p:sp>
        <p:nvSpPr>
          <p:cNvPr id="18" name=""/>
          <p:cNvSpPr/>
          <p:nvPr/>
        </p:nvSpPr>
        <p:spPr>
          <a:xfrm>
            <a:off x="432360" y="786960"/>
            <a:ext cx="11682720" cy="561240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A table is used to measure the performance of a classification algorithm. </a:t>
            </a:r>
            <a:endParaRPr b="0" lang="en-US" sz="2000" strike="noStrike" u="none">
              <a:solidFill>
                <a:srgbClr val="000000"/>
              </a:solidFill>
              <a:uFillTx/>
              <a:latin typeface="Arial"/>
            </a:endParaRPr>
          </a:p>
          <a:p>
            <a:pPr lvl="1" marL="864000" indent="-324000">
              <a:lnSpc>
                <a:spcPct val="100000"/>
              </a:lnSpc>
              <a:spcBef>
                <a:spcPts val="1417"/>
              </a:spcBef>
              <a:buClr>
                <a:srgbClr val="000000"/>
              </a:buClr>
              <a:buSzPct val="75000"/>
              <a:buFont typeface="Symbol" charset="2"/>
              <a:buChar char=""/>
            </a:pPr>
            <a:r>
              <a:rPr b="0" lang="en-US" sz="2000" strike="noStrike" u="none">
                <a:solidFill>
                  <a:srgbClr val="000000"/>
                </a:solidFill>
                <a:uFillTx/>
                <a:latin typeface="Arial"/>
                <a:ea typeface="DejaVu Sans"/>
              </a:rPr>
              <a:t> </a:t>
            </a:r>
            <a:endParaRPr b="0" lang="en-US" sz="2000" strike="noStrike" u="none">
              <a:solidFill>
                <a:srgbClr val="000000"/>
              </a:solidFill>
              <a:uFillTx/>
              <a:latin typeface="Arial"/>
            </a:endParaRPr>
          </a:p>
        </p:txBody>
      </p:sp>
      <p:pic>
        <p:nvPicPr>
          <p:cNvPr id="19" name="" descr=""/>
          <p:cNvPicPr/>
          <p:nvPr/>
        </p:nvPicPr>
        <p:blipFill>
          <a:blip r:embed="rId1"/>
          <a:stretch/>
        </p:blipFill>
        <p:spPr>
          <a:xfrm>
            <a:off x="50400" y="1439640"/>
            <a:ext cx="6136200" cy="3132000"/>
          </a:xfrm>
          <a:prstGeom prst="rect">
            <a:avLst/>
          </a:prstGeom>
          <a:noFill/>
          <a:ln w="0">
            <a:noFill/>
          </a:ln>
        </p:spPr>
      </p:pic>
      <p:pic>
        <p:nvPicPr>
          <p:cNvPr id="20" name="" descr=""/>
          <p:cNvPicPr/>
          <p:nvPr/>
        </p:nvPicPr>
        <p:blipFill>
          <a:blip r:embed="rId2"/>
          <a:srcRect l="11760" t="11093" r="14707" b="0"/>
          <a:stretch/>
        </p:blipFill>
        <p:spPr>
          <a:xfrm>
            <a:off x="7822440" y="3886560"/>
            <a:ext cx="4369680" cy="29714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4"/>
          <p:cNvSpPr/>
          <p:nvPr/>
        </p:nvSpPr>
        <p:spPr>
          <a:xfrm>
            <a:off x="420120" y="172440"/>
            <a:ext cx="9635400" cy="510480"/>
          </a:xfrm>
          <a:prstGeom prst="rect">
            <a:avLst/>
          </a:prstGeom>
          <a:noFill/>
          <a:ln w="0">
            <a:noFill/>
          </a:ln>
        </p:spPr>
        <p:style>
          <a:lnRef idx="0"/>
          <a:fillRef idx="0"/>
          <a:effectRef idx="0"/>
          <a:fontRef idx="minor"/>
        </p:style>
        <p:txBody>
          <a:bodyPr lIns="90000" rIns="90000" tIns="45000" bIns="45000" anchor="ctr">
            <a:noAutofit/>
          </a:bodyPr>
          <a:p>
            <a:pPr defTabSz="914400">
              <a:lnSpc>
                <a:spcPct val="90000"/>
              </a:lnSpc>
              <a:spcBef>
                <a:spcPts val="1001"/>
              </a:spcBef>
              <a:tabLst>
                <a:tab algn="l" pos="0"/>
              </a:tabLst>
            </a:pPr>
            <a:r>
              <a:rPr b="1" lang="en-US" sz="2000" spc="150" strike="noStrike" u="none" cap="all">
                <a:solidFill>
                  <a:schemeClr val="dk1">
                    <a:lumMod val="75000"/>
                    <a:lumOff val="25000"/>
                  </a:schemeClr>
                </a:solidFill>
                <a:uFillTx/>
                <a:latin typeface="Tenorite"/>
                <a:ea typeface="DejaVu Sans"/>
              </a:rPr>
              <a:t>Classification algorithm – Confusion matrix</a:t>
            </a:r>
            <a:endParaRPr b="0" lang="en-US" sz="2000" strike="noStrike" u="none">
              <a:solidFill>
                <a:srgbClr val="000000"/>
              </a:solidFill>
              <a:uFillTx/>
              <a:latin typeface="Arial"/>
            </a:endParaRPr>
          </a:p>
        </p:txBody>
      </p:sp>
      <p:sp>
        <p:nvSpPr>
          <p:cNvPr id="22" name=""/>
          <p:cNvSpPr/>
          <p:nvPr/>
        </p:nvSpPr>
        <p:spPr>
          <a:xfrm>
            <a:off x="432360" y="786960"/>
            <a:ext cx="11682720" cy="5612400"/>
          </a:xfrm>
          <a:prstGeom prst="rect">
            <a:avLst/>
          </a:prstGeom>
          <a:noFill/>
          <a:ln w="0">
            <a:noFill/>
          </a:ln>
        </p:spPr>
        <p:style>
          <a:lnRef idx="0"/>
          <a:fillRef idx="0"/>
          <a:effectRef idx="0"/>
          <a:fontRef idx="minor"/>
        </p:style>
        <p:txBody>
          <a:bodyPr lIns="0" rIns="0" tIns="0" bIns="0" anchor="t">
            <a:normAutofit fontScale="92500" lnSpcReduction="19999"/>
          </a:bodyPr>
          <a:p>
            <a:pPr marL="432000" indent="-324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Several performance metrics are defined through the combination of these elements. </a:t>
            </a:r>
            <a:endParaRPr b="0" lang="en-US" sz="2000" strike="noStrike" u="none">
              <a:solidFill>
                <a:srgbClr val="000000"/>
              </a:solidFill>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1" lang="en-US" sz="2000" strike="noStrike" u="none">
                <a:solidFill>
                  <a:srgbClr val="000000"/>
                </a:solidFill>
                <a:uFillTx/>
                <a:latin typeface="Arial"/>
                <a:ea typeface="DejaVu Sans"/>
              </a:rPr>
              <a:t>Accuracy:</a:t>
            </a:r>
            <a:r>
              <a:rPr b="0" lang="en-US" sz="2000" strike="noStrike" u="none">
                <a:solidFill>
                  <a:srgbClr val="000000"/>
                </a:solidFill>
                <a:uFillTx/>
                <a:latin typeface="Arial"/>
                <a:ea typeface="DejaVu Sans"/>
              </a:rPr>
              <a:t> Accuracy measures the overall correctness of a classification model. It is the ratio of correctly predicted observations to the total observations.</a:t>
            </a:r>
            <a:endParaRPr b="0" lang="en-US" sz="20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Accuracy is useful when dataset is balanced (i.e. the number of positive and negative samples are similar). </a:t>
            </a:r>
            <a:endParaRPr b="0" lang="en-US" sz="20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However, in imbalanced datasets (e.g. rare case detection, such as rare disease, or fraudulent transaction etc) accuracy can be misleading, because model might predict the majority class well, while failing in the minority class. </a:t>
            </a:r>
            <a:endParaRPr b="0" lang="en-US" sz="20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High accuracy is useful for balanced datasets.  </a:t>
            </a: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lvl="1" marL="864000" indent="-324000">
              <a:lnSpc>
                <a:spcPct val="100000"/>
              </a:lnSpc>
              <a:spcBef>
                <a:spcPts val="1417"/>
              </a:spcBef>
              <a:buClr>
                <a:srgbClr val="000000"/>
              </a:buClr>
              <a:buSzPct val="75000"/>
              <a:buFont typeface="Symbol" charset="2"/>
              <a:buChar char=""/>
            </a:pPr>
            <a:r>
              <a:rPr b="0" lang="en-US" sz="2000" strike="noStrike" u="none">
                <a:solidFill>
                  <a:srgbClr val="000000"/>
                </a:solidFill>
                <a:uFillTx/>
                <a:latin typeface="Arial"/>
                <a:ea typeface="DejaVu Sans"/>
              </a:rPr>
              <a:t> </a:t>
            </a:r>
            <a:endParaRPr b="0" lang="en-US" sz="2000" strike="noStrike" u="none">
              <a:solidFill>
                <a:srgbClr val="000000"/>
              </a:solidFill>
              <a:uFillTx/>
              <a:latin typeface="Arial"/>
            </a:endParaRPr>
          </a:p>
        </p:txBody>
      </p:sp>
      <p:pic>
        <p:nvPicPr>
          <p:cNvPr id="23" name="" descr=""/>
          <p:cNvPicPr/>
          <p:nvPr/>
        </p:nvPicPr>
        <p:blipFill>
          <a:blip r:embed="rId1"/>
          <a:srcRect l="11760" t="11093" r="14707" b="0"/>
          <a:stretch/>
        </p:blipFill>
        <p:spPr>
          <a:xfrm>
            <a:off x="7822080" y="3886200"/>
            <a:ext cx="4369680" cy="2971440"/>
          </a:xfrm>
          <a:prstGeom prst="rect">
            <a:avLst/>
          </a:prstGeom>
          <a:noFill/>
          <a:ln w="0">
            <a:noFill/>
          </a:ln>
        </p:spPr>
      </p:pic>
      <p:pic>
        <p:nvPicPr>
          <p:cNvPr id="24" name="" descr=""/>
          <p:cNvPicPr/>
          <p:nvPr/>
        </p:nvPicPr>
        <p:blipFill>
          <a:blip r:embed="rId2"/>
          <a:stretch/>
        </p:blipFill>
        <p:spPr>
          <a:xfrm>
            <a:off x="1828800" y="5305680"/>
            <a:ext cx="4139640" cy="86616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PlaceHolder 5"/>
          <p:cNvSpPr/>
          <p:nvPr/>
        </p:nvSpPr>
        <p:spPr>
          <a:xfrm>
            <a:off x="420120" y="172440"/>
            <a:ext cx="9635400" cy="510480"/>
          </a:xfrm>
          <a:prstGeom prst="rect">
            <a:avLst/>
          </a:prstGeom>
          <a:noFill/>
          <a:ln w="0">
            <a:noFill/>
          </a:ln>
        </p:spPr>
        <p:style>
          <a:lnRef idx="0"/>
          <a:fillRef idx="0"/>
          <a:effectRef idx="0"/>
          <a:fontRef idx="minor"/>
        </p:style>
        <p:txBody>
          <a:bodyPr lIns="90000" rIns="90000" tIns="45000" bIns="45000" anchor="ctr">
            <a:noAutofit/>
          </a:bodyPr>
          <a:p>
            <a:pPr defTabSz="914400">
              <a:lnSpc>
                <a:spcPct val="90000"/>
              </a:lnSpc>
              <a:spcBef>
                <a:spcPts val="1001"/>
              </a:spcBef>
              <a:tabLst>
                <a:tab algn="l" pos="0"/>
              </a:tabLst>
            </a:pPr>
            <a:r>
              <a:rPr b="1" lang="en-US" sz="2000" spc="150" strike="noStrike" u="none" cap="all">
                <a:solidFill>
                  <a:schemeClr val="dk1">
                    <a:lumMod val="75000"/>
                    <a:lumOff val="25000"/>
                  </a:schemeClr>
                </a:solidFill>
                <a:uFillTx/>
                <a:latin typeface="Tenorite"/>
                <a:ea typeface="DejaVu Sans"/>
              </a:rPr>
              <a:t>Classification algorithm – Confusion matrix</a:t>
            </a:r>
            <a:endParaRPr b="0" lang="en-US" sz="2000" strike="noStrike" u="none">
              <a:solidFill>
                <a:srgbClr val="000000"/>
              </a:solidFill>
              <a:uFillTx/>
              <a:latin typeface="Arial"/>
            </a:endParaRPr>
          </a:p>
        </p:txBody>
      </p:sp>
      <p:sp>
        <p:nvSpPr>
          <p:cNvPr id="26" name=""/>
          <p:cNvSpPr/>
          <p:nvPr/>
        </p:nvSpPr>
        <p:spPr>
          <a:xfrm>
            <a:off x="432360" y="786960"/>
            <a:ext cx="11682720" cy="561240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1" lang="en-US" sz="2000" strike="noStrike" u="none">
                <a:solidFill>
                  <a:srgbClr val="000000"/>
                </a:solidFill>
                <a:uFillTx/>
                <a:latin typeface="Arial"/>
                <a:ea typeface="DejaVu Sans"/>
              </a:rPr>
              <a:t>Sensitivity:</a:t>
            </a:r>
            <a:r>
              <a:rPr b="0" lang="en-US" sz="2000" strike="noStrike" u="none">
                <a:solidFill>
                  <a:srgbClr val="000000"/>
                </a:solidFill>
                <a:uFillTx/>
                <a:latin typeface="Arial"/>
                <a:ea typeface="DejaVu Sans"/>
              </a:rPr>
              <a:t> [Also called recall or True Positive Rate] Sensitivity measures the model’s ability to correctly identify positive cases (e.g. detecting a disease when it is actually present)</a:t>
            </a:r>
            <a:endParaRPr b="0" lang="en-US" sz="20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Sensitivity is important in scenarios where missing a positive case is costly such as cancer detection.</a:t>
            </a:r>
            <a:endParaRPr b="0" lang="en-US" sz="20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A high recall ensures that most positive cases are identified</a:t>
            </a:r>
            <a:endParaRPr b="0" lang="en-US" sz="20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Even if some false positive occurs. </a:t>
            </a: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lvl="1" marL="864000" indent="-324000">
              <a:lnSpc>
                <a:spcPct val="100000"/>
              </a:lnSpc>
              <a:spcBef>
                <a:spcPts val="1417"/>
              </a:spcBef>
              <a:buClr>
                <a:srgbClr val="000000"/>
              </a:buClr>
              <a:buSzPct val="75000"/>
              <a:buFont typeface="Symbol" charset="2"/>
              <a:buChar char=""/>
            </a:pPr>
            <a:r>
              <a:rPr b="0" lang="en-US" sz="2000" strike="noStrike" u="none">
                <a:solidFill>
                  <a:srgbClr val="000000"/>
                </a:solidFill>
                <a:uFillTx/>
                <a:latin typeface="Arial"/>
                <a:ea typeface="DejaVu Sans"/>
              </a:rPr>
              <a:t> </a:t>
            </a:r>
            <a:endParaRPr b="0" lang="en-US" sz="2000" strike="noStrike" u="none">
              <a:solidFill>
                <a:srgbClr val="000000"/>
              </a:solidFill>
              <a:uFillTx/>
              <a:latin typeface="Arial"/>
            </a:endParaRPr>
          </a:p>
        </p:txBody>
      </p:sp>
      <p:pic>
        <p:nvPicPr>
          <p:cNvPr id="27" name="" descr=""/>
          <p:cNvPicPr/>
          <p:nvPr/>
        </p:nvPicPr>
        <p:blipFill>
          <a:blip r:embed="rId1"/>
          <a:srcRect l="11760" t="11093" r="14707" b="0"/>
          <a:stretch/>
        </p:blipFill>
        <p:spPr>
          <a:xfrm>
            <a:off x="7822080" y="3886200"/>
            <a:ext cx="4369680" cy="2971440"/>
          </a:xfrm>
          <a:prstGeom prst="rect">
            <a:avLst/>
          </a:prstGeom>
          <a:noFill/>
          <a:ln w="0">
            <a:noFill/>
          </a:ln>
        </p:spPr>
      </p:pic>
      <p:pic>
        <p:nvPicPr>
          <p:cNvPr id="28" name="" descr=""/>
          <p:cNvPicPr/>
          <p:nvPr/>
        </p:nvPicPr>
        <p:blipFill>
          <a:blip r:embed="rId2"/>
          <a:stretch/>
        </p:blipFill>
        <p:spPr>
          <a:xfrm>
            <a:off x="1981440" y="5305680"/>
            <a:ext cx="4139640" cy="86616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6"/>
          <p:cNvSpPr/>
          <p:nvPr/>
        </p:nvSpPr>
        <p:spPr>
          <a:xfrm>
            <a:off x="420120" y="172440"/>
            <a:ext cx="9635400" cy="510480"/>
          </a:xfrm>
          <a:prstGeom prst="rect">
            <a:avLst/>
          </a:prstGeom>
          <a:noFill/>
          <a:ln w="0">
            <a:noFill/>
          </a:ln>
        </p:spPr>
        <p:style>
          <a:lnRef idx="0"/>
          <a:fillRef idx="0"/>
          <a:effectRef idx="0"/>
          <a:fontRef idx="minor"/>
        </p:style>
        <p:txBody>
          <a:bodyPr lIns="90000" rIns="90000" tIns="45000" bIns="45000" anchor="ctr">
            <a:noAutofit/>
          </a:bodyPr>
          <a:p>
            <a:pPr defTabSz="914400">
              <a:lnSpc>
                <a:spcPct val="90000"/>
              </a:lnSpc>
              <a:spcBef>
                <a:spcPts val="1001"/>
              </a:spcBef>
              <a:tabLst>
                <a:tab algn="l" pos="0"/>
              </a:tabLst>
            </a:pPr>
            <a:r>
              <a:rPr b="1" lang="en-US" sz="2000" spc="150" strike="noStrike" u="none" cap="all">
                <a:solidFill>
                  <a:schemeClr val="dk1">
                    <a:lumMod val="75000"/>
                    <a:lumOff val="25000"/>
                  </a:schemeClr>
                </a:solidFill>
                <a:uFillTx/>
                <a:latin typeface="Tenorite"/>
                <a:ea typeface="DejaVu Sans"/>
              </a:rPr>
              <a:t>Classification algorithm – Confusion matrix</a:t>
            </a:r>
            <a:endParaRPr b="0" lang="en-US" sz="2000" strike="noStrike" u="none">
              <a:solidFill>
                <a:srgbClr val="000000"/>
              </a:solidFill>
              <a:uFillTx/>
              <a:latin typeface="Arial"/>
            </a:endParaRPr>
          </a:p>
        </p:txBody>
      </p:sp>
      <p:sp>
        <p:nvSpPr>
          <p:cNvPr id="30" name=""/>
          <p:cNvSpPr/>
          <p:nvPr/>
        </p:nvSpPr>
        <p:spPr>
          <a:xfrm>
            <a:off x="432360" y="786960"/>
            <a:ext cx="11682720" cy="561240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1" lang="en-US" sz="2000" strike="noStrike" u="none">
                <a:solidFill>
                  <a:srgbClr val="000000"/>
                </a:solidFill>
                <a:uFillTx/>
                <a:latin typeface="Arial"/>
                <a:ea typeface="DejaVu Sans"/>
              </a:rPr>
              <a:t>Specificity:</a:t>
            </a:r>
            <a:r>
              <a:rPr b="0" lang="en-US" sz="2000" strike="noStrike" u="none">
                <a:solidFill>
                  <a:srgbClr val="000000"/>
                </a:solidFill>
                <a:uFillTx/>
                <a:latin typeface="Arial"/>
                <a:ea typeface="DejaVu Sans"/>
              </a:rPr>
              <a:t> [Also called True Negative Rate] Specificity measures the model’s ability to correctly identify negative cases (e.g. correctly identifying healthy individuals as not having a disease)</a:t>
            </a:r>
            <a:endParaRPr b="0" lang="en-US" sz="20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Specificity is important in cases where false positive need to be minimized.</a:t>
            </a:r>
            <a:endParaRPr b="0" lang="en-US" sz="20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Such as spam detection (avoiding classifier throwing legitimate emails in spam) </a:t>
            </a: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lvl="1" marL="864000" indent="-324000">
              <a:lnSpc>
                <a:spcPct val="100000"/>
              </a:lnSpc>
              <a:spcBef>
                <a:spcPts val="1417"/>
              </a:spcBef>
              <a:buClr>
                <a:srgbClr val="000000"/>
              </a:buClr>
              <a:buSzPct val="75000"/>
              <a:buFont typeface="Symbol" charset="2"/>
              <a:buChar char=""/>
            </a:pPr>
            <a:r>
              <a:rPr b="0" lang="en-US" sz="2000" strike="noStrike" u="none">
                <a:solidFill>
                  <a:srgbClr val="000000"/>
                </a:solidFill>
                <a:uFillTx/>
                <a:latin typeface="Arial"/>
                <a:ea typeface="DejaVu Sans"/>
              </a:rPr>
              <a:t> </a:t>
            </a:r>
            <a:endParaRPr b="0" lang="en-US" sz="2000" strike="noStrike" u="none">
              <a:solidFill>
                <a:srgbClr val="000000"/>
              </a:solidFill>
              <a:uFillTx/>
              <a:latin typeface="Arial"/>
            </a:endParaRPr>
          </a:p>
        </p:txBody>
      </p:sp>
      <p:pic>
        <p:nvPicPr>
          <p:cNvPr id="31" name="" descr=""/>
          <p:cNvPicPr/>
          <p:nvPr/>
        </p:nvPicPr>
        <p:blipFill>
          <a:blip r:embed="rId1"/>
          <a:srcRect l="11760" t="11093" r="14707" b="0"/>
          <a:stretch/>
        </p:blipFill>
        <p:spPr>
          <a:xfrm>
            <a:off x="7822080" y="3886200"/>
            <a:ext cx="4369680" cy="2971440"/>
          </a:xfrm>
          <a:prstGeom prst="rect">
            <a:avLst/>
          </a:prstGeom>
          <a:noFill/>
          <a:ln w="0">
            <a:noFill/>
          </a:ln>
        </p:spPr>
      </p:pic>
      <p:pic>
        <p:nvPicPr>
          <p:cNvPr id="32" name="" descr=""/>
          <p:cNvPicPr/>
          <p:nvPr/>
        </p:nvPicPr>
        <p:blipFill>
          <a:blip r:embed="rId2"/>
          <a:stretch/>
        </p:blipFill>
        <p:spPr>
          <a:xfrm>
            <a:off x="2514600" y="3657600"/>
            <a:ext cx="3504600" cy="7333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8"/>
          <p:cNvSpPr/>
          <p:nvPr/>
        </p:nvSpPr>
        <p:spPr>
          <a:xfrm>
            <a:off x="420120" y="172440"/>
            <a:ext cx="9635400" cy="510480"/>
          </a:xfrm>
          <a:prstGeom prst="rect">
            <a:avLst/>
          </a:prstGeom>
          <a:noFill/>
          <a:ln w="0">
            <a:noFill/>
          </a:ln>
        </p:spPr>
        <p:style>
          <a:lnRef idx="0"/>
          <a:fillRef idx="0"/>
          <a:effectRef idx="0"/>
          <a:fontRef idx="minor"/>
        </p:style>
        <p:txBody>
          <a:bodyPr lIns="90000" rIns="90000" tIns="45000" bIns="45000" anchor="ctr">
            <a:noAutofit/>
          </a:bodyPr>
          <a:p>
            <a:pPr defTabSz="914400">
              <a:lnSpc>
                <a:spcPct val="90000"/>
              </a:lnSpc>
              <a:spcBef>
                <a:spcPts val="1001"/>
              </a:spcBef>
              <a:tabLst>
                <a:tab algn="l" pos="0"/>
              </a:tabLst>
            </a:pPr>
            <a:r>
              <a:rPr b="1" lang="en-US" sz="2000" spc="150" strike="noStrike" u="none" cap="all">
                <a:solidFill>
                  <a:schemeClr val="dk1">
                    <a:lumMod val="75000"/>
                    <a:lumOff val="25000"/>
                  </a:schemeClr>
                </a:solidFill>
                <a:uFillTx/>
                <a:latin typeface="Tenorite"/>
                <a:ea typeface="DejaVu Sans"/>
              </a:rPr>
              <a:t>Classification algorithm – Confusion matrix</a:t>
            </a:r>
            <a:endParaRPr b="0" lang="en-US" sz="2000" strike="noStrike" u="none">
              <a:solidFill>
                <a:srgbClr val="000000"/>
              </a:solidFill>
              <a:uFillTx/>
              <a:latin typeface="Arial"/>
            </a:endParaRPr>
          </a:p>
        </p:txBody>
      </p:sp>
      <p:sp>
        <p:nvSpPr>
          <p:cNvPr id="34" name=""/>
          <p:cNvSpPr/>
          <p:nvPr/>
        </p:nvSpPr>
        <p:spPr>
          <a:xfrm>
            <a:off x="432360" y="786960"/>
            <a:ext cx="11682720" cy="561240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1" lang="en-US" sz="2000" strike="noStrike" u="none">
                <a:solidFill>
                  <a:srgbClr val="000000"/>
                </a:solidFill>
                <a:uFillTx/>
                <a:latin typeface="Arial"/>
                <a:ea typeface="DejaVu Sans"/>
              </a:rPr>
              <a:t>Precision:</a:t>
            </a:r>
            <a:r>
              <a:rPr b="0" lang="en-US" sz="2000" strike="noStrike" u="none">
                <a:solidFill>
                  <a:srgbClr val="000000"/>
                </a:solidFill>
                <a:uFillTx/>
                <a:latin typeface="Arial"/>
                <a:ea typeface="DejaVu Sans"/>
              </a:rPr>
              <a:t> [Also called Positive Prediction value] Precision measures how many of the predicted positive cases are actually positive. It focuses on the correctness of positive predictions. </a:t>
            </a:r>
            <a:endParaRPr b="0" lang="en-US" sz="20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Precision is essential in scenarios where false positive can have severe consequences, such as in fraud detection or judicial decisions (e.g. wrongful conviction)</a:t>
            </a: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lvl="1" marL="864000" indent="-324000">
              <a:lnSpc>
                <a:spcPct val="100000"/>
              </a:lnSpc>
              <a:spcBef>
                <a:spcPts val="1417"/>
              </a:spcBef>
              <a:buClr>
                <a:srgbClr val="000000"/>
              </a:buClr>
              <a:buSzPct val="75000"/>
              <a:buFont typeface="Symbol" charset="2"/>
              <a:buChar char=""/>
            </a:pPr>
            <a:r>
              <a:rPr b="0" lang="en-US" sz="2000" strike="noStrike" u="none">
                <a:solidFill>
                  <a:srgbClr val="000000"/>
                </a:solidFill>
                <a:uFillTx/>
                <a:latin typeface="Arial"/>
                <a:ea typeface="DejaVu Sans"/>
              </a:rPr>
              <a:t> </a:t>
            </a:r>
            <a:endParaRPr b="0" lang="en-US" sz="2000" strike="noStrike" u="none">
              <a:solidFill>
                <a:srgbClr val="000000"/>
              </a:solidFill>
              <a:uFillTx/>
              <a:latin typeface="Arial"/>
            </a:endParaRPr>
          </a:p>
        </p:txBody>
      </p:sp>
      <p:pic>
        <p:nvPicPr>
          <p:cNvPr id="35" name="" descr=""/>
          <p:cNvPicPr/>
          <p:nvPr/>
        </p:nvPicPr>
        <p:blipFill>
          <a:blip r:embed="rId1"/>
          <a:srcRect l="11760" t="11093" r="14707" b="0"/>
          <a:stretch/>
        </p:blipFill>
        <p:spPr>
          <a:xfrm>
            <a:off x="7822080" y="3886200"/>
            <a:ext cx="4369680" cy="2971440"/>
          </a:xfrm>
          <a:prstGeom prst="rect">
            <a:avLst/>
          </a:prstGeom>
          <a:noFill/>
          <a:ln w="0">
            <a:noFill/>
          </a:ln>
        </p:spPr>
      </p:pic>
      <p:pic>
        <p:nvPicPr>
          <p:cNvPr id="36" name="" descr=""/>
          <p:cNvPicPr/>
          <p:nvPr/>
        </p:nvPicPr>
        <p:blipFill>
          <a:blip r:embed="rId2"/>
          <a:stretch/>
        </p:blipFill>
        <p:spPr>
          <a:xfrm>
            <a:off x="2210040" y="4114800"/>
            <a:ext cx="3047400" cy="63756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9"/>
          <p:cNvSpPr/>
          <p:nvPr/>
        </p:nvSpPr>
        <p:spPr>
          <a:xfrm>
            <a:off x="420120" y="172440"/>
            <a:ext cx="9635400" cy="510480"/>
          </a:xfrm>
          <a:prstGeom prst="rect">
            <a:avLst/>
          </a:prstGeom>
          <a:noFill/>
          <a:ln w="0">
            <a:noFill/>
          </a:ln>
        </p:spPr>
        <p:style>
          <a:lnRef idx="0"/>
          <a:fillRef idx="0"/>
          <a:effectRef idx="0"/>
          <a:fontRef idx="minor"/>
        </p:style>
        <p:txBody>
          <a:bodyPr lIns="90000" rIns="90000" tIns="45000" bIns="45000" anchor="ctr">
            <a:noAutofit/>
          </a:bodyPr>
          <a:p>
            <a:pPr defTabSz="914400">
              <a:lnSpc>
                <a:spcPct val="90000"/>
              </a:lnSpc>
              <a:spcBef>
                <a:spcPts val="1001"/>
              </a:spcBef>
              <a:tabLst>
                <a:tab algn="l" pos="0"/>
              </a:tabLst>
            </a:pPr>
            <a:r>
              <a:rPr b="1" lang="en-US" sz="2000" spc="150" strike="noStrike" u="none" cap="all">
                <a:solidFill>
                  <a:schemeClr val="dk1">
                    <a:lumMod val="75000"/>
                    <a:lumOff val="25000"/>
                  </a:schemeClr>
                </a:solidFill>
                <a:uFillTx/>
                <a:latin typeface="Tenorite"/>
                <a:ea typeface="DejaVu Sans"/>
              </a:rPr>
              <a:t>Classification algorithm – Confusion matrix</a:t>
            </a:r>
            <a:endParaRPr b="0" lang="en-US" sz="2000" strike="noStrike" u="none">
              <a:solidFill>
                <a:srgbClr val="000000"/>
              </a:solidFill>
              <a:uFillTx/>
              <a:latin typeface="Arial"/>
            </a:endParaRPr>
          </a:p>
        </p:txBody>
      </p:sp>
      <p:sp>
        <p:nvSpPr>
          <p:cNvPr id="38" name=""/>
          <p:cNvSpPr/>
          <p:nvPr/>
        </p:nvSpPr>
        <p:spPr>
          <a:xfrm>
            <a:off x="432360" y="786960"/>
            <a:ext cx="11682720" cy="561240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1" lang="en-US" sz="2000" strike="noStrike" u="none">
                <a:solidFill>
                  <a:srgbClr val="000000"/>
                </a:solidFill>
                <a:uFillTx/>
                <a:latin typeface="Arial"/>
                <a:ea typeface="DejaVu Sans"/>
              </a:rPr>
              <a:t>Negative Prediction Value (NPV):</a:t>
            </a:r>
            <a:r>
              <a:rPr b="0" lang="en-US" sz="2000" strike="noStrike" u="none">
                <a:solidFill>
                  <a:srgbClr val="000000"/>
                </a:solidFill>
                <a:uFillTx/>
                <a:latin typeface="Arial"/>
                <a:ea typeface="DejaVu Sans"/>
              </a:rPr>
              <a:t> It measures how many of the predicted negative cases are actually negative. </a:t>
            </a:r>
            <a:endParaRPr b="0" lang="en-US" sz="20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It is important when ensuring negative predictions are reliable. </a:t>
            </a:r>
            <a:endParaRPr b="0" lang="en-US" sz="20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E.g. ruling out diseases in medical test. </a:t>
            </a: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lvl="1" marL="864000" indent="-324000">
              <a:lnSpc>
                <a:spcPct val="100000"/>
              </a:lnSpc>
              <a:spcBef>
                <a:spcPts val="1417"/>
              </a:spcBef>
              <a:buClr>
                <a:srgbClr val="000000"/>
              </a:buClr>
              <a:buSzPct val="75000"/>
              <a:buFont typeface="Symbol" charset="2"/>
              <a:buChar char=""/>
            </a:pPr>
            <a:r>
              <a:rPr b="0" lang="en-US" sz="2000" strike="noStrike" u="none">
                <a:solidFill>
                  <a:srgbClr val="000000"/>
                </a:solidFill>
                <a:uFillTx/>
                <a:latin typeface="Arial"/>
                <a:ea typeface="DejaVu Sans"/>
              </a:rPr>
              <a:t> </a:t>
            </a:r>
            <a:endParaRPr b="0" lang="en-US" sz="2000" strike="noStrike" u="none">
              <a:solidFill>
                <a:srgbClr val="000000"/>
              </a:solidFill>
              <a:uFillTx/>
              <a:latin typeface="Arial"/>
            </a:endParaRPr>
          </a:p>
        </p:txBody>
      </p:sp>
      <p:pic>
        <p:nvPicPr>
          <p:cNvPr id="39" name="" descr=""/>
          <p:cNvPicPr/>
          <p:nvPr/>
        </p:nvPicPr>
        <p:blipFill>
          <a:blip r:embed="rId1"/>
          <a:srcRect l="11760" t="11093" r="14707" b="0"/>
          <a:stretch/>
        </p:blipFill>
        <p:spPr>
          <a:xfrm>
            <a:off x="7822080" y="3886200"/>
            <a:ext cx="4369680" cy="2971440"/>
          </a:xfrm>
          <a:prstGeom prst="rect">
            <a:avLst/>
          </a:prstGeom>
          <a:noFill/>
          <a:ln w="0">
            <a:noFill/>
          </a:ln>
        </p:spPr>
      </p:pic>
      <p:pic>
        <p:nvPicPr>
          <p:cNvPr id="40" name="" descr=""/>
          <p:cNvPicPr/>
          <p:nvPr/>
        </p:nvPicPr>
        <p:blipFill>
          <a:blip r:embed="rId2"/>
          <a:stretch/>
        </p:blipFill>
        <p:spPr>
          <a:xfrm>
            <a:off x="2743200" y="4800600"/>
            <a:ext cx="3047400" cy="63756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0"/>
          <p:cNvSpPr/>
          <p:nvPr/>
        </p:nvSpPr>
        <p:spPr>
          <a:xfrm>
            <a:off x="420120" y="172440"/>
            <a:ext cx="9635400" cy="510480"/>
          </a:xfrm>
          <a:prstGeom prst="rect">
            <a:avLst/>
          </a:prstGeom>
          <a:noFill/>
          <a:ln w="0">
            <a:noFill/>
          </a:ln>
        </p:spPr>
        <p:style>
          <a:lnRef idx="0"/>
          <a:fillRef idx="0"/>
          <a:effectRef idx="0"/>
          <a:fontRef idx="minor"/>
        </p:style>
        <p:txBody>
          <a:bodyPr lIns="90000" rIns="90000" tIns="45000" bIns="45000" anchor="ctr">
            <a:noAutofit/>
          </a:bodyPr>
          <a:p>
            <a:pPr defTabSz="914400">
              <a:lnSpc>
                <a:spcPct val="90000"/>
              </a:lnSpc>
              <a:spcBef>
                <a:spcPts val="1001"/>
              </a:spcBef>
              <a:tabLst>
                <a:tab algn="l" pos="0"/>
              </a:tabLst>
            </a:pPr>
            <a:r>
              <a:rPr b="1" lang="en-US" sz="2000" spc="150" strike="noStrike" u="none" cap="all">
                <a:solidFill>
                  <a:schemeClr val="dk1">
                    <a:lumMod val="75000"/>
                    <a:lumOff val="25000"/>
                  </a:schemeClr>
                </a:solidFill>
                <a:uFillTx/>
                <a:latin typeface="Tenorite"/>
                <a:ea typeface="DejaVu Sans"/>
              </a:rPr>
              <a:t>Classification algorithm – Confusion matrix</a:t>
            </a:r>
            <a:endParaRPr b="0" lang="en-US" sz="2000" strike="noStrike" u="none">
              <a:solidFill>
                <a:srgbClr val="000000"/>
              </a:solidFill>
              <a:uFillTx/>
              <a:latin typeface="Arial"/>
            </a:endParaRPr>
          </a:p>
        </p:txBody>
      </p:sp>
      <p:sp>
        <p:nvSpPr>
          <p:cNvPr id="42" name=""/>
          <p:cNvSpPr/>
          <p:nvPr/>
        </p:nvSpPr>
        <p:spPr>
          <a:xfrm>
            <a:off x="432360" y="786960"/>
            <a:ext cx="11682720" cy="5612400"/>
          </a:xfrm>
          <a:prstGeom prst="rect">
            <a:avLst/>
          </a:prstGeom>
          <a:noFill/>
          <a:ln w="0">
            <a:noFill/>
          </a:ln>
        </p:spPr>
        <p:style>
          <a:lnRef idx="0"/>
          <a:fillRef idx="0"/>
          <a:effectRef idx="0"/>
          <a:fontRef idx="minor"/>
        </p:style>
        <p:txBody>
          <a:bodyPr lIns="0" rIns="0" tIns="0" bIns="0" anchor="t">
            <a:normAutofit fontScale="85000" lnSpcReduction="19999"/>
          </a:bodyPr>
          <a:p>
            <a:pPr marL="432000" indent="-324000">
              <a:lnSpc>
                <a:spcPct val="100000"/>
              </a:lnSpc>
              <a:spcBef>
                <a:spcPts val="1191"/>
              </a:spcBef>
              <a:spcAft>
                <a:spcPts val="992"/>
              </a:spcAft>
              <a:buClr>
                <a:srgbClr val="000000"/>
              </a:buClr>
              <a:buSzPct val="45000"/>
              <a:buFont typeface="Wingdings" charset="2"/>
              <a:buChar char=""/>
            </a:pPr>
            <a:r>
              <a:rPr b="1" lang="en-US" sz="2000" strike="noStrike" u="none">
                <a:solidFill>
                  <a:srgbClr val="000000"/>
                </a:solidFill>
                <a:uFillTx/>
                <a:latin typeface="Arial"/>
                <a:ea typeface="DejaVu Sans"/>
              </a:rPr>
              <a:t>Accuracy:</a:t>
            </a:r>
            <a:r>
              <a:rPr b="0" lang="en-US" sz="2000" strike="noStrike" u="none">
                <a:solidFill>
                  <a:srgbClr val="000000"/>
                </a:solidFill>
                <a:uFillTx/>
                <a:latin typeface="Arial"/>
                <a:ea typeface="DejaVu Sans"/>
              </a:rPr>
              <a:t> Accuracy measures the overall correctness of a classification model. It is the ratio of correctly predicted observations to the total observations.</a:t>
            </a:r>
            <a:endParaRPr b="0" lang="en-US" sz="2000" strike="noStrike" u="none">
              <a:solidFill>
                <a:srgbClr val="000000"/>
              </a:solidFill>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1" lang="en-US" sz="2000" strike="noStrike" u="none">
                <a:solidFill>
                  <a:srgbClr val="000000"/>
                </a:solidFill>
                <a:uFillTx/>
                <a:latin typeface="Arial"/>
                <a:ea typeface="DejaVu Sans"/>
              </a:rPr>
              <a:t>Sensitivity:</a:t>
            </a:r>
            <a:r>
              <a:rPr b="0" lang="en-US" sz="2000" strike="noStrike" u="none">
                <a:solidFill>
                  <a:srgbClr val="000000"/>
                </a:solidFill>
                <a:uFillTx/>
                <a:latin typeface="Arial"/>
                <a:ea typeface="DejaVu Sans"/>
              </a:rPr>
              <a:t> [Also called recall or True Positive Rate] Sensitivity measures the model’s ability to correctly identify positive cases (e.g. detecting a disease when it is actually present)</a:t>
            </a:r>
            <a:endParaRPr b="0" lang="en-US" sz="2000" strike="noStrike" u="none">
              <a:solidFill>
                <a:srgbClr val="000000"/>
              </a:solidFill>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1" lang="en-US" sz="2000" strike="noStrike" u="none">
                <a:solidFill>
                  <a:srgbClr val="000000"/>
                </a:solidFill>
                <a:uFillTx/>
                <a:latin typeface="Arial"/>
                <a:ea typeface="DejaVu Sans"/>
              </a:rPr>
              <a:t>Specificity:</a:t>
            </a:r>
            <a:r>
              <a:rPr b="0" lang="en-US" sz="2000" strike="noStrike" u="none">
                <a:solidFill>
                  <a:srgbClr val="000000"/>
                </a:solidFill>
                <a:uFillTx/>
                <a:latin typeface="Arial"/>
                <a:ea typeface="DejaVu Sans"/>
              </a:rPr>
              <a:t> [Also called True Negative Rate] Specificity measures the model’s ability to correctly identify negative cases (e.g. correctly identifying healthy individuals as not having a disease)</a:t>
            </a:r>
            <a:endParaRPr b="0" lang="en-US" sz="2000" strike="noStrike" u="none">
              <a:solidFill>
                <a:srgbClr val="000000"/>
              </a:solidFill>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1" lang="en-US" sz="2000" strike="noStrike" u="none">
                <a:solidFill>
                  <a:srgbClr val="000000"/>
                </a:solidFill>
                <a:uFillTx/>
                <a:latin typeface="Arial"/>
                <a:ea typeface="DejaVu Sans"/>
              </a:rPr>
              <a:t>Precision:</a:t>
            </a:r>
            <a:r>
              <a:rPr b="0" lang="en-US" sz="2000" strike="noStrike" u="none">
                <a:solidFill>
                  <a:srgbClr val="000000"/>
                </a:solidFill>
                <a:uFillTx/>
                <a:latin typeface="Arial"/>
                <a:ea typeface="DejaVu Sans"/>
              </a:rPr>
              <a:t> [Also called Positive Prediction value] Precision measures how many of the predicted positive cases are actually positive. It focuses on the correctness of positive predictions. </a:t>
            </a:r>
            <a:endParaRPr b="0" lang="en-US" sz="2000" strike="noStrike" u="none">
              <a:solidFill>
                <a:srgbClr val="000000"/>
              </a:solidFill>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1" lang="en-US" sz="2000" strike="noStrike" u="none">
                <a:solidFill>
                  <a:srgbClr val="000000"/>
                </a:solidFill>
                <a:uFillTx/>
                <a:latin typeface="Arial"/>
                <a:ea typeface="DejaVu Sans"/>
              </a:rPr>
              <a:t>Negative Prediction Value (NPV):</a:t>
            </a:r>
            <a:r>
              <a:rPr b="0" lang="en-US" sz="2000" strike="noStrike" u="none">
                <a:solidFill>
                  <a:srgbClr val="000000"/>
                </a:solidFill>
                <a:uFillTx/>
                <a:latin typeface="Arial"/>
                <a:ea typeface="DejaVu Sans"/>
              </a:rPr>
              <a:t> It measures how many of the predicted negative cases are actually negative. </a:t>
            </a:r>
            <a:endParaRPr b="0" lang="en-US" sz="20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 </a:t>
            </a: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lvl="1" marL="864000" indent="-324000">
              <a:lnSpc>
                <a:spcPct val="100000"/>
              </a:lnSpc>
              <a:spcBef>
                <a:spcPts val="1417"/>
              </a:spcBef>
              <a:buClr>
                <a:srgbClr val="000000"/>
              </a:buClr>
              <a:buSzPct val="75000"/>
              <a:buFont typeface="Symbol" charset="2"/>
              <a:buChar char=""/>
            </a:pPr>
            <a:r>
              <a:rPr b="0" lang="en-US" sz="2000" strike="noStrike" u="none">
                <a:solidFill>
                  <a:srgbClr val="000000"/>
                </a:solidFill>
                <a:uFillTx/>
                <a:latin typeface="Arial"/>
                <a:ea typeface="DejaVu Sans"/>
              </a:rPr>
              <a:t> </a:t>
            </a:r>
            <a:endParaRPr b="0" lang="en-US" sz="2000" strike="noStrike" u="none">
              <a:solidFill>
                <a:srgbClr val="000000"/>
              </a:solidFill>
              <a:uFillTx/>
              <a:latin typeface="Arial"/>
            </a:endParaRPr>
          </a:p>
        </p:txBody>
      </p:sp>
      <p:pic>
        <p:nvPicPr>
          <p:cNvPr id="43" name="" descr=""/>
          <p:cNvPicPr/>
          <p:nvPr/>
        </p:nvPicPr>
        <p:blipFill>
          <a:blip r:embed="rId1"/>
          <a:srcRect l="11760" t="11093" r="14707" b="0"/>
          <a:stretch/>
        </p:blipFill>
        <p:spPr>
          <a:xfrm>
            <a:off x="7822080" y="3886200"/>
            <a:ext cx="4369680" cy="2971440"/>
          </a:xfrm>
          <a:prstGeom prst="rect">
            <a:avLst/>
          </a:prstGeom>
          <a:noFill/>
          <a:ln w="0">
            <a:noFill/>
          </a:ln>
        </p:spPr>
      </p:pic>
      <p:pic>
        <p:nvPicPr>
          <p:cNvPr id="44" name="" descr=""/>
          <p:cNvPicPr/>
          <p:nvPr/>
        </p:nvPicPr>
        <p:blipFill>
          <a:blip r:embed="rId2"/>
          <a:stretch/>
        </p:blipFill>
        <p:spPr>
          <a:xfrm>
            <a:off x="4724640" y="6220080"/>
            <a:ext cx="3047400" cy="637560"/>
          </a:xfrm>
          <a:prstGeom prst="rect">
            <a:avLst/>
          </a:prstGeom>
          <a:noFill/>
          <a:ln w="0">
            <a:noFill/>
          </a:ln>
        </p:spPr>
      </p:pic>
      <p:pic>
        <p:nvPicPr>
          <p:cNvPr id="45" name="" descr=""/>
          <p:cNvPicPr/>
          <p:nvPr/>
        </p:nvPicPr>
        <p:blipFill>
          <a:blip r:embed="rId3"/>
          <a:stretch/>
        </p:blipFill>
        <p:spPr>
          <a:xfrm>
            <a:off x="4724640" y="5534280"/>
            <a:ext cx="3047400" cy="637560"/>
          </a:xfrm>
          <a:prstGeom prst="rect">
            <a:avLst/>
          </a:prstGeom>
          <a:noFill/>
          <a:ln w="0">
            <a:noFill/>
          </a:ln>
        </p:spPr>
      </p:pic>
      <p:pic>
        <p:nvPicPr>
          <p:cNvPr id="46" name="" descr=""/>
          <p:cNvPicPr/>
          <p:nvPr/>
        </p:nvPicPr>
        <p:blipFill>
          <a:blip r:embed="rId4"/>
          <a:srcRect l="0" t="0" r="15212" b="0"/>
          <a:stretch/>
        </p:blipFill>
        <p:spPr>
          <a:xfrm>
            <a:off x="4748040" y="4753080"/>
            <a:ext cx="2971080" cy="733320"/>
          </a:xfrm>
          <a:prstGeom prst="rect">
            <a:avLst/>
          </a:prstGeom>
          <a:noFill/>
          <a:ln w="0">
            <a:noFill/>
          </a:ln>
        </p:spPr>
      </p:pic>
      <p:pic>
        <p:nvPicPr>
          <p:cNvPr id="47" name="" descr=""/>
          <p:cNvPicPr/>
          <p:nvPr/>
        </p:nvPicPr>
        <p:blipFill>
          <a:blip r:embed="rId5"/>
          <a:srcRect l="0" t="0" r="8612" b="0"/>
          <a:stretch/>
        </p:blipFill>
        <p:spPr>
          <a:xfrm>
            <a:off x="1778040" y="6188040"/>
            <a:ext cx="2924280" cy="669600"/>
          </a:xfrm>
          <a:prstGeom prst="rect">
            <a:avLst/>
          </a:prstGeom>
          <a:noFill/>
          <a:ln w="0">
            <a:noFill/>
          </a:ln>
        </p:spPr>
      </p:pic>
      <p:pic>
        <p:nvPicPr>
          <p:cNvPr id="48" name="" descr=""/>
          <p:cNvPicPr/>
          <p:nvPr/>
        </p:nvPicPr>
        <p:blipFill>
          <a:blip r:embed="rId6"/>
          <a:stretch/>
        </p:blipFill>
        <p:spPr>
          <a:xfrm>
            <a:off x="1676880" y="5535360"/>
            <a:ext cx="3047400" cy="63756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1"/>
          <p:cNvSpPr/>
          <p:nvPr/>
        </p:nvSpPr>
        <p:spPr>
          <a:xfrm>
            <a:off x="420120" y="172440"/>
            <a:ext cx="9635400" cy="510480"/>
          </a:xfrm>
          <a:prstGeom prst="rect">
            <a:avLst/>
          </a:prstGeom>
          <a:noFill/>
          <a:ln w="0">
            <a:noFill/>
          </a:ln>
        </p:spPr>
        <p:style>
          <a:lnRef idx="0"/>
          <a:fillRef idx="0"/>
          <a:effectRef idx="0"/>
          <a:fontRef idx="minor"/>
        </p:style>
        <p:txBody>
          <a:bodyPr lIns="90000" rIns="90000" tIns="45000" bIns="45000" anchor="ctr">
            <a:noAutofit/>
          </a:bodyPr>
          <a:p>
            <a:pPr defTabSz="914400">
              <a:lnSpc>
                <a:spcPct val="90000"/>
              </a:lnSpc>
              <a:spcBef>
                <a:spcPts val="1001"/>
              </a:spcBef>
              <a:tabLst>
                <a:tab algn="l" pos="0"/>
              </a:tabLst>
            </a:pPr>
            <a:r>
              <a:rPr b="1" lang="en-US" sz="2000" spc="150" strike="noStrike" u="none" cap="all">
                <a:solidFill>
                  <a:schemeClr val="dk1">
                    <a:lumMod val="75000"/>
                    <a:lumOff val="25000"/>
                  </a:schemeClr>
                </a:solidFill>
                <a:uFillTx/>
                <a:latin typeface="Tenorite"/>
                <a:ea typeface="DejaVu Sans"/>
              </a:rPr>
              <a:t>Classification algorithm – Confusion matrix - Example</a:t>
            </a:r>
            <a:endParaRPr b="0" lang="en-US" sz="2000" strike="noStrike" u="none">
              <a:solidFill>
                <a:srgbClr val="000000"/>
              </a:solidFill>
              <a:uFillTx/>
              <a:latin typeface="Arial"/>
            </a:endParaRPr>
          </a:p>
        </p:txBody>
      </p:sp>
      <p:sp>
        <p:nvSpPr>
          <p:cNvPr id="50" name=""/>
          <p:cNvSpPr/>
          <p:nvPr/>
        </p:nvSpPr>
        <p:spPr>
          <a:xfrm>
            <a:off x="432360" y="786960"/>
            <a:ext cx="11682720" cy="561240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 </a:t>
            </a:r>
            <a:endParaRPr b="0" lang="en-US" sz="20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2000" strike="noStrike" u="none">
                <a:solidFill>
                  <a:srgbClr val="000000"/>
                </a:solidFill>
                <a:uFillTx/>
                <a:latin typeface="Arial"/>
                <a:ea typeface="DejaVu Sans"/>
              </a:rPr>
              <a:t> </a:t>
            </a: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lvl="1" marL="864000" indent="-324000">
              <a:lnSpc>
                <a:spcPct val="100000"/>
              </a:lnSpc>
              <a:spcBef>
                <a:spcPts val="1417"/>
              </a:spcBef>
              <a:buClr>
                <a:srgbClr val="000000"/>
              </a:buClr>
              <a:buSzPct val="75000"/>
              <a:buFont typeface="Symbol" charset="2"/>
              <a:buChar char=""/>
            </a:pPr>
            <a:r>
              <a:rPr b="0" lang="en-US" sz="2000" strike="noStrike" u="none">
                <a:solidFill>
                  <a:srgbClr val="000000"/>
                </a:solidFill>
                <a:uFillTx/>
                <a:latin typeface="Arial"/>
                <a:ea typeface="DejaVu Sans"/>
              </a:rPr>
              <a:t> </a:t>
            </a:r>
            <a:endParaRPr b="0" lang="en-US" sz="2000" strike="noStrike" u="none">
              <a:solidFill>
                <a:srgbClr val="000000"/>
              </a:solidFill>
              <a:uFillTx/>
              <a:latin typeface="Arial"/>
            </a:endParaRPr>
          </a:p>
        </p:txBody>
      </p:sp>
      <p:pic>
        <p:nvPicPr>
          <p:cNvPr id="51" name="" descr=""/>
          <p:cNvPicPr/>
          <p:nvPr/>
        </p:nvPicPr>
        <p:blipFill>
          <a:blip r:embed="rId1"/>
          <a:srcRect l="11760" t="11093" r="14707" b="0"/>
          <a:stretch/>
        </p:blipFill>
        <p:spPr>
          <a:xfrm>
            <a:off x="7822080" y="3886200"/>
            <a:ext cx="4369680" cy="2971440"/>
          </a:xfrm>
          <a:prstGeom prst="rect">
            <a:avLst/>
          </a:prstGeom>
          <a:noFill/>
          <a:ln w="0">
            <a:noFill/>
          </a:ln>
        </p:spPr>
      </p:pic>
      <p:pic>
        <p:nvPicPr>
          <p:cNvPr id="52" name="" descr=""/>
          <p:cNvPicPr/>
          <p:nvPr/>
        </p:nvPicPr>
        <p:blipFill>
          <a:blip r:embed="rId2"/>
          <a:stretch/>
        </p:blipFill>
        <p:spPr>
          <a:xfrm>
            <a:off x="1524240" y="6220080"/>
            <a:ext cx="3047400" cy="637560"/>
          </a:xfrm>
          <a:prstGeom prst="rect">
            <a:avLst/>
          </a:prstGeom>
          <a:noFill/>
          <a:ln w="0">
            <a:noFill/>
          </a:ln>
        </p:spPr>
      </p:pic>
      <p:pic>
        <p:nvPicPr>
          <p:cNvPr id="53" name="" descr=""/>
          <p:cNvPicPr/>
          <p:nvPr/>
        </p:nvPicPr>
        <p:blipFill>
          <a:blip r:embed="rId3"/>
          <a:stretch/>
        </p:blipFill>
        <p:spPr>
          <a:xfrm>
            <a:off x="1524240" y="5486400"/>
            <a:ext cx="3047400" cy="637560"/>
          </a:xfrm>
          <a:prstGeom prst="rect">
            <a:avLst/>
          </a:prstGeom>
          <a:noFill/>
          <a:ln w="0">
            <a:noFill/>
          </a:ln>
        </p:spPr>
      </p:pic>
      <p:pic>
        <p:nvPicPr>
          <p:cNvPr id="54" name="" descr=""/>
          <p:cNvPicPr/>
          <p:nvPr/>
        </p:nvPicPr>
        <p:blipFill>
          <a:blip r:embed="rId4"/>
          <a:srcRect l="0" t="0" r="15212" b="0"/>
          <a:stretch/>
        </p:blipFill>
        <p:spPr>
          <a:xfrm>
            <a:off x="1600560" y="4524120"/>
            <a:ext cx="2971080" cy="733320"/>
          </a:xfrm>
          <a:prstGeom prst="rect">
            <a:avLst/>
          </a:prstGeom>
          <a:noFill/>
          <a:ln w="0">
            <a:noFill/>
          </a:ln>
        </p:spPr>
      </p:pic>
      <p:pic>
        <p:nvPicPr>
          <p:cNvPr id="55" name="" descr=""/>
          <p:cNvPicPr/>
          <p:nvPr/>
        </p:nvPicPr>
        <p:blipFill>
          <a:blip r:embed="rId5"/>
          <a:srcRect l="0" t="0" r="8612" b="0"/>
          <a:stretch/>
        </p:blipFill>
        <p:spPr>
          <a:xfrm>
            <a:off x="1600200" y="3657600"/>
            <a:ext cx="2924280" cy="669600"/>
          </a:xfrm>
          <a:prstGeom prst="rect">
            <a:avLst/>
          </a:prstGeom>
          <a:noFill/>
          <a:ln w="0">
            <a:noFill/>
          </a:ln>
        </p:spPr>
      </p:pic>
      <p:pic>
        <p:nvPicPr>
          <p:cNvPr id="56" name="" descr=""/>
          <p:cNvPicPr/>
          <p:nvPr/>
        </p:nvPicPr>
        <p:blipFill>
          <a:blip r:embed="rId6"/>
          <a:stretch/>
        </p:blipFill>
        <p:spPr>
          <a:xfrm>
            <a:off x="1524240" y="2791080"/>
            <a:ext cx="3047400" cy="637560"/>
          </a:xfrm>
          <a:prstGeom prst="rect">
            <a:avLst/>
          </a:prstGeom>
          <a:noFill/>
          <a:ln w="0">
            <a:noFill/>
          </a:ln>
        </p:spPr>
      </p:pic>
      <p:pic>
        <p:nvPicPr>
          <p:cNvPr id="57" name="" descr=""/>
          <p:cNvPicPr/>
          <p:nvPr/>
        </p:nvPicPr>
        <p:blipFill>
          <a:blip r:embed="rId7"/>
          <a:srcRect l="0" t="0" r="2486" b="0"/>
          <a:stretch/>
        </p:blipFill>
        <p:spPr>
          <a:xfrm>
            <a:off x="1371600" y="914400"/>
            <a:ext cx="7886160" cy="1599840"/>
          </a:xfrm>
          <a:prstGeom prst="rect">
            <a:avLst/>
          </a:prstGeom>
          <a:noFill/>
          <a:ln w="0">
            <a:noFill/>
          </a:ln>
        </p:spPr>
      </p:pic>
      <p:sp>
        <p:nvSpPr>
          <p:cNvPr id="58" name=""/>
          <p:cNvSpPr/>
          <p:nvPr/>
        </p:nvSpPr>
        <p:spPr>
          <a:xfrm>
            <a:off x="4775760" y="2917080"/>
            <a:ext cx="1624680" cy="3940560"/>
          </a:xfrm>
          <a:prstGeom prst="rect">
            <a:avLst/>
          </a:prstGeom>
          <a:noFill/>
          <a:ln w="0">
            <a:noFill/>
          </a:ln>
        </p:spPr>
        <p:style>
          <a:lnRef idx="0"/>
          <a:fillRef idx="0"/>
          <a:effectRef idx="0"/>
          <a:fontRef idx="minor"/>
        </p:style>
        <p:txBody>
          <a:bodyPr lIns="0" rIns="0" tIns="0" bIns="0" anchor="t">
            <a:normAutofit fontScale="25000" lnSpcReduction="19999"/>
          </a:bodyPr>
          <a:p>
            <a:pPr lvl="3" marL="864000" indent="-216000">
              <a:lnSpc>
                <a:spcPct val="100000"/>
              </a:lnSpc>
              <a:spcBef>
                <a:spcPts val="624"/>
              </a:spcBef>
              <a:spcAft>
                <a:spcPts val="425"/>
              </a:spcAft>
              <a:buClr>
                <a:srgbClr val="000000"/>
              </a:buClr>
              <a:buSzPct val="45000"/>
              <a:buFont typeface="Wingdings" charset="2"/>
              <a:buChar char=""/>
            </a:pPr>
            <a:r>
              <a:rPr b="0" lang="en-US" sz="8800" strike="noStrike" u="none">
                <a:solidFill>
                  <a:srgbClr val="000000"/>
                </a:solidFill>
                <a:uFillTx/>
                <a:latin typeface="Arial"/>
                <a:ea typeface="DejaVu Sans"/>
              </a:rPr>
              <a:t>0.7</a:t>
            </a:r>
            <a:endParaRPr b="0" lang="en-US" sz="8800" strike="noStrike" u="none">
              <a:solidFill>
                <a:srgbClr val="000000"/>
              </a:solidFill>
              <a:uFillTx/>
              <a:latin typeface="Arial"/>
            </a:endParaRPr>
          </a:p>
          <a:p>
            <a:pPr>
              <a:lnSpc>
                <a:spcPct val="100000"/>
              </a:lnSpc>
              <a:spcBef>
                <a:spcPts val="624"/>
              </a:spcBef>
              <a:spcAft>
                <a:spcPts val="425"/>
              </a:spcAft>
            </a:pPr>
            <a:endParaRPr b="0" lang="en-US" sz="8800" strike="noStrike" u="none">
              <a:solidFill>
                <a:srgbClr val="000000"/>
              </a:solidFill>
              <a:uFillTx/>
              <a:latin typeface="Arial"/>
            </a:endParaRPr>
          </a:p>
          <a:p>
            <a:pPr>
              <a:lnSpc>
                <a:spcPct val="100000"/>
              </a:lnSpc>
              <a:spcBef>
                <a:spcPts val="624"/>
              </a:spcBef>
              <a:spcAft>
                <a:spcPts val="425"/>
              </a:spcAft>
            </a:pPr>
            <a:r>
              <a:rPr b="0" lang="en-US" sz="8800" strike="noStrike" u="none">
                <a:solidFill>
                  <a:srgbClr val="000000"/>
                </a:solidFill>
                <a:uFillTx/>
                <a:latin typeface="Arial"/>
                <a:ea typeface="DejaVu Sans"/>
              </a:rPr>
              <a:t>	</a:t>
            </a:r>
            <a:r>
              <a:rPr b="0" lang="en-US" sz="8800" strike="noStrike" u="none">
                <a:solidFill>
                  <a:srgbClr val="000000"/>
                </a:solidFill>
                <a:uFillTx/>
                <a:latin typeface="Arial"/>
                <a:ea typeface="DejaVu Sans"/>
              </a:rPr>
              <a:t>0.6</a:t>
            </a:r>
            <a:endParaRPr b="0" lang="en-US" sz="8800" strike="noStrike" u="none">
              <a:solidFill>
                <a:srgbClr val="000000"/>
              </a:solidFill>
              <a:uFillTx/>
              <a:latin typeface="Arial"/>
            </a:endParaRPr>
          </a:p>
          <a:p>
            <a:pPr>
              <a:lnSpc>
                <a:spcPct val="100000"/>
              </a:lnSpc>
              <a:spcBef>
                <a:spcPts val="624"/>
              </a:spcBef>
              <a:spcAft>
                <a:spcPts val="425"/>
              </a:spcAft>
            </a:pPr>
            <a:endParaRPr b="0" lang="en-US" sz="8800" strike="noStrike" u="none">
              <a:solidFill>
                <a:srgbClr val="000000"/>
              </a:solidFill>
              <a:uFillTx/>
              <a:latin typeface="Arial"/>
            </a:endParaRPr>
          </a:p>
          <a:p>
            <a:pPr>
              <a:lnSpc>
                <a:spcPct val="100000"/>
              </a:lnSpc>
              <a:spcBef>
                <a:spcPts val="624"/>
              </a:spcBef>
              <a:spcAft>
                <a:spcPts val="425"/>
              </a:spcAft>
            </a:pPr>
            <a:r>
              <a:rPr b="0" lang="en-US" sz="8800" strike="noStrike" u="none">
                <a:solidFill>
                  <a:srgbClr val="000000"/>
                </a:solidFill>
                <a:uFillTx/>
                <a:latin typeface="Arial"/>
                <a:ea typeface="DejaVu Sans"/>
              </a:rPr>
              <a:t>	</a:t>
            </a:r>
            <a:r>
              <a:rPr b="0" lang="en-US" sz="8800" strike="noStrike" u="none">
                <a:solidFill>
                  <a:srgbClr val="000000"/>
                </a:solidFill>
                <a:uFillTx/>
                <a:latin typeface="Arial"/>
                <a:ea typeface="DejaVu Sans"/>
              </a:rPr>
              <a:t>0.8</a:t>
            </a:r>
            <a:endParaRPr b="0" lang="en-US" sz="8800" strike="noStrike" u="none">
              <a:solidFill>
                <a:srgbClr val="000000"/>
              </a:solidFill>
              <a:uFillTx/>
              <a:latin typeface="Arial"/>
            </a:endParaRPr>
          </a:p>
          <a:p>
            <a:pPr>
              <a:lnSpc>
                <a:spcPct val="100000"/>
              </a:lnSpc>
              <a:spcBef>
                <a:spcPts val="624"/>
              </a:spcBef>
              <a:spcAft>
                <a:spcPts val="425"/>
              </a:spcAft>
            </a:pPr>
            <a:endParaRPr b="0" lang="en-US" sz="8800" strike="noStrike" u="none">
              <a:solidFill>
                <a:srgbClr val="000000"/>
              </a:solidFill>
              <a:uFillTx/>
              <a:latin typeface="Arial"/>
            </a:endParaRPr>
          </a:p>
          <a:p>
            <a:pPr>
              <a:lnSpc>
                <a:spcPct val="100000"/>
              </a:lnSpc>
              <a:spcBef>
                <a:spcPts val="624"/>
              </a:spcBef>
              <a:spcAft>
                <a:spcPts val="425"/>
              </a:spcAft>
            </a:pPr>
            <a:r>
              <a:rPr b="0" lang="en-US" sz="8800" strike="noStrike" u="none">
                <a:solidFill>
                  <a:srgbClr val="000000"/>
                </a:solidFill>
                <a:uFillTx/>
                <a:latin typeface="Arial"/>
                <a:ea typeface="DejaVu Sans"/>
              </a:rPr>
              <a:t>	</a:t>
            </a:r>
            <a:endParaRPr b="0" lang="en-US" sz="8800" strike="noStrike" u="none">
              <a:solidFill>
                <a:srgbClr val="000000"/>
              </a:solidFill>
              <a:uFillTx/>
              <a:latin typeface="Arial"/>
            </a:endParaRPr>
          </a:p>
          <a:p>
            <a:pPr>
              <a:lnSpc>
                <a:spcPct val="100000"/>
              </a:lnSpc>
              <a:spcBef>
                <a:spcPts val="624"/>
              </a:spcBef>
              <a:spcAft>
                <a:spcPts val="425"/>
              </a:spcAft>
            </a:pPr>
            <a:r>
              <a:rPr b="0" lang="en-US" sz="8800" strike="noStrike" u="none">
                <a:solidFill>
                  <a:srgbClr val="000000"/>
                </a:solidFill>
                <a:uFillTx/>
                <a:latin typeface="Arial"/>
                <a:ea typeface="DejaVu Sans"/>
              </a:rPr>
              <a:t>	</a:t>
            </a:r>
            <a:r>
              <a:rPr b="0" lang="en-US" sz="8800" strike="noStrike" u="none">
                <a:solidFill>
                  <a:srgbClr val="000000"/>
                </a:solidFill>
                <a:uFillTx/>
                <a:latin typeface="Arial"/>
                <a:ea typeface="DejaVu Sans"/>
              </a:rPr>
              <a:t>0.75</a:t>
            </a:r>
            <a:endParaRPr b="0" lang="en-US" sz="8800" strike="noStrike" u="none">
              <a:solidFill>
                <a:srgbClr val="000000"/>
              </a:solidFill>
              <a:uFillTx/>
              <a:latin typeface="Arial"/>
            </a:endParaRPr>
          </a:p>
          <a:p>
            <a:pPr>
              <a:lnSpc>
                <a:spcPct val="100000"/>
              </a:lnSpc>
              <a:spcBef>
                <a:spcPts val="624"/>
              </a:spcBef>
              <a:spcAft>
                <a:spcPts val="425"/>
              </a:spcAft>
            </a:pPr>
            <a:endParaRPr b="0" lang="en-US" sz="8800" strike="noStrike" u="none">
              <a:solidFill>
                <a:srgbClr val="000000"/>
              </a:solidFill>
              <a:uFillTx/>
              <a:latin typeface="Arial"/>
            </a:endParaRPr>
          </a:p>
          <a:p>
            <a:pPr>
              <a:lnSpc>
                <a:spcPct val="100000"/>
              </a:lnSpc>
              <a:spcBef>
                <a:spcPts val="624"/>
              </a:spcBef>
              <a:spcAft>
                <a:spcPts val="425"/>
              </a:spcAft>
            </a:pPr>
            <a:r>
              <a:rPr b="0" lang="en-US" sz="8800" strike="noStrike" u="none">
                <a:solidFill>
                  <a:srgbClr val="000000"/>
                </a:solidFill>
                <a:uFillTx/>
                <a:latin typeface="Arial"/>
                <a:ea typeface="DejaVu Sans"/>
              </a:rPr>
              <a:t>	</a:t>
            </a:r>
            <a:r>
              <a:rPr b="0" lang="en-US" sz="8800" strike="noStrike" u="none">
                <a:solidFill>
                  <a:srgbClr val="000000"/>
                </a:solidFill>
                <a:uFillTx/>
                <a:latin typeface="Arial"/>
                <a:ea typeface="DejaVu Sans"/>
              </a:rPr>
              <a:t>0.67</a:t>
            </a:r>
            <a:endParaRPr b="0" lang="en-US" sz="8800" strike="noStrike" u="none">
              <a:solidFill>
                <a:srgbClr val="000000"/>
              </a:solidFill>
              <a:uFillTx/>
              <a:latin typeface="Arial"/>
            </a:endParaRPr>
          </a:p>
          <a:p>
            <a:pPr>
              <a:lnSpc>
                <a:spcPct val="100000"/>
              </a:lnSpc>
              <a:spcBef>
                <a:spcPts val="1191"/>
              </a:spcBef>
              <a:spcAft>
                <a:spcPts val="992"/>
              </a:spcAft>
            </a:pPr>
            <a:endParaRPr b="0" lang="en-US" sz="88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lvl="1" marL="864000" indent="-324000">
              <a:lnSpc>
                <a:spcPct val="100000"/>
              </a:lnSpc>
              <a:spcBef>
                <a:spcPts val="1417"/>
              </a:spcBef>
              <a:buClr>
                <a:srgbClr val="000000"/>
              </a:buClr>
              <a:buSzPct val="75000"/>
              <a:buFont typeface="Symbol" charset="2"/>
              <a:buChar char=""/>
            </a:pPr>
            <a:r>
              <a:rPr b="0" lang="en-US" sz="2000" strike="noStrike" u="none">
                <a:solidFill>
                  <a:srgbClr val="000000"/>
                </a:solidFill>
                <a:uFillTx/>
                <a:latin typeface="Arial"/>
                <a:ea typeface="DejaVu Sans"/>
              </a:rPr>
              <a:t> </a:t>
            </a: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2"/>
          <p:cNvSpPr/>
          <p:nvPr/>
        </p:nvSpPr>
        <p:spPr>
          <a:xfrm>
            <a:off x="420120" y="172440"/>
            <a:ext cx="9635400" cy="510480"/>
          </a:xfrm>
          <a:prstGeom prst="rect">
            <a:avLst/>
          </a:prstGeom>
          <a:noFill/>
          <a:ln w="0">
            <a:noFill/>
          </a:ln>
        </p:spPr>
        <p:style>
          <a:lnRef idx="0"/>
          <a:fillRef idx="0"/>
          <a:effectRef idx="0"/>
          <a:fontRef idx="minor"/>
        </p:style>
        <p:txBody>
          <a:bodyPr lIns="90000" rIns="90000" tIns="45000" bIns="45000" anchor="ctr">
            <a:noAutofit/>
          </a:bodyPr>
          <a:p>
            <a:pPr defTabSz="914400">
              <a:lnSpc>
                <a:spcPct val="90000"/>
              </a:lnSpc>
              <a:spcBef>
                <a:spcPts val="1001"/>
              </a:spcBef>
              <a:tabLst>
                <a:tab algn="l" pos="0"/>
              </a:tabLst>
            </a:pPr>
            <a:r>
              <a:rPr b="1" lang="en-US" sz="2000" spc="150" strike="noStrike" u="none" cap="all">
                <a:solidFill>
                  <a:schemeClr val="dk1">
                    <a:lumMod val="75000"/>
                    <a:lumOff val="25000"/>
                  </a:schemeClr>
                </a:solidFill>
                <a:uFillTx/>
                <a:latin typeface="Tenorite"/>
                <a:ea typeface="DejaVu Sans"/>
              </a:rPr>
              <a:t>Classification algorithm – Confusion matrix</a:t>
            </a:r>
            <a:endParaRPr b="0" lang="en-US" sz="2000" strike="noStrike" u="none">
              <a:solidFill>
                <a:srgbClr val="000000"/>
              </a:solidFill>
              <a:uFillTx/>
              <a:latin typeface="Arial"/>
            </a:endParaRPr>
          </a:p>
        </p:txBody>
      </p:sp>
      <p:sp>
        <p:nvSpPr>
          <p:cNvPr id="60" name=""/>
          <p:cNvSpPr/>
          <p:nvPr/>
        </p:nvSpPr>
        <p:spPr>
          <a:xfrm>
            <a:off x="432360" y="606960"/>
            <a:ext cx="11682720" cy="584208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uFillTx/>
                <a:latin typeface="Arial"/>
                <a:ea typeface="DejaVu Sans"/>
              </a:rPr>
              <a:t>Precision – Recall Tradeoff : </a:t>
            </a:r>
            <a:endParaRPr b="0" lang="en-US" sz="1600" strike="noStrike" u="none">
              <a:solidFill>
                <a:srgbClr val="000000"/>
              </a:solidFill>
              <a:uFillTx/>
              <a:latin typeface="Arial"/>
            </a:endParaRPr>
          </a:p>
          <a:p>
            <a:pPr lvl="1" marL="432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uFillTx/>
                <a:latin typeface="Arial"/>
                <a:ea typeface="DejaVu Sans"/>
              </a:rPr>
              <a:t>If you increase Precision (PPV), Recall (Sensitivity) might decrease, and vice versa.</a:t>
            </a:r>
            <a:endParaRPr b="0" lang="en-US" sz="1600" strike="noStrike" u="none">
              <a:solidFill>
                <a:srgbClr val="000000"/>
              </a:solidFill>
              <a:uFillTx/>
              <a:latin typeface="Arial"/>
            </a:endParaRPr>
          </a:p>
          <a:p>
            <a:pPr>
              <a:lnSpc>
                <a:spcPct val="100000"/>
              </a:lnSpc>
              <a:spcBef>
                <a:spcPts val="1191"/>
              </a:spcBef>
              <a:spcAft>
                <a:spcPts val="992"/>
              </a:spcAft>
            </a:pPr>
            <a:endParaRPr b="0" lang="en-US" sz="2000" strike="noStrike" u="none">
              <a:solidFill>
                <a:srgbClr val="000000"/>
              </a:solidFill>
              <a:uFillTx/>
              <a:latin typeface="Arial"/>
            </a:endParaRPr>
          </a:p>
          <a:p>
            <a:pPr>
              <a:lnSpc>
                <a:spcPct val="100000"/>
              </a:lnSpc>
            </a:pPr>
            <a:endParaRPr b="0" lang="en-US" sz="2000" strike="noStrike" u="none">
              <a:solidFill>
                <a:srgbClr val="000000"/>
              </a:solidFill>
              <a:uFillTx/>
              <a:latin typeface="Arial"/>
            </a:endParaRPr>
          </a:p>
          <a:p>
            <a:pPr>
              <a:lnSpc>
                <a:spcPct val="100000"/>
              </a:lnSpc>
            </a:pPr>
            <a:endParaRPr b="0" lang="en-US" sz="2000" strike="noStrike" u="none">
              <a:solidFill>
                <a:srgbClr val="000000"/>
              </a:solidFill>
              <a:uFillTx/>
              <a:latin typeface="Arial"/>
            </a:endParaRPr>
          </a:p>
          <a:p>
            <a:pPr>
              <a:lnSpc>
                <a:spcPct val="100000"/>
              </a:lnSpc>
            </a:pPr>
            <a:endParaRPr b="0" lang="en-US" sz="2000" strike="noStrike" u="none">
              <a:solidFill>
                <a:srgbClr val="000000"/>
              </a:solidFill>
              <a:uFillTx/>
              <a:latin typeface="Arial"/>
            </a:endParaRPr>
          </a:p>
          <a:p>
            <a:pPr lvl="1" marL="432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uFillTx/>
                <a:latin typeface="Arial"/>
                <a:ea typeface="DejaVu Sans"/>
              </a:rPr>
              <a:t>Example: In fraud detection, increasing precision ensures only real fraud cases are flagged, but some fraud cases may go undetected (lower recall).</a:t>
            </a:r>
            <a:endParaRPr b="0" lang="en-US" sz="1600" strike="noStrike" u="none">
              <a:solidFill>
                <a:srgbClr val="000000"/>
              </a:solidFill>
              <a:uFillTx/>
              <a:latin typeface="Arial"/>
            </a:endParaRPr>
          </a:p>
          <a:p>
            <a:pPr lvl="1" marL="432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uFillTx/>
                <a:latin typeface="Arial"/>
                <a:ea typeface="DejaVu Sans"/>
              </a:rPr>
              <a:t>F1 Score</a:t>
            </a:r>
            <a:endParaRPr b="0" lang="en-US" sz="16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uFillTx/>
                <a:latin typeface="Arial"/>
                <a:ea typeface="DejaVu Sans"/>
              </a:rPr>
              <a:t>When you need a balance between Precision and recall, use F1 score</a:t>
            </a:r>
            <a:endParaRPr b="0" lang="en-US" sz="1600" strike="noStrike" u="none">
              <a:solidFill>
                <a:srgbClr val="000000"/>
              </a:solidFill>
              <a:uFillTx/>
              <a:latin typeface="Arial"/>
            </a:endParaRPr>
          </a:p>
          <a:p>
            <a:pPr lvl="2" marL="648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uFillTx/>
                <a:latin typeface="Arial"/>
                <a:ea typeface="DejaVu Sans"/>
              </a:rPr>
              <a:t>F1 score is useful when both false positives and false negatives are </a:t>
            </a:r>
            <a:br>
              <a:rPr sz="1600"/>
            </a:br>
            <a:r>
              <a:rPr b="0" lang="en-US" sz="1600" strike="noStrike" u="none">
                <a:solidFill>
                  <a:srgbClr val="000000"/>
                </a:solidFill>
                <a:uFillTx/>
                <a:latin typeface="Arial"/>
                <a:ea typeface="DejaVu Sans"/>
              </a:rPr>
              <a:t>equally important</a:t>
            </a:r>
            <a:endParaRPr b="0" lang="en-US" sz="1600" strike="noStrike" u="none">
              <a:solidFill>
                <a:srgbClr val="000000"/>
              </a:solidFill>
              <a:uFillTx/>
              <a:latin typeface="Arial"/>
            </a:endParaRPr>
          </a:p>
        </p:txBody>
      </p:sp>
      <p:pic>
        <p:nvPicPr>
          <p:cNvPr id="61" name="" descr=""/>
          <p:cNvPicPr/>
          <p:nvPr/>
        </p:nvPicPr>
        <p:blipFill>
          <a:blip r:embed="rId1"/>
          <a:srcRect l="11760" t="11093" r="14707" b="0"/>
          <a:stretch/>
        </p:blipFill>
        <p:spPr>
          <a:xfrm>
            <a:off x="7822080" y="3886200"/>
            <a:ext cx="4369680" cy="2971440"/>
          </a:xfrm>
          <a:prstGeom prst="rect">
            <a:avLst/>
          </a:prstGeom>
          <a:noFill/>
          <a:ln w="0">
            <a:noFill/>
          </a:ln>
        </p:spPr>
      </p:pic>
      <p:pic>
        <p:nvPicPr>
          <p:cNvPr id="62" name="" descr=""/>
          <p:cNvPicPr/>
          <p:nvPr/>
        </p:nvPicPr>
        <p:blipFill>
          <a:blip r:embed="rId2"/>
          <a:stretch/>
        </p:blipFill>
        <p:spPr>
          <a:xfrm>
            <a:off x="685800" y="1864080"/>
            <a:ext cx="3047400" cy="637560"/>
          </a:xfrm>
          <a:prstGeom prst="rect">
            <a:avLst/>
          </a:prstGeom>
          <a:noFill/>
          <a:ln w="0">
            <a:noFill/>
          </a:ln>
        </p:spPr>
      </p:pic>
      <p:pic>
        <p:nvPicPr>
          <p:cNvPr id="63" name="" descr=""/>
          <p:cNvPicPr/>
          <p:nvPr/>
        </p:nvPicPr>
        <p:blipFill>
          <a:blip r:embed="rId3"/>
          <a:srcRect l="0" t="0" r="8612" b="0"/>
          <a:stretch/>
        </p:blipFill>
        <p:spPr>
          <a:xfrm>
            <a:off x="4114800" y="1796040"/>
            <a:ext cx="2924280" cy="669600"/>
          </a:xfrm>
          <a:prstGeom prst="rect">
            <a:avLst/>
          </a:prstGeom>
          <a:noFill/>
          <a:ln w="0">
            <a:noFill/>
          </a:ln>
        </p:spPr>
      </p:pic>
      <p:pic>
        <p:nvPicPr>
          <p:cNvPr id="64" name="" descr=""/>
          <p:cNvPicPr/>
          <p:nvPr/>
        </p:nvPicPr>
        <p:blipFill>
          <a:blip r:embed="rId4"/>
          <a:stretch/>
        </p:blipFill>
        <p:spPr>
          <a:xfrm>
            <a:off x="1828800" y="5802120"/>
            <a:ext cx="2513880" cy="64692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3"/>
          <p:cNvSpPr/>
          <p:nvPr/>
        </p:nvSpPr>
        <p:spPr>
          <a:xfrm>
            <a:off x="420120" y="172440"/>
            <a:ext cx="9635400" cy="510480"/>
          </a:xfrm>
          <a:prstGeom prst="rect">
            <a:avLst/>
          </a:prstGeom>
          <a:noFill/>
          <a:ln w="0">
            <a:noFill/>
          </a:ln>
        </p:spPr>
        <p:style>
          <a:lnRef idx="0"/>
          <a:fillRef idx="0"/>
          <a:effectRef idx="0"/>
          <a:fontRef idx="minor"/>
        </p:style>
        <p:txBody>
          <a:bodyPr lIns="90000" rIns="90000" tIns="45000" bIns="45000" anchor="ctr">
            <a:noAutofit/>
          </a:bodyPr>
          <a:p>
            <a:pPr defTabSz="914400">
              <a:lnSpc>
                <a:spcPct val="90000"/>
              </a:lnSpc>
              <a:spcBef>
                <a:spcPts val="1001"/>
              </a:spcBef>
              <a:tabLst>
                <a:tab algn="l" pos="0"/>
              </a:tabLst>
            </a:pPr>
            <a:r>
              <a:rPr b="1" lang="en-US" sz="2000" spc="150" strike="noStrike" u="none" cap="all">
                <a:solidFill>
                  <a:schemeClr val="dk1">
                    <a:lumMod val="75000"/>
                    <a:lumOff val="25000"/>
                  </a:schemeClr>
                </a:solidFill>
                <a:uFillTx/>
                <a:latin typeface="Tenorite"/>
                <a:ea typeface="DejaVu Sans"/>
              </a:rPr>
              <a:t>Classification algorithm – Choose right metrics</a:t>
            </a:r>
            <a:endParaRPr b="0" lang="en-US" sz="2000" strike="noStrike" u="none">
              <a:solidFill>
                <a:srgbClr val="000000"/>
              </a:solidFill>
              <a:uFillTx/>
              <a:latin typeface="Arial"/>
            </a:endParaRPr>
          </a:p>
        </p:txBody>
      </p:sp>
      <p:pic>
        <p:nvPicPr>
          <p:cNvPr id="66" name="" descr=""/>
          <p:cNvPicPr/>
          <p:nvPr/>
        </p:nvPicPr>
        <p:blipFill>
          <a:blip r:embed="rId1"/>
          <a:srcRect l="11760" t="11093" r="14707" b="0"/>
          <a:stretch/>
        </p:blipFill>
        <p:spPr>
          <a:xfrm>
            <a:off x="7822080" y="3886200"/>
            <a:ext cx="4369680" cy="2971440"/>
          </a:xfrm>
          <a:prstGeom prst="rect">
            <a:avLst/>
          </a:prstGeom>
          <a:noFill/>
          <a:ln w="0">
            <a:noFill/>
          </a:ln>
        </p:spPr>
      </p:pic>
      <p:pic>
        <p:nvPicPr>
          <p:cNvPr id="67" name="" descr=""/>
          <p:cNvPicPr/>
          <p:nvPr/>
        </p:nvPicPr>
        <p:blipFill>
          <a:blip r:embed="rId2"/>
          <a:stretch/>
        </p:blipFill>
        <p:spPr>
          <a:xfrm>
            <a:off x="4764240" y="6184440"/>
            <a:ext cx="3047400" cy="637560"/>
          </a:xfrm>
          <a:prstGeom prst="rect">
            <a:avLst/>
          </a:prstGeom>
          <a:noFill/>
          <a:ln w="0">
            <a:noFill/>
          </a:ln>
        </p:spPr>
      </p:pic>
      <p:pic>
        <p:nvPicPr>
          <p:cNvPr id="68" name="" descr=""/>
          <p:cNvPicPr/>
          <p:nvPr/>
        </p:nvPicPr>
        <p:blipFill>
          <a:blip r:embed="rId3"/>
          <a:stretch/>
        </p:blipFill>
        <p:spPr>
          <a:xfrm>
            <a:off x="4764240" y="5522760"/>
            <a:ext cx="3047400" cy="637560"/>
          </a:xfrm>
          <a:prstGeom prst="rect">
            <a:avLst/>
          </a:prstGeom>
          <a:noFill/>
          <a:ln w="0">
            <a:noFill/>
          </a:ln>
        </p:spPr>
      </p:pic>
      <p:pic>
        <p:nvPicPr>
          <p:cNvPr id="69" name="" descr=""/>
          <p:cNvPicPr/>
          <p:nvPr/>
        </p:nvPicPr>
        <p:blipFill>
          <a:blip r:embed="rId4"/>
          <a:srcRect l="0" t="0" r="15212" b="0"/>
          <a:stretch/>
        </p:blipFill>
        <p:spPr>
          <a:xfrm>
            <a:off x="4850640" y="4776480"/>
            <a:ext cx="2971080" cy="733320"/>
          </a:xfrm>
          <a:prstGeom prst="rect">
            <a:avLst/>
          </a:prstGeom>
          <a:noFill/>
          <a:ln w="0">
            <a:noFill/>
          </a:ln>
        </p:spPr>
      </p:pic>
      <p:pic>
        <p:nvPicPr>
          <p:cNvPr id="70" name="" descr=""/>
          <p:cNvPicPr/>
          <p:nvPr/>
        </p:nvPicPr>
        <p:blipFill>
          <a:blip r:embed="rId5"/>
          <a:srcRect l="0" t="0" r="8612" b="0"/>
          <a:stretch/>
        </p:blipFill>
        <p:spPr>
          <a:xfrm>
            <a:off x="1828800" y="6172200"/>
            <a:ext cx="2924280" cy="669600"/>
          </a:xfrm>
          <a:prstGeom prst="rect">
            <a:avLst/>
          </a:prstGeom>
          <a:noFill/>
          <a:ln w="0">
            <a:noFill/>
          </a:ln>
        </p:spPr>
      </p:pic>
      <p:pic>
        <p:nvPicPr>
          <p:cNvPr id="71" name="" descr=""/>
          <p:cNvPicPr/>
          <p:nvPr/>
        </p:nvPicPr>
        <p:blipFill>
          <a:blip r:embed="rId6"/>
          <a:stretch/>
        </p:blipFill>
        <p:spPr>
          <a:xfrm>
            <a:off x="1752840" y="5522760"/>
            <a:ext cx="3047400" cy="637560"/>
          </a:xfrm>
          <a:prstGeom prst="rect">
            <a:avLst/>
          </a:prstGeom>
          <a:noFill/>
          <a:ln w="0">
            <a:noFill/>
          </a:ln>
        </p:spPr>
      </p:pic>
      <p:pic>
        <p:nvPicPr>
          <p:cNvPr id="72" name="" descr=""/>
          <p:cNvPicPr/>
          <p:nvPr/>
        </p:nvPicPr>
        <p:blipFill>
          <a:blip r:embed="rId7"/>
          <a:stretch/>
        </p:blipFill>
        <p:spPr>
          <a:xfrm>
            <a:off x="228600" y="683280"/>
            <a:ext cx="7690680" cy="36597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Minimalist light sales pitch</Template>
  <TotalTime>11141</TotalTime>
  <Application>LibreOffice/24.8.6.2$Linux_X86_64 LibreOffice_project/d50be90c1d90f0f90a5235ffcbbafbbfa38a83c2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2023-03-15T07:13:31Z</dcterms:created>
  <dc:creator>HAFIZ MUSTAFA UD DIN SHEIKH</dc:creator>
  <dc:description/>
  <dc:language>en-US</dc:language>
  <cp:lastModifiedBy/>
  <dcterms:modified xsi:type="dcterms:W3CDTF">2025-03-26T09:58:32Z</dcterms:modified>
  <cp:revision>143</cp:revision>
  <dc:subject/>
  <dc:title>Introduction to data science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PresentationFormat">
    <vt:lpwstr>Widescreen</vt:lpwstr>
  </property>
  <property fmtid="{D5CDD505-2E9C-101B-9397-08002B2CF9AE}" pid="4" name="Slides">
    <vt:r8>102</vt:r8>
  </property>
</Properties>
</file>