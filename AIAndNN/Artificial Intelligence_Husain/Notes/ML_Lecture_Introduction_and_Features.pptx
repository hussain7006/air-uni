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9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 # 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Introduction to Machine Learning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DB3140-BD08-9D17-A138-490623171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1417638"/>
            <a:ext cx="5153026" cy="50631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C7B23-99F5-81AD-9BD3-1F8ABED54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9F38-099F-375B-5CA9-93462956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AFE90-35D4-474E-9775-62EC91018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181599" cy="4525963"/>
          </a:xfrm>
        </p:spPr>
        <p:txBody>
          <a:bodyPr wrap="square"/>
          <a:lstStyle/>
          <a:p>
            <a:pPr marL="0" indent="0" algn="just">
              <a:buNone/>
              <a:defRPr sz="1800">
                <a:latin typeface="Calibri"/>
              </a:defRPr>
            </a:pPr>
            <a:r>
              <a:rPr sz="2000" dirty="0"/>
              <a:t>• </a:t>
            </a:r>
            <a:r>
              <a:rPr lang="en-US" sz="2000" dirty="0"/>
              <a:t>Machine Learning (ML) is a field of Artificial Intelligence that enables computers to learn from data without being explicitly programmed.</a:t>
            </a:r>
          </a:p>
          <a:p>
            <a:pPr marL="0" indent="0" algn="just">
              <a:buNone/>
              <a:defRPr sz="1800">
                <a:latin typeface="Calibri"/>
              </a:defRPr>
            </a:pPr>
            <a:endParaRPr sz="2000" dirty="0"/>
          </a:p>
          <a:p>
            <a:pPr marL="0" indent="0" algn="just">
              <a:buNone/>
              <a:defRPr sz="1800">
                <a:latin typeface="Calibri"/>
              </a:defRPr>
            </a:pPr>
            <a:r>
              <a:rPr sz="2000" dirty="0"/>
              <a:t>• </a:t>
            </a:r>
            <a:r>
              <a:rPr lang="en-US" sz="2000" dirty="0"/>
              <a:t>Instead of writing rules, the system finds patterns from data and makes decisions.</a:t>
            </a:r>
          </a:p>
          <a:p>
            <a:pPr marL="0" indent="0" algn="just">
              <a:buNone/>
              <a:defRPr sz="1800">
                <a:latin typeface="Calibri"/>
              </a:defRPr>
            </a:pPr>
            <a:endParaRPr sz="2000" dirty="0"/>
          </a:p>
          <a:p>
            <a:pPr marL="0" indent="0">
              <a:buNone/>
              <a:defRPr sz="1800">
                <a:latin typeface="Calibri"/>
              </a:defRPr>
            </a:pPr>
            <a:r>
              <a:rPr sz="2000" dirty="0"/>
              <a:t>• </a:t>
            </a:r>
            <a:r>
              <a:rPr lang="en-US" sz="2000" dirty="0"/>
              <a:t>The more data it learns from, the better its performance becomes.</a:t>
            </a:r>
          </a:p>
          <a:p>
            <a:pPr marL="0" indent="0">
              <a:buNone/>
              <a:defRPr sz="1800">
                <a:latin typeface="Calibri"/>
              </a:defRPr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DACDB-C793-C51B-2187-8DF2D6196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49" y="1666875"/>
            <a:ext cx="2552699" cy="255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59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defRPr sz="1800">
                <a:latin typeface="Calibri"/>
              </a:defRPr>
            </a:pPr>
            <a:r>
              <a:t>Simple Definition:</a:t>
            </a:r>
          </a:p>
          <a:p>
            <a:pPr>
              <a:defRPr sz="1800">
                <a:latin typeface="Calibri"/>
              </a:defRPr>
            </a:pPr>
            <a:r>
              <a:t>• Machine Learning is teaching computers to learn from data</a:t>
            </a:r>
          </a:p>
          <a:p>
            <a:pPr>
              <a:defRPr sz="1800">
                <a:latin typeface="Calibri"/>
              </a:defRPr>
            </a:pPr>
            <a:r>
              <a:t>• Instead of programming every rule, we let the computer find patterns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Think of it like this:</a:t>
            </a:r>
          </a:p>
          <a:p>
            <a:pPr>
              <a:defRPr sz="1800">
                <a:latin typeface="Calibri"/>
              </a:defRPr>
            </a:pPr>
            <a:r>
              <a:t>• Traditional: You teach a child every single rule</a:t>
            </a:r>
          </a:p>
          <a:p>
            <a:pPr>
              <a:defRPr sz="1800">
                <a:latin typeface="Calibri"/>
              </a:defRPr>
            </a:pPr>
            <a:r>
              <a:t>• ML: You show examples and let them figure out the pattern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Example:</a:t>
            </a:r>
          </a:p>
          <a:p>
            <a:pPr>
              <a:defRPr sz="1800">
                <a:latin typeface="Calibri"/>
              </a:defRPr>
            </a:pPr>
            <a:r>
              <a:t>• Show 1000 cat photos → Computer learns what a cat looks like</a:t>
            </a:r>
          </a:p>
          <a:p>
            <a:br/>
            <a:r>
              <a:t>[Visual Suggestion: Diagram: Traditional programming vs ML (side by side)]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Why do we need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775"/>
            <a:ext cx="8229600" cy="4525963"/>
          </a:xfrm>
        </p:spPr>
        <p:txBody>
          <a:bodyPr wrap="square">
            <a:normAutofit fontScale="70000" lnSpcReduction="20000"/>
          </a:bodyPr>
          <a:lstStyle/>
          <a:p>
            <a:pPr>
              <a:defRPr sz="1800">
                <a:latin typeface="Calibri"/>
              </a:defRPr>
            </a:pPr>
            <a:r>
              <a:rPr dirty="0"/>
              <a:t>Problems too complex for traditional programming: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1. Pattern Recognition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Recognizing faces in photos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Understanding speech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2. Too Many Rules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Email spam: Rules change constantly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Stock market: Millions of factors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3. Personalization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Netflix recommendations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YouTube video suggestions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4. Automation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Self-driving cars</a:t>
            </a:r>
          </a:p>
          <a:p>
            <a:pPr>
              <a:defRPr sz="1800">
                <a:latin typeface="Calibri"/>
              </a:defRPr>
            </a:pPr>
            <a:r>
              <a:rPr dirty="0"/>
              <a:t>   • Medical diagnosis assistance</a:t>
            </a:r>
          </a:p>
          <a:p>
            <a:br>
              <a:rPr dirty="0"/>
            </a:br>
            <a:r>
              <a:rPr dirty="0"/>
              <a:t>[Visual Suggestion: Icons: Face recognition, email, recommendation, car]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Traditional Programming vs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alibri"/>
              </a:defRPr>
            </a:pPr>
            <a:r>
              <a:t>Traditional Programming: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Input + Rules → Output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Example:</a:t>
            </a:r>
          </a:p>
          <a:p>
            <a:pPr>
              <a:defRPr sz="1600">
                <a:latin typeface="Calibri"/>
              </a:defRPr>
            </a:pPr>
            <a:r>
              <a:t>• Input: Number</a:t>
            </a:r>
          </a:p>
          <a:p>
            <a:pPr>
              <a:defRPr sz="1600">
                <a:latin typeface="Calibri"/>
              </a:defRPr>
            </a:pPr>
            <a:r>
              <a:t>• Rule: If number &gt; 0, output 'Positive'</a:t>
            </a:r>
          </a:p>
          <a:p>
            <a:pPr>
              <a:defRPr sz="1600">
                <a:latin typeface="Calibri"/>
              </a:defRPr>
            </a:pPr>
            <a:r>
              <a:t>• Output: 'Positive' or 'Negative'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Limitations:</a:t>
            </a:r>
          </a:p>
          <a:p>
            <a:pPr>
              <a:defRPr sz="1600">
                <a:latin typeface="Calibri"/>
              </a:defRPr>
            </a:pPr>
            <a:r>
              <a:t>• Need to write all rules</a:t>
            </a:r>
          </a:p>
          <a:p>
            <a:pPr>
              <a:defRPr sz="1600">
                <a:latin typeface="Calibri"/>
              </a:defRPr>
            </a:pPr>
            <a:r>
              <a:t>• Can't handle complex patterns</a:t>
            </a:r>
          </a:p>
          <a:p>
            <a:pPr>
              <a:defRPr sz="1600">
                <a:latin typeface="Calibri"/>
              </a:defRPr>
            </a:pPr>
            <a:r>
              <a:t>• Hard to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alibri"/>
              </a:defRPr>
            </a:pPr>
            <a:r>
              <a:t>Machine Learning: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Input + Output → Rules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Example:</a:t>
            </a:r>
          </a:p>
          <a:p>
            <a:pPr>
              <a:defRPr sz="1600">
                <a:latin typeface="Calibri"/>
              </a:defRPr>
            </a:pPr>
            <a:r>
              <a:t>• Input: 1000 cat photos</a:t>
            </a:r>
          </a:p>
          <a:p>
            <a:pPr>
              <a:defRPr sz="1600">
                <a:latin typeface="Calibri"/>
              </a:defRPr>
            </a:pPr>
            <a:r>
              <a:t>• Output: Labels (cat/not cat)</a:t>
            </a:r>
          </a:p>
          <a:p>
            <a:pPr>
              <a:defRPr sz="1600">
                <a:latin typeface="Calibri"/>
              </a:defRPr>
            </a:pPr>
            <a:r>
              <a:t>• ML finds the rules automatically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Advantages:</a:t>
            </a:r>
          </a:p>
          <a:p>
            <a:pPr>
              <a:defRPr sz="1600">
                <a:latin typeface="Calibri"/>
              </a:defRPr>
            </a:pPr>
            <a:r>
              <a:t>• Learns from examples</a:t>
            </a:r>
          </a:p>
          <a:p>
            <a:pPr>
              <a:defRPr sz="1600">
                <a:latin typeface="Calibri"/>
              </a:defRPr>
            </a:pPr>
            <a:r>
              <a:t>• Handles complex patterns</a:t>
            </a:r>
          </a:p>
          <a:p>
            <a:pPr>
              <a:defRPr sz="1600">
                <a:latin typeface="Calibri"/>
              </a:defRPr>
            </a:pPr>
            <a:r>
              <a:t>• Improves with more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defRPr sz="1800">
                <a:latin typeface="Calibri"/>
              </a:defRPr>
            </a:pPr>
            <a:r>
              <a:t>Three main categories: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1. Supervised Learning</a:t>
            </a:r>
          </a:p>
          <a:p>
            <a:pPr>
              <a:defRPr sz="1800">
                <a:latin typeface="Calibri"/>
              </a:defRPr>
            </a:pPr>
            <a:r>
              <a:t>   • Learning with labeled examples</a:t>
            </a:r>
          </a:p>
          <a:p>
            <a:pPr>
              <a:defRPr sz="1800">
                <a:latin typeface="Calibri"/>
              </a:defRPr>
            </a:pPr>
            <a:r>
              <a:t>   • Like learning with answer key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2. Unsupervised Learning</a:t>
            </a:r>
          </a:p>
          <a:p>
            <a:pPr>
              <a:defRPr sz="1800">
                <a:latin typeface="Calibri"/>
              </a:defRPr>
            </a:pPr>
            <a:r>
              <a:t>   • Finding patterns in unlabeled data</a:t>
            </a:r>
          </a:p>
          <a:p>
            <a:pPr>
              <a:defRPr sz="1800">
                <a:latin typeface="Calibri"/>
              </a:defRPr>
            </a:pPr>
            <a:r>
              <a:t>   • Like exploring without a map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3. Reinforcement Learning</a:t>
            </a:r>
          </a:p>
          <a:p>
            <a:pPr>
              <a:defRPr sz="1800">
                <a:latin typeface="Calibri"/>
              </a:defRPr>
            </a:pPr>
            <a:r>
              <a:t>   • Learning through trial and error</a:t>
            </a:r>
          </a:p>
          <a:p>
            <a:pPr>
              <a:defRPr sz="1800">
                <a:latin typeface="Calibri"/>
              </a:defRPr>
            </a:pPr>
            <a:r>
              <a:t>   • Like learning to ride a bike</a:t>
            </a:r>
          </a:p>
          <a:p>
            <a:br/>
            <a:r>
              <a:t>[Visual Suggestion: Three icons/boxes representing each type]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defRPr sz="1800">
                <a:latin typeface="Calibri"/>
              </a:defRPr>
            </a:pPr>
            <a:r>
              <a:t>Definition:</a:t>
            </a:r>
          </a:p>
          <a:p>
            <a:pPr>
              <a:defRPr sz="1800">
                <a:latin typeface="Calibri"/>
              </a:defRPr>
            </a:pPr>
            <a:r>
              <a:t>• We provide labeled training data</a:t>
            </a:r>
          </a:p>
          <a:p>
            <a:pPr>
              <a:defRPr sz="1800">
                <a:latin typeface="Calibri"/>
              </a:defRPr>
            </a:pPr>
            <a:r>
              <a:t>• Model learns the relationship</a:t>
            </a:r>
          </a:p>
          <a:p>
            <a:pPr>
              <a:defRPr sz="1800">
                <a:latin typeface="Calibri"/>
              </a:defRPr>
            </a:pPr>
            <a:r>
              <a:t>• Then predicts on new data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Examples:</a:t>
            </a:r>
          </a:p>
          <a:p>
            <a:pPr>
              <a:defRPr sz="1800">
                <a:latin typeface="Calibri"/>
              </a:defRPr>
            </a:pPr>
            <a:r>
              <a:t>• Email: Spam (1) or Not Spam (0)</a:t>
            </a:r>
          </a:p>
          <a:p>
            <a:pPr>
              <a:defRPr sz="1800">
                <a:latin typeface="Calibri"/>
              </a:defRPr>
            </a:pPr>
            <a:r>
              <a:t>• Images: Cat, Dog, or Bird</a:t>
            </a:r>
          </a:p>
          <a:p>
            <a:pPr>
              <a:defRPr sz="1800">
                <a:latin typeface="Calibri"/>
              </a:defRPr>
            </a:pPr>
            <a:r>
              <a:t>• Grades: Predict student performance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Two types:</a:t>
            </a:r>
          </a:p>
          <a:p>
            <a:pPr>
              <a:defRPr sz="1800">
                <a:latin typeface="Calibri"/>
              </a:defRPr>
            </a:pPr>
            <a:r>
              <a:t>• Classification: Categories (spam/not spam)</a:t>
            </a:r>
          </a:p>
          <a:p>
            <a:pPr>
              <a:defRPr sz="1800">
                <a:latin typeface="Calibri"/>
              </a:defRPr>
            </a:pPr>
            <a:r>
              <a:t>• Regression: Numbers (house price, temperature)</a:t>
            </a:r>
          </a:p>
          <a:p>
            <a:br/>
            <a:r>
              <a:t>[Visual Suggestion: Diagram: Labeled data → Model → Prediction]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pPr>
              <a:defRPr sz="1800">
                <a:latin typeface="Calibri"/>
              </a:defRPr>
            </a:pPr>
            <a:r>
              <a:t>Definition:</a:t>
            </a:r>
          </a:p>
          <a:p>
            <a:pPr>
              <a:defRPr sz="1800">
                <a:latin typeface="Calibri"/>
              </a:defRPr>
            </a:pPr>
            <a:r>
              <a:t>• No labels provided</a:t>
            </a:r>
          </a:p>
          <a:p>
            <a:pPr>
              <a:defRPr sz="1800">
                <a:latin typeface="Calibri"/>
              </a:defRPr>
            </a:pPr>
            <a:r>
              <a:t>• Find hidden patterns in data</a:t>
            </a:r>
          </a:p>
          <a:p>
            <a:pPr>
              <a:defRPr sz="1800">
                <a:latin typeface="Calibri"/>
              </a:defRPr>
            </a:pPr>
            <a:r>
              <a:t>• Discover structure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Examples:</a:t>
            </a:r>
          </a:p>
          <a:p>
            <a:pPr>
              <a:defRPr sz="1800">
                <a:latin typeface="Calibri"/>
              </a:defRPr>
            </a:pPr>
            <a:r>
              <a:t>• Customer segmentation</a:t>
            </a:r>
          </a:p>
          <a:p>
            <a:pPr>
              <a:defRPr sz="1800">
                <a:latin typeface="Calibri"/>
              </a:defRPr>
            </a:pPr>
            <a:r>
              <a:t>   → Group similar customers</a:t>
            </a:r>
          </a:p>
          <a:p>
            <a:pPr>
              <a:defRPr sz="1800">
                <a:latin typeface="Calibri"/>
              </a:defRPr>
            </a:pPr>
            <a:r>
              <a:t>• Anomaly detection</a:t>
            </a:r>
          </a:p>
          <a:p>
            <a:pPr>
              <a:defRPr sz="1800">
                <a:latin typeface="Calibri"/>
              </a:defRPr>
            </a:pPr>
            <a:r>
              <a:t>   → Find unusual transactions</a:t>
            </a:r>
          </a:p>
          <a:p>
            <a:pPr>
              <a:defRPr sz="1800">
                <a:latin typeface="Calibri"/>
              </a:defRPr>
            </a:pPr>
            <a:r>
              <a:t>• Image compression</a:t>
            </a:r>
          </a:p>
          <a:p>
            <a:pPr>
              <a:defRPr sz="1800">
                <a:latin typeface="Calibri"/>
              </a:defRPr>
            </a:pPr>
            <a:r>
              <a:t>   → Reduce file size while keeping quality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Common techniques:</a:t>
            </a:r>
          </a:p>
          <a:p>
            <a:pPr>
              <a:defRPr sz="1800">
                <a:latin typeface="Calibri"/>
              </a:defRPr>
            </a:pPr>
            <a:r>
              <a:t>• Clustering: Group similar items</a:t>
            </a:r>
          </a:p>
          <a:p>
            <a:pPr>
              <a:defRPr sz="1800">
                <a:latin typeface="Calibri"/>
              </a:defRPr>
            </a:pPr>
            <a:r>
              <a:t>• Dimensionality reduction: Simplify data</a:t>
            </a:r>
          </a:p>
          <a:p>
            <a:br/>
            <a:r>
              <a:t>[Visual Suggestion: Diagram: Unlabeled data → Patterns → Groups]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pPr>
              <a:defRPr sz="1800">
                <a:latin typeface="Calibri"/>
              </a:defRPr>
            </a:pPr>
            <a:r>
              <a:t>Definition:</a:t>
            </a:r>
          </a:p>
          <a:p>
            <a:pPr>
              <a:defRPr sz="1800">
                <a:latin typeface="Calibri"/>
              </a:defRPr>
            </a:pPr>
            <a:r>
              <a:t>• Agent learns by interacting with environment</a:t>
            </a:r>
          </a:p>
          <a:p>
            <a:pPr>
              <a:defRPr sz="1800">
                <a:latin typeface="Calibri"/>
              </a:defRPr>
            </a:pPr>
            <a:r>
              <a:t>• Gets rewards for good actions</a:t>
            </a:r>
          </a:p>
          <a:p>
            <a:pPr>
              <a:defRPr sz="1800">
                <a:latin typeface="Calibri"/>
              </a:defRPr>
            </a:pPr>
            <a:r>
              <a:t>• Gets penalties for bad actions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Real-world examples:</a:t>
            </a:r>
          </a:p>
          <a:p>
            <a:pPr>
              <a:defRPr sz="1800">
                <a:latin typeface="Calibri"/>
              </a:defRPr>
            </a:pPr>
            <a:r>
              <a:t>• Game playing (Chess, Go)</a:t>
            </a:r>
          </a:p>
          <a:p>
            <a:pPr>
              <a:defRPr sz="1800">
                <a:latin typeface="Calibri"/>
              </a:defRPr>
            </a:pPr>
            <a:r>
              <a:t>   → Learn winning strategies</a:t>
            </a:r>
          </a:p>
          <a:p>
            <a:pPr>
              <a:defRPr sz="1800">
                <a:latin typeface="Calibri"/>
              </a:defRPr>
            </a:pPr>
            <a:r>
              <a:t>• Robot navigation</a:t>
            </a:r>
          </a:p>
          <a:p>
            <a:pPr>
              <a:defRPr sz="1800">
                <a:latin typeface="Calibri"/>
              </a:defRPr>
            </a:pPr>
            <a:r>
              <a:t>   → Learn to avoid obstacles</a:t>
            </a:r>
          </a:p>
          <a:p>
            <a:pPr>
              <a:defRPr sz="1800">
                <a:latin typeface="Calibri"/>
              </a:defRPr>
            </a:pPr>
            <a:r>
              <a:t>• Recommendation systems</a:t>
            </a:r>
          </a:p>
          <a:p>
            <a:pPr>
              <a:defRPr sz="1800">
                <a:latin typeface="Calibri"/>
              </a:defRPr>
            </a:pPr>
            <a:r>
              <a:t>   → Learn what users like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Key concept:</a:t>
            </a:r>
          </a:p>
          <a:p>
            <a:pPr>
              <a:defRPr sz="1800">
                <a:latin typeface="Calibri"/>
              </a:defRPr>
            </a:pPr>
            <a:r>
              <a:t>• Trial and error with feedback</a:t>
            </a:r>
          </a:p>
          <a:p>
            <a:br/>
            <a:r>
              <a:t>[Visual Suggestion: Diagram: Agent → Action → Environment → Reward]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Real-world Example: Email Spam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pPr>
              <a:defRPr sz="1800">
                <a:latin typeface="Calibri"/>
              </a:defRPr>
            </a:pPr>
            <a:r>
              <a:t>Problem:</a:t>
            </a:r>
          </a:p>
          <a:p>
            <a:pPr>
              <a:defRPr sz="1800">
                <a:latin typeface="Calibri"/>
              </a:defRPr>
            </a:pPr>
            <a:r>
              <a:t>• Millions of emails daily</a:t>
            </a:r>
          </a:p>
          <a:p>
            <a:pPr>
              <a:defRPr sz="1800">
                <a:latin typeface="Calibri"/>
              </a:defRPr>
            </a:pPr>
            <a:r>
              <a:t>• Spam changes constantly</a:t>
            </a:r>
          </a:p>
          <a:p>
            <a:pPr>
              <a:defRPr sz="1800">
                <a:latin typeface="Calibri"/>
              </a:defRPr>
            </a:pPr>
            <a:r>
              <a:t>• Can't write rules for everything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ML Solution:</a:t>
            </a:r>
          </a:p>
          <a:p>
            <a:pPr>
              <a:defRPr sz="1800">
                <a:latin typeface="Calibri"/>
              </a:defRPr>
            </a:pPr>
            <a:r>
              <a:t>• Train on thousands of emails</a:t>
            </a:r>
          </a:p>
          <a:p>
            <a:pPr>
              <a:defRPr sz="1800">
                <a:latin typeface="Calibri"/>
              </a:defRPr>
            </a:pPr>
            <a:r>
              <a:t>• Learn patterns:</a:t>
            </a:r>
          </a:p>
          <a:p>
            <a:pPr>
              <a:defRPr sz="1800">
                <a:latin typeface="Calibri"/>
              </a:defRPr>
            </a:pPr>
            <a:r>
              <a:t>  - Words like 'FREE', 'WIN', 'URGENT'</a:t>
            </a:r>
          </a:p>
          <a:p>
            <a:pPr>
              <a:defRPr sz="1800">
                <a:latin typeface="Calibri"/>
              </a:defRPr>
            </a:pPr>
            <a:r>
              <a:t>  - Suspicious sender addresses</a:t>
            </a:r>
          </a:p>
          <a:p>
            <a:pPr>
              <a:defRPr sz="1800">
                <a:latin typeface="Calibri"/>
              </a:defRPr>
            </a:pPr>
            <a:r>
              <a:t>  - Unusual formatting</a:t>
            </a:r>
          </a:p>
          <a:p>
            <a:pPr>
              <a:defRPr sz="1800">
                <a:latin typeface="Calibri"/>
              </a:defRPr>
            </a:pPr>
            <a:r>
              <a:t>• Classify new emails automatically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Result:</a:t>
            </a:r>
          </a:p>
          <a:p>
            <a:pPr>
              <a:defRPr sz="1800">
                <a:latin typeface="Calibri"/>
              </a:defRPr>
            </a:pPr>
            <a:r>
              <a:t>• Gmail filters 99.9% of spam automatically</a:t>
            </a:r>
          </a:p>
          <a:p>
            <a:br/>
            <a:r>
              <a:t>[Visual Suggestion: Icons: Email inbox, spam folder, checkmark]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Real-world Example: Face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0000" lnSpcReduction="20000"/>
          </a:bodyPr>
          <a:lstStyle/>
          <a:p>
            <a:pPr>
              <a:defRPr sz="1800">
                <a:latin typeface="Calibri"/>
              </a:defRPr>
            </a:pPr>
            <a:r>
              <a:t>Problem:</a:t>
            </a:r>
          </a:p>
          <a:p>
            <a:pPr>
              <a:defRPr sz="1800">
                <a:latin typeface="Calibri"/>
              </a:defRPr>
            </a:pPr>
            <a:r>
              <a:t>• Identify people in photos</a:t>
            </a:r>
          </a:p>
          <a:p>
            <a:pPr>
              <a:defRPr sz="1800">
                <a:latin typeface="Calibri"/>
              </a:defRPr>
            </a:pPr>
            <a:r>
              <a:t>• Used in:</a:t>
            </a:r>
          </a:p>
          <a:p>
            <a:pPr>
              <a:defRPr sz="1800">
                <a:latin typeface="Calibri"/>
              </a:defRPr>
            </a:pPr>
            <a:r>
              <a:t>  - Phone unlock</a:t>
            </a:r>
          </a:p>
          <a:p>
            <a:pPr>
              <a:defRPr sz="1800">
                <a:latin typeface="Calibri"/>
              </a:defRPr>
            </a:pPr>
            <a:r>
              <a:t>  - Security systems</a:t>
            </a:r>
          </a:p>
          <a:p>
            <a:pPr>
              <a:defRPr sz="1800">
                <a:latin typeface="Calibri"/>
              </a:defRPr>
            </a:pPr>
            <a:r>
              <a:t>  - Social media tagging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ML Solution:</a:t>
            </a:r>
          </a:p>
          <a:p>
            <a:pPr>
              <a:defRPr sz="1800">
                <a:latin typeface="Calibri"/>
              </a:defRPr>
            </a:pPr>
            <a:r>
              <a:t>• Train on millions of face images</a:t>
            </a:r>
          </a:p>
          <a:p>
            <a:pPr>
              <a:defRPr sz="1800">
                <a:latin typeface="Calibri"/>
              </a:defRPr>
            </a:pPr>
            <a:r>
              <a:t>• Learn facial features:</a:t>
            </a:r>
          </a:p>
          <a:p>
            <a:pPr>
              <a:defRPr sz="1800">
                <a:latin typeface="Calibri"/>
              </a:defRPr>
            </a:pPr>
            <a:r>
              <a:t>  - Eye shape, nose, mouth position</a:t>
            </a:r>
          </a:p>
          <a:p>
            <a:pPr>
              <a:defRPr sz="1800">
                <a:latin typeface="Calibri"/>
              </a:defRPr>
            </a:pPr>
            <a:r>
              <a:t>  - Face structure patterns</a:t>
            </a:r>
          </a:p>
          <a:p>
            <a:pPr>
              <a:defRPr sz="1800">
                <a:latin typeface="Calibri"/>
              </a:defRPr>
            </a:pPr>
            <a:r>
              <a:t>• Recognize faces in new photos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How it works:</a:t>
            </a:r>
          </a:p>
          <a:p>
            <a:pPr>
              <a:defRPr sz="1800">
                <a:latin typeface="Calibri"/>
              </a:defRPr>
            </a:pPr>
            <a:r>
              <a:t>• Extract facial features</a:t>
            </a:r>
          </a:p>
          <a:p>
            <a:pPr>
              <a:defRPr sz="1800">
                <a:latin typeface="Calibri"/>
              </a:defRPr>
            </a:pPr>
            <a:r>
              <a:t>• Compare with known faces</a:t>
            </a:r>
          </a:p>
          <a:p>
            <a:pPr>
              <a:defRPr sz="1800">
                <a:latin typeface="Calibri"/>
              </a:defRPr>
            </a:pPr>
            <a:r>
              <a:t>• Match if similar enough</a:t>
            </a:r>
          </a:p>
          <a:p>
            <a:br/>
            <a:r>
              <a:t>[Visual Suggestion: Diagram: Face → Features → Comparison → Match]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Real-world Example: Recommendation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pPr>
              <a:defRPr sz="1800">
                <a:latin typeface="Calibri"/>
              </a:defRPr>
            </a:pPr>
            <a:r>
              <a:t>Netflix &amp; YouTube:</a:t>
            </a:r>
          </a:p>
          <a:p>
            <a:pPr>
              <a:defRPr sz="1800">
                <a:latin typeface="Calibri"/>
              </a:defRPr>
            </a:pPr>
            <a:r>
              <a:t>• Problem: Too many videos to choose from</a:t>
            </a:r>
          </a:p>
          <a:p>
            <a:pPr>
              <a:defRPr sz="1800">
                <a:latin typeface="Calibri"/>
              </a:defRPr>
            </a:pPr>
            <a:r>
              <a:t>• Solution: Recommend what you might like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How it works:</a:t>
            </a:r>
          </a:p>
          <a:p>
            <a:pPr>
              <a:defRPr sz="1800">
                <a:latin typeface="Calibri"/>
              </a:defRPr>
            </a:pPr>
            <a:r>
              <a:t>• Track what you watch</a:t>
            </a:r>
          </a:p>
          <a:p>
            <a:pPr>
              <a:defRPr sz="1800">
                <a:latin typeface="Calibri"/>
              </a:defRPr>
            </a:pPr>
            <a:r>
              <a:t>• Find users with similar tastes</a:t>
            </a:r>
          </a:p>
          <a:p>
            <a:pPr>
              <a:defRPr sz="1800">
                <a:latin typeface="Calibri"/>
              </a:defRPr>
            </a:pPr>
            <a:r>
              <a:t>• Recommend what they liked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Example:</a:t>
            </a:r>
          </a:p>
          <a:p>
            <a:pPr>
              <a:defRPr sz="1800">
                <a:latin typeface="Calibri"/>
              </a:defRPr>
            </a:pPr>
            <a:r>
              <a:t>• You watched: Action movies</a:t>
            </a:r>
          </a:p>
          <a:p>
            <a:pPr>
              <a:defRPr sz="1800">
                <a:latin typeface="Calibri"/>
              </a:defRPr>
            </a:pPr>
            <a:r>
              <a:t>• Similar users also watched: Sci-fi</a:t>
            </a:r>
          </a:p>
          <a:p>
            <a:pPr>
              <a:defRPr sz="1800">
                <a:latin typeface="Calibri"/>
              </a:defRPr>
            </a:pPr>
            <a:r>
              <a:t>• Recommendation: Try 'Interstellar'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Result:</a:t>
            </a:r>
          </a:p>
          <a:p>
            <a:pPr>
              <a:defRPr sz="1800">
                <a:latin typeface="Calibri"/>
              </a:defRPr>
            </a:pPr>
            <a:r>
              <a:t>• 80% of Netflix views come from recommendations</a:t>
            </a:r>
          </a:p>
          <a:p>
            <a:br/>
            <a:r>
              <a:t>[Visual Suggestion: Diagram: User preferences → Similar users → Recommendations]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55000" lnSpcReduction="20000"/>
          </a:bodyPr>
          <a:lstStyle/>
          <a:p>
            <a:pPr>
              <a:defRPr sz="1800">
                <a:latin typeface="Calibri"/>
              </a:defRPr>
            </a:pPr>
            <a:r>
              <a:t>Step-by-step process: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1. Data Collection</a:t>
            </a:r>
          </a:p>
          <a:p>
            <a:pPr>
              <a:defRPr sz="1800">
                <a:latin typeface="Calibri"/>
              </a:defRPr>
            </a:pPr>
            <a:r>
              <a:t>   • Gather examples (photos, text, numbers)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2. Data Preprocessing</a:t>
            </a:r>
          </a:p>
          <a:p>
            <a:pPr>
              <a:defRPr sz="1800">
                <a:latin typeface="Calibri"/>
              </a:defRPr>
            </a:pPr>
            <a:r>
              <a:t>   • Clean and organize data</a:t>
            </a:r>
          </a:p>
          <a:p>
            <a:pPr>
              <a:defRPr sz="1800">
                <a:latin typeface="Calibri"/>
              </a:defRPr>
            </a:pPr>
            <a:r>
              <a:t>   • Remove errors and duplicates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3. Feature Extraction</a:t>
            </a:r>
          </a:p>
          <a:p>
            <a:pPr>
              <a:defRPr sz="1800">
                <a:latin typeface="Calibri"/>
              </a:defRPr>
            </a:pPr>
            <a:r>
              <a:t>   • Convert raw data into features</a:t>
            </a:r>
          </a:p>
          <a:p>
            <a:pPr>
              <a:defRPr sz="1800">
                <a:latin typeface="Calibri"/>
              </a:defRPr>
            </a:pPr>
            <a:r>
              <a:t>   • (We'll learn this in Part 2!)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4. Model Training</a:t>
            </a:r>
          </a:p>
          <a:p>
            <a:pPr>
              <a:defRPr sz="1800">
                <a:latin typeface="Calibri"/>
              </a:defRPr>
            </a:pPr>
            <a:r>
              <a:t>   • Teach the model using data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5. Evaluation</a:t>
            </a:r>
          </a:p>
          <a:p>
            <a:pPr>
              <a:defRPr sz="1800">
                <a:latin typeface="Calibri"/>
              </a:defRPr>
            </a:pPr>
            <a:r>
              <a:t>   • Test on new data</a:t>
            </a:r>
          </a:p>
          <a:p>
            <a:pPr>
              <a:defRPr sz="1800">
                <a:latin typeface="Calibri"/>
              </a:defRPr>
            </a:pPr>
            <a:r>
              <a:t>   • Measure accuracy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6. Prediction</a:t>
            </a:r>
          </a:p>
          <a:p>
            <a:pPr>
              <a:defRPr sz="1800">
                <a:latin typeface="Calibri"/>
              </a:defRPr>
            </a:pPr>
            <a:r>
              <a:t>   • Use model for real predictions</a:t>
            </a:r>
          </a:p>
          <a:p>
            <a:br/>
            <a:r>
              <a:t>[Visual Suggestion: Flowchart: Data → Preprocess → Features → Train → Evaluate → Predict]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Common Machine Learning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pPr>
              <a:defRPr sz="1800">
                <a:latin typeface="Calibri"/>
              </a:defRPr>
            </a:pPr>
            <a:r>
              <a:t>In Daily Life:</a:t>
            </a:r>
          </a:p>
          <a:p>
            <a:pPr>
              <a:defRPr sz="1800">
                <a:latin typeface="Calibri"/>
              </a:defRPr>
            </a:pPr>
            <a:r>
              <a:t>• Virtual assistants (Siri, Alexa)</a:t>
            </a:r>
          </a:p>
          <a:p>
            <a:pPr>
              <a:defRPr sz="1800">
                <a:latin typeface="Calibri"/>
              </a:defRPr>
            </a:pPr>
            <a:r>
              <a:t>• Social media feeds (Facebook, Instagram)</a:t>
            </a:r>
          </a:p>
          <a:p>
            <a:pPr>
              <a:defRPr sz="1800">
                <a:latin typeface="Calibri"/>
              </a:defRPr>
            </a:pPr>
            <a:r>
              <a:t>• Online shopping (Amazon recommendations)</a:t>
            </a:r>
          </a:p>
          <a:p>
            <a:pPr>
              <a:defRPr sz="1800">
                <a:latin typeface="Calibri"/>
              </a:defRPr>
            </a:pPr>
            <a:r>
              <a:t>• Navigation (Google Maps route optimization)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In Industry:</a:t>
            </a:r>
          </a:p>
          <a:p>
            <a:pPr>
              <a:defRPr sz="1800">
                <a:latin typeface="Calibri"/>
              </a:defRPr>
            </a:pPr>
            <a:r>
              <a:t>• Healthcare: Disease diagnosis</a:t>
            </a:r>
          </a:p>
          <a:p>
            <a:pPr>
              <a:defRPr sz="1800">
                <a:latin typeface="Calibri"/>
              </a:defRPr>
            </a:pPr>
            <a:r>
              <a:t>• Finance: Fraud detection</a:t>
            </a:r>
          </a:p>
          <a:p>
            <a:pPr>
              <a:defRPr sz="1800">
                <a:latin typeface="Calibri"/>
              </a:defRPr>
            </a:pPr>
            <a:r>
              <a:t>• Transportation: Self-driving cars</a:t>
            </a:r>
          </a:p>
          <a:p>
            <a:pPr>
              <a:defRPr sz="1800">
                <a:latin typeface="Calibri"/>
              </a:defRPr>
            </a:pPr>
            <a:r>
              <a:t>• Education: Personalized learning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In Research:</a:t>
            </a:r>
          </a:p>
          <a:p>
            <a:pPr>
              <a:defRPr sz="1800">
                <a:latin typeface="Calibri"/>
              </a:defRPr>
            </a:pPr>
            <a:r>
              <a:t>• Drug discovery</a:t>
            </a:r>
          </a:p>
          <a:p>
            <a:pPr>
              <a:defRPr sz="1800">
                <a:latin typeface="Calibri"/>
              </a:defRPr>
            </a:pPr>
            <a:r>
              <a:t>• Climate prediction</a:t>
            </a:r>
          </a:p>
          <a:p>
            <a:pPr>
              <a:defRPr sz="1800">
                <a:latin typeface="Calibri"/>
              </a:defRPr>
            </a:pPr>
            <a:r>
              <a:t>• Language translation</a:t>
            </a:r>
          </a:p>
          <a:p>
            <a:br/>
            <a:r>
              <a:t>[Visual Suggestion: Grid of icons representing different applications]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pPr>
              <a:defRPr sz="1800">
                <a:latin typeface="Calibri"/>
              </a:defRPr>
            </a:pPr>
            <a:r>
              <a:t>What we learned: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✓ Machine Learning = Learning from data</a:t>
            </a:r>
          </a:p>
          <a:p>
            <a:pPr>
              <a:defRPr sz="1800">
                <a:latin typeface="Calibri"/>
              </a:defRPr>
            </a:pPr>
            <a:r>
              <a:t>✓ Three types: Supervised, Unsupervised, Reinforcement</a:t>
            </a:r>
          </a:p>
          <a:p>
            <a:pPr>
              <a:defRPr sz="1800">
                <a:latin typeface="Calibri"/>
              </a:defRPr>
            </a:pPr>
            <a:r>
              <a:t>✓ Used everywhere: Email, photos, recommendations</a:t>
            </a:r>
          </a:p>
          <a:p>
            <a:pPr>
              <a:defRPr sz="1800">
                <a:latin typeface="Calibri"/>
              </a:defRPr>
            </a:pPr>
            <a:r>
              <a:t>✓ Workflow: Data → Features → Model → Prediction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Next:</a:t>
            </a:r>
          </a:p>
          <a:p>
            <a:pPr>
              <a:defRPr sz="1800">
                <a:latin typeface="Calibri"/>
              </a:defRPr>
            </a:pPr>
            <a:r>
              <a:t>→ How to extract features from data</a:t>
            </a:r>
          </a:p>
          <a:p>
            <a:pPr>
              <a:defRPr sz="1800">
                <a:latin typeface="Calibri"/>
              </a:defRPr>
            </a:pPr>
            <a:r>
              <a:t>→ How classification works</a:t>
            </a:r>
          </a:p>
          <a:p>
            <a:pPr>
              <a:defRPr sz="1800">
                <a:latin typeface="Calibri"/>
              </a:defRPr>
            </a:pPr>
            <a:r>
              <a:t>→ Practical examples</a:t>
            </a:r>
          </a:p>
          <a:p>
            <a:br/>
            <a:r>
              <a:t>[Visual Suggestion: Checkmark icons, summary diagram]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Part 2: Feature Extraction &amp;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Duration: 60 minutes</a:t>
            </a:r>
          </a:p>
          <a:p>
            <a:pPr>
              <a:defRPr sz="1800">
                <a:latin typeface="Calibri"/>
              </a:defRPr>
            </a:pPr>
            <a:r>
              <a:t>Topics:</a:t>
            </a:r>
          </a:p>
          <a:p>
            <a:pPr>
              <a:defRPr sz="1800">
                <a:latin typeface="Calibri"/>
              </a:defRPr>
            </a:pPr>
            <a:r>
              <a:t>• What is data and features?</a:t>
            </a:r>
          </a:p>
          <a:p>
            <a:pPr>
              <a:defRPr sz="1800">
                <a:latin typeface="Calibri"/>
              </a:defRPr>
            </a:pPr>
            <a:r>
              <a:t>• Feature extraction methods</a:t>
            </a:r>
          </a:p>
          <a:p>
            <a:pPr>
              <a:defRPr sz="1800">
                <a:latin typeface="Calibri"/>
              </a:defRPr>
            </a:pPr>
            <a:r>
              <a:t>• What is classification?</a:t>
            </a:r>
          </a:p>
          <a:p>
            <a:pPr>
              <a:defRPr sz="1800">
                <a:latin typeface="Calibri"/>
              </a:defRPr>
            </a:pPr>
            <a:r>
              <a:t>• Classification examples</a:t>
            </a:r>
          </a:p>
          <a:p>
            <a:pPr>
              <a:defRPr sz="1800">
                <a:latin typeface="Calibri"/>
              </a:defRPr>
            </a:pPr>
            <a:r>
              <a:t>• Common classifiers</a:t>
            </a:r>
          </a:p>
          <a:p>
            <a:pPr>
              <a:defRPr sz="1800">
                <a:latin typeface="Calibri"/>
              </a:defRPr>
            </a:pPr>
            <a:r>
              <a:t>• End-to-end example</a:t>
            </a:r>
          </a:p>
          <a:p>
            <a:br/>
            <a:r>
              <a:t>[Visual Suggestion: Icon: Data transformation, classification symbol]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Data = Information we can use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Types of data: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1. Images</a:t>
            </a:r>
          </a:p>
          <a:p>
            <a:pPr>
              <a:defRPr sz="1800">
                <a:latin typeface="Calibri"/>
              </a:defRPr>
            </a:pPr>
            <a:r>
              <a:t>   • Photos, drawings, screenshots</a:t>
            </a:r>
          </a:p>
          <a:p>
            <a:pPr>
              <a:defRPr sz="1800">
                <a:latin typeface="Calibri"/>
              </a:defRPr>
            </a:pPr>
            <a:r>
              <a:t>   • Example: Cat photo, student ID card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2. Text</a:t>
            </a:r>
          </a:p>
          <a:p>
            <a:pPr>
              <a:defRPr sz="1800">
                <a:latin typeface="Calibri"/>
              </a:defRPr>
            </a:pPr>
            <a:r>
              <a:t>   • Emails, articles, messages</a:t>
            </a:r>
          </a:p>
          <a:p>
            <a:pPr>
              <a:defRPr sz="1800">
                <a:latin typeface="Calibri"/>
              </a:defRPr>
            </a:pPr>
            <a:r>
              <a:t>   • Example: 'This is a great course!'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3. Numbers</a:t>
            </a:r>
          </a:p>
          <a:p>
            <a:pPr>
              <a:defRPr sz="1800">
                <a:latin typeface="Calibri"/>
              </a:defRPr>
            </a:pPr>
            <a:r>
              <a:t>   • Measurements, scores, prices</a:t>
            </a:r>
          </a:p>
          <a:p>
            <a:pPr>
              <a:defRPr sz="1800">
                <a:latin typeface="Calibri"/>
              </a:defRPr>
            </a:pPr>
            <a:r>
              <a:t>   • Example: Student grades, temperature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4. Mixed</a:t>
            </a:r>
          </a:p>
          <a:p>
            <a:pPr>
              <a:defRPr sz="1800">
                <a:latin typeface="Calibri"/>
              </a:defRPr>
            </a:pPr>
            <a:r>
              <a:t>   • Combination of above</a:t>
            </a:r>
          </a:p>
          <a:p>
            <a:pPr>
              <a:defRPr sz="1800">
                <a:latin typeface="Calibri"/>
              </a:defRPr>
            </a:pPr>
            <a:r>
              <a:t>   • Example: Student profile (name, photo, grades)</a:t>
            </a:r>
          </a:p>
          <a:p>
            <a:br/>
            <a:r>
              <a:t>[Visual Suggestion: Icons: Image, text document, numbers, mixed data]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Features?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Features = Characteristics that describe data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Simple analogy:</a:t>
            </a:r>
          </a:p>
          <a:p>
            <a:pPr>
              <a:defRPr sz="1800">
                <a:latin typeface="Calibri"/>
              </a:defRPr>
            </a:pPr>
            <a:r>
              <a:t>• Describing a student:</a:t>
            </a:r>
          </a:p>
          <a:p>
            <a:pPr>
              <a:defRPr sz="1800">
                <a:latin typeface="Calibri"/>
              </a:defRPr>
            </a:pPr>
            <a:r>
              <a:t>  - Height (number)</a:t>
            </a:r>
          </a:p>
          <a:p>
            <a:pPr>
              <a:defRPr sz="1800">
                <a:latin typeface="Calibri"/>
              </a:defRPr>
            </a:pPr>
            <a:r>
              <a:t>  - Hair color (category)</a:t>
            </a:r>
          </a:p>
          <a:p>
            <a:pPr>
              <a:defRPr sz="1800">
                <a:latin typeface="Calibri"/>
              </a:defRPr>
            </a:pPr>
            <a:r>
              <a:t>  - Grade average (number)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In ML:</a:t>
            </a:r>
          </a:p>
          <a:p>
            <a:pPr>
              <a:defRPr sz="1800">
                <a:latin typeface="Calibri"/>
              </a:defRPr>
            </a:pPr>
            <a:r>
              <a:t>• Features help the model understand data</a:t>
            </a:r>
          </a:p>
          <a:p>
            <a:pPr>
              <a:defRPr sz="1800">
                <a:latin typeface="Calibri"/>
              </a:defRPr>
            </a:pPr>
            <a:r>
              <a:t>• Good features = Better predictions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Example - Image of a cat:</a:t>
            </a:r>
          </a:p>
          <a:p>
            <a:pPr>
              <a:defRPr sz="1800">
                <a:latin typeface="Calibri"/>
              </a:defRPr>
            </a:pPr>
            <a:r>
              <a:t>• Raw: Millions of pixels</a:t>
            </a:r>
          </a:p>
          <a:p>
            <a:pPr>
              <a:defRPr sz="1800">
                <a:latin typeface="Calibri"/>
              </a:defRPr>
            </a:pPr>
            <a:r>
              <a:t>• Features:</a:t>
            </a:r>
          </a:p>
          <a:p>
            <a:pPr>
              <a:defRPr sz="1800">
                <a:latin typeface="Calibri"/>
              </a:defRPr>
            </a:pPr>
            <a:r>
              <a:t>  - Has pointy ears? (Yes/No)</a:t>
            </a:r>
          </a:p>
          <a:p>
            <a:pPr>
              <a:defRPr sz="1800">
                <a:latin typeface="Calibri"/>
              </a:defRPr>
            </a:pPr>
            <a:r>
              <a:t>  - Has whiskers? (Yes/No)</a:t>
            </a:r>
          </a:p>
          <a:p>
            <a:pPr>
              <a:defRPr sz="1800">
                <a:latin typeface="Calibri"/>
              </a:defRPr>
            </a:pPr>
            <a:r>
              <a:t>  - Color: Orange, Black, White</a:t>
            </a:r>
          </a:p>
          <a:p>
            <a:pPr>
              <a:defRPr sz="1800">
                <a:latin typeface="Calibri"/>
              </a:defRPr>
            </a:pPr>
            <a:r>
              <a:t>  - Size: Small, Medium, Large</a:t>
            </a:r>
          </a:p>
          <a:p>
            <a:br/>
            <a:r>
              <a:t>[Visual Suggestion: Diagram: Raw data → Feature extraction → Features list]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Feature Extraction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0000" lnSpcReduction="20000"/>
          </a:bodyPr>
          <a:lstStyle/>
          <a:p>
            <a:pPr>
              <a:defRPr sz="1800">
                <a:latin typeface="Calibri"/>
              </a:defRPr>
            </a:pPr>
            <a:r>
              <a:t>Problem with raw data:</a:t>
            </a:r>
          </a:p>
          <a:p>
            <a:pPr>
              <a:defRPr sz="1800">
                <a:latin typeface="Calibri"/>
              </a:defRPr>
            </a:pPr>
            <a:r>
              <a:t>• Too much information</a:t>
            </a:r>
          </a:p>
          <a:p>
            <a:pPr>
              <a:defRPr sz="1800">
                <a:latin typeface="Calibri"/>
              </a:defRPr>
            </a:pPr>
            <a:r>
              <a:t>• Irrelevant details</a:t>
            </a:r>
          </a:p>
          <a:p>
            <a:pPr>
              <a:defRPr sz="1800">
                <a:latin typeface="Calibri"/>
              </a:defRPr>
            </a:pPr>
            <a:r>
              <a:t>• Hard for computer to understand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Solution - Feature extraction:</a:t>
            </a:r>
          </a:p>
          <a:p>
            <a:pPr>
              <a:defRPr sz="1800">
                <a:latin typeface="Calibri"/>
              </a:defRPr>
            </a:pPr>
            <a:r>
              <a:t>• Focus on important characteristics</a:t>
            </a:r>
          </a:p>
          <a:p>
            <a:pPr>
              <a:defRPr sz="1800">
                <a:latin typeface="Calibri"/>
              </a:defRPr>
            </a:pPr>
            <a:r>
              <a:t>• Reduce complexity</a:t>
            </a:r>
          </a:p>
          <a:p>
            <a:pPr>
              <a:defRPr sz="1800">
                <a:latin typeface="Calibri"/>
              </a:defRPr>
            </a:pPr>
            <a:r>
              <a:t>• Make patterns easier to find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Example - Student photo:</a:t>
            </a:r>
          </a:p>
          <a:p>
            <a:pPr>
              <a:defRPr sz="1800">
                <a:latin typeface="Calibri"/>
              </a:defRPr>
            </a:pPr>
            <a:r>
              <a:t>• Raw: 1000x1000 pixels = 1 million numbers</a:t>
            </a:r>
          </a:p>
          <a:p>
            <a:pPr>
              <a:defRPr sz="1800">
                <a:latin typeface="Calibri"/>
              </a:defRPr>
            </a:pPr>
            <a:r>
              <a:t>• Features:</a:t>
            </a:r>
          </a:p>
          <a:p>
            <a:pPr>
              <a:defRPr sz="1800">
                <a:latin typeface="Calibri"/>
              </a:defRPr>
            </a:pPr>
            <a:r>
              <a:t>  - Face shape: Round</a:t>
            </a:r>
          </a:p>
          <a:p>
            <a:pPr>
              <a:defRPr sz="1800">
                <a:latin typeface="Calibri"/>
              </a:defRPr>
            </a:pPr>
            <a:r>
              <a:t>  - Eye color: Brown</a:t>
            </a:r>
          </a:p>
          <a:p>
            <a:pPr>
              <a:defRPr sz="1800">
                <a:latin typeface="Calibri"/>
              </a:defRPr>
            </a:pPr>
            <a:r>
              <a:t>  - Hair: Long, Black</a:t>
            </a:r>
          </a:p>
          <a:p>
            <a:pPr>
              <a:defRPr sz="1800">
                <a:latin typeface="Calibri"/>
              </a:defRPr>
            </a:pPr>
            <a:r>
              <a:t>  - Expression: Smiling</a:t>
            </a:r>
          </a:p>
          <a:p>
            <a:pPr>
              <a:defRPr sz="1800">
                <a:latin typeface="Calibri"/>
              </a:defRPr>
            </a:pPr>
            <a:r>
              <a:t>• Result: Just 4-5 meaningful features!</a:t>
            </a:r>
          </a:p>
          <a:p>
            <a:br/>
            <a:r>
              <a:t>[Visual Suggestion: Diagram: Large raw data → Small feature set]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Extraction: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Image features we can extract: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1. Edges</a:t>
            </a:r>
          </a:p>
          <a:p>
            <a:pPr>
              <a:defRPr sz="1800">
                <a:latin typeface="Calibri"/>
              </a:defRPr>
            </a:pPr>
            <a:r>
              <a:t>   • Detect boundaries and shapes</a:t>
            </a:r>
          </a:p>
          <a:p>
            <a:pPr>
              <a:defRPr sz="1800">
                <a:latin typeface="Calibri"/>
              </a:defRPr>
            </a:pPr>
            <a:r>
              <a:t>   • Example: Outline of a face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2. Colors</a:t>
            </a:r>
          </a:p>
          <a:p>
            <a:pPr>
              <a:defRPr sz="1800">
                <a:latin typeface="Calibri"/>
              </a:defRPr>
            </a:pPr>
            <a:r>
              <a:t>   • Dominant colors, color distribution</a:t>
            </a:r>
          </a:p>
          <a:p>
            <a:pPr>
              <a:defRPr sz="1800">
                <a:latin typeface="Calibri"/>
              </a:defRPr>
            </a:pPr>
            <a:r>
              <a:t>   • Example: Sky is blue, grass is green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3. Textures</a:t>
            </a:r>
          </a:p>
          <a:p>
            <a:pPr>
              <a:defRPr sz="1800">
                <a:latin typeface="Calibri"/>
              </a:defRPr>
            </a:pPr>
            <a:r>
              <a:t>   • Surface patterns</a:t>
            </a:r>
          </a:p>
          <a:p>
            <a:pPr>
              <a:defRPr sz="1800">
                <a:latin typeface="Calibri"/>
              </a:defRPr>
            </a:pPr>
            <a:r>
              <a:t>   • Example: Smooth skin, rough bark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4. Shapes</a:t>
            </a:r>
          </a:p>
          <a:p>
            <a:pPr>
              <a:defRPr sz="1800">
                <a:latin typeface="Calibri"/>
              </a:defRPr>
            </a:pPr>
            <a:r>
              <a:t>   • Geometric forms</a:t>
            </a:r>
          </a:p>
          <a:p>
            <a:pPr>
              <a:defRPr sz="1800">
                <a:latin typeface="Calibri"/>
              </a:defRPr>
            </a:pPr>
            <a:r>
              <a:t>   • Example: Circle (ball), Rectangle (book)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Real example:</a:t>
            </a:r>
          </a:p>
          <a:p>
            <a:pPr>
              <a:defRPr sz="1800">
                <a:latin typeface="Calibri"/>
              </a:defRPr>
            </a:pPr>
            <a:r>
              <a:t>• Cat photo → Extract: Pointy ears, whiskers, tail</a:t>
            </a:r>
          </a:p>
          <a:p>
            <a:br/>
            <a:r>
              <a:t>[Visual Suggestion: Diagram: Image → Edge detection → Color analysis → Features]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Extraction: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Text features we can extract: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1. Word Count</a:t>
            </a:r>
          </a:p>
          <a:p>
            <a:pPr>
              <a:defRPr sz="1800">
                <a:latin typeface="Calibri"/>
              </a:defRPr>
            </a:pPr>
            <a:r>
              <a:t>   • How many times each word appears</a:t>
            </a:r>
          </a:p>
          <a:p>
            <a:pPr>
              <a:defRPr sz="1800">
                <a:latin typeface="Calibri"/>
              </a:defRPr>
            </a:pPr>
            <a:r>
              <a:t>   • Example: 'free' appears 5 times → Spam indicator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2. Word Frequency (TF-IDF - Simple explanation)</a:t>
            </a:r>
          </a:p>
          <a:p>
            <a:pPr>
              <a:defRPr sz="1800">
                <a:latin typeface="Calibri"/>
              </a:defRPr>
            </a:pPr>
            <a:r>
              <a:t>   • Important words appear more often</a:t>
            </a:r>
          </a:p>
          <a:p>
            <a:pPr>
              <a:defRPr sz="1800">
                <a:latin typeface="Calibri"/>
              </a:defRPr>
            </a:pPr>
            <a:r>
              <a:t>   • Example: 'machine learning' in AI article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3. Text Length</a:t>
            </a:r>
          </a:p>
          <a:p>
            <a:pPr>
              <a:defRPr sz="1800">
                <a:latin typeface="Calibri"/>
              </a:defRPr>
            </a:pPr>
            <a:r>
              <a:t>   • Number of characters or words</a:t>
            </a:r>
          </a:p>
          <a:p>
            <a:pPr>
              <a:defRPr sz="1800">
                <a:latin typeface="Calibri"/>
              </a:defRPr>
            </a:pPr>
            <a:r>
              <a:t>   • Example: Short messages vs long essays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4. Special Characters</a:t>
            </a:r>
          </a:p>
          <a:p>
            <a:pPr>
              <a:defRPr sz="1800">
                <a:latin typeface="Calibri"/>
              </a:defRPr>
            </a:pPr>
            <a:r>
              <a:t>   • Exclamation marks, capital letters</a:t>
            </a:r>
          </a:p>
          <a:p>
            <a:pPr>
              <a:defRPr sz="1800">
                <a:latin typeface="Calibri"/>
              </a:defRPr>
            </a:pPr>
            <a:r>
              <a:t>   • Example: 'FREE!!!' → Spam indicator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Real example:</a:t>
            </a:r>
          </a:p>
          <a:p>
            <a:pPr>
              <a:defRPr sz="1800">
                <a:latin typeface="Calibri"/>
              </a:defRPr>
            </a:pPr>
            <a:r>
              <a:t>• Email: 'Win FREE money!!!'</a:t>
            </a:r>
          </a:p>
          <a:p>
            <a:pPr>
              <a:defRPr sz="1800">
                <a:latin typeface="Calibri"/>
              </a:defRPr>
            </a:pPr>
            <a:r>
              <a:t>• Features: Has 'free' (1), Has 'win' (1), Many '!' (3)</a:t>
            </a:r>
          </a:p>
          <a:p>
            <a:br/>
            <a:r>
              <a:t>[Visual Suggestion: Diagram: Text → Word analysis → Feature vector]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Extraction: Numerical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Numerical features we can extract: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1. Statistics</a:t>
            </a:r>
          </a:p>
          <a:p>
            <a:pPr>
              <a:defRPr sz="1800">
                <a:latin typeface="Calibri"/>
              </a:defRPr>
            </a:pPr>
            <a:r>
              <a:t>   • Mean (average)</a:t>
            </a:r>
          </a:p>
          <a:p>
            <a:pPr>
              <a:defRPr sz="1800">
                <a:latin typeface="Calibri"/>
              </a:defRPr>
            </a:pPr>
            <a:r>
              <a:t>   • Max, Min values</a:t>
            </a:r>
          </a:p>
          <a:p>
            <a:pPr>
              <a:defRPr sz="1800">
                <a:latin typeface="Calibri"/>
              </a:defRPr>
            </a:pPr>
            <a:r>
              <a:t>   • Example: Average student grade = 85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2. Trends</a:t>
            </a:r>
          </a:p>
          <a:p>
            <a:pPr>
              <a:defRPr sz="1800">
                <a:latin typeface="Calibri"/>
              </a:defRPr>
            </a:pPr>
            <a:r>
              <a:t>   • Increasing or decreasing over time</a:t>
            </a:r>
          </a:p>
          <a:p>
            <a:pPr>
              <a:defRPr sz="1800">
                <a:latin typeface="Calibri"/>
              </a:defRPr>
            </a:pPr>
            <a:r>
              <a:t>   • Example: Temperature rising in summer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3. Comparisons</a:t>
            </a:r>
          </a:p>
          <a:p>
            <a:pPr>
              <a:defRPr sz="1800">
                <a:latin typeface="Calibri"/>
              </a:defRPr>
            </a:pPr>
            <a:r>
              <a:t>   • Above/below average</a:t>
            </a:r>
          </a:p>
          <a:p>
            <a:pPr>
              <a:defRPr sz="1800">
                <a:latin typeface="Calibri"/>
              </a:defRPr>
            </a:pPr>
            <a:r>
              <a:t>   • Example: Grade 90 is above class average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4. Categories</a:t>
            </a:r>
          </a:p>
          <a:p>
            <a:pPr>
              <a:defRPr sz="1800">
                <a:latin typeface="Calibri"/>
              </a:defRPr>
            </a:pPr>
            <a:r>
              <a:t>   • Convert numbers to groups</a:t>
            </a:r>
          </a:p>
          <a:p>
            <a:pPr>
              <a:defRPr sz="1800">
                <a:latin typeface="Calibri"/>
              </a:defRPr>
            </a:pPr>
            <a:r>
              <a:t>   • Example: Age 20 → 'Young adult'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Real example - Student data:</a:t>
            </a:r>
          </a:p>
          <a:p>
            <a:pPr>
              <a:defRPr sz="1800">
                <a:latin typeface="Calibri"/>
              </a:defRPr>
            </a:pPr>
            <a:r>
              <a:t>• Raw: [85, 90, 78, 92, 88]</a:t>
            </a:r>
          </a:p>
          <a:p>
            <a:pPr>
              <a:defRPr sz="1800">
                <a:latin typeface="Calibri"/>
              </a:defRPr>
            </a:pPr>
            <a:r>
              <a:t>• Features: Mean=86.6, Max=92, Trend=Increasing</a:t>
            </a:r>
          </a:p>
          <a:p>
            <a:br/>
            <a:r>
              <a:t>[Visual Suggestion: Chart: Raw numbers → Statistics → Features]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Classification?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Classification = Putting data into categories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Simple analogy:</a:t>
            </a:r>
          </a:p>
          <a:p>
            <a:pPr>
              <a:defRPr sz="1800">
                <a:latin typeface="Calibri"/>
              </a:defRPr>
            </a:pPr>
            <a:r>
              <a:t>• Sorting fruits into baskets</a:t>
            </a:r>
          </a:p>
          <a:p>
            <a:pPr>
              <a:defRPr sz="1800">
                <a:latin typeface="Calibri"/>
              </a:defRPr>
            </a:pPr>
            <a:r>
              <a:t>• Apple → Fruit basket</a:t>
            </a:r>
          </a:p>
          <a:p>
            <a:pPr>
              <a:defRPr sz="1800">
                <a:latin typeface="Calibri"/>
              </a:defRPr>
            </a:pPr>
            <a:r>
              <a:t>• Carrot → Vegetable basket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In ML:</a:t>
            </a:r>
          </a:p>
          <a:p>
            <a:pPr>
              <a:defRPr sz="1800">
                <a:latin typeface="Calibri"/>
              </a:defRPr>
            </a:pPr>
            <a:r>
              <a:t>• Input: Data with features</a:t>
            </a:r>
          </a:p>
          <a:p>
            <a:pPr>
              <a:defRPr sz="1800">
                <a:latin typeface="Calibri"/>
              </a:defRPr>
            </a:pPr>
            <a:r>
              <a:t>• Output: Category/Class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Example:</a:t>
            </a:r>
          </a:p>
          <a:p>
            <a:pPr>
              <a:defRPr sz="1800">
                <a:latin typeface="Calibri"/>
              </a:defRPr>
            </a:pPr>
            <a:r>
              <a:t>• Input: Email with features</a:t>
            </a:r>
          </a:p>
          <a:p>
            <a:pPr>
              <a:defRPr sz="1800">
                <a:latin typeface="Calibri"/>
              </a:defRPr>
            </a:pPr>
            <a:r>
              <a:t>  - Has 'free' (Yes)</a:t>
            </a:r>
          </a:p>
          <a:p>
            <a:pPr>
              <a:defRPr sz="1800">
                <a:latin typeface="Calibri"/>
              </a:defRPr>
            </a:pPr>
            <a:r>
              <a:t>  - Has '!!!' (Yes)</a:t>
            </a:r>
          </a:p>
          <a:p>
            <a:pPr>
              <a:defRPr sz="1800">
                <a:latin typeface="Calibri"/>
              </a:defRPr>
            </a:pPr>
            <a:r>
              <a:t>  - From unknown sender (Yes)</a:t>
            </a:r>
          </a:p>
          <a:p>
            <a:pPr>
              <a:defRPr sz="1800">
                <a:latin typeface="Calibri"/>
              </a:defRPr>
            </a:pPr>
            <a:r>
              <a:t>• Output: Spam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Goal:</a:t>
            </a:r>
          </a:p>
          <a:p>
            <a:pPr>
              <a:defRPr sz="1800">
                <a:latin typeface="Calibri"/>
              </a:defRPr>
            </a:pPr>
            <a:r>
              <a:t>• Learn patterns from examples</a:t>
            </a:r>
          </a:p>
          <a:p>
            <a:pPr>
              <a:defRPr sz="1800">
                <a:latin typeface="Calibri"/>
              </a:defRPr>
            </a:pPr>
            <a:r>
              <a:t>• Classify new data correctly</a:t>
            </a:r>
          </a:p>
          <a:p>
            <a:br/>
            <a:r>
              <a:t>[Visual Suggestion: Diagram: Input features → Classifier → Category output]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Binary vs Multi-class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alibri"/>
              </a:defRPr>
            </a:pPr>
            <a:r>
              <a:t>Binary Classification: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Two categories only:</a:t>
            </a:r>
          </a:p>
          <a:p>
            <a:pPr>
              <a:defRPr sz="1600">
                <a:latin typeface="Calibri"/>
              </a:defRPr>
            </a:pPr>
            <a:r>
              <a:t>• Yes/No</a:t>
            </a:r>
          </a:p>
          <a:p>
            <a:pPr>
              <a:defRPr sz="1600">
                <a:latin typeface="Calibri"/>
              </a:defRPr>
            </a:pPr>
            <a:r>
              <a:t>• Spam/Not Spam</a:t>
            </a:r>
          </a:p>
          <a:p>
            <a:pPr>
              <a:defRPr sz="1600">
                <a:latin typeface="Calibri"/>
              </a:defRPr>
            </a:pPr>
            <a:r>
              <a:t>• Pass/Fail</a:t>
            </a:r>
          </a:p>
          <a:p>
            <a:pPr>
              <a:defRPr sz="1600">
                <a:latin typeface="Calibri"/>
              </a:defRPr>
            </a:pPr>
            <a:r>
              <a:t>• Sick/Healthy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Example:</a:t>
            </a:r>
          </a:p>
          <a:p>
            <a:pPr>
              <a:defRPr sz="1600">
                <a:latin typeface="Calibri"/>
              </a:defRPr>
            </a:pPr>
            <a:r>
              <a:t>• Email → Spam or Not Spam?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Simpler problem:</a:t>
            </a:r>
          </a:p>
          <a:p>
            <a:pPr>
              <a:defRPr sz="1600">
                <a:latin typeface="Calibri"/>
              </a:defRPr>
            </a:pPr>
            <a:r>
              <a:t>• Just two choices</a:t>
            </a:r>
          </a:p>
          <a:p>
            <a:pPr>
              <a:defRPr sz="1600">
                <a:latin typeface="Calibri"/>
              </a:defRPr>
            </a:pPr>
            <a:r>
              <a:t>• Easier to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alibri"/>
              </a:defRPr>
            </a:pPr>
            <a:r>
              <a:t>Multi-class Classification: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More than two categories:</a:t>
            </a:r>
          </a:p>
          <a:p>
            <a:pPr>
              <a:defRPr sz="1600">
                <a:latin typeface="Calibri"/>
              </a:defRPr>
            </a:pPr>
            <a:r>
              <a:t>• Cat/Dog/Bird</a:t>
            </a:r>
          </a:p>
          <a:p>
            <a:pPr>
              <a:defRPr sz="1600">
                <a:latin typeface="Calibri"/>
              </a:defRPr>
            </a:pPr>
            <a:r>
              <a:t>• Grade: A/B/C/D/F</a:t>
            </a:r>
          </a:p>
          <a:p>
            <a:pPr>
              <a:defRPr sz="1600">
                <a:latin typeface="Calibri"/>
              </a:defRPr>
            </a:pPr>
            <a:r>
              <a:t>• Emotion: Happy/Sad/Angry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Example:</a:t>
            </a:r>
          </a:p>
          <a:p>
            <a:pPr>
              <a:defRPr sz="1600">
                <a:latin typeface="Calibri"/>
              </a:defRPr>
            </a:pPr>
            <a:r>
              <a:t>• Image → Cat, Dog, or Bird?</a:t>
            </a:r>
          </a:p>
          <a:p>
            <a:pPr>
              <a:defRPr sz="1600">
                <a:latin typeface="Calibri"/>
              </a:defRPr>
            </a:pPr>
            <a:endParaRPr/>
          </a:p>
          <a:p>
            <a:pPr>
              <a:defRPr sz="1600">
                <a:latin typeface="Calibri"/>
              </a:defRPr>
            </a:pPr>
            <a:r>
              <a:t>More complex:</a:t>
            </a:r>
          </a:p>
          <a:p>
            <a:pPr>
              <a:defRPr sz="1600">
                <a:latin typeface="Calibri"/>
              </a:defRPr>
            </a:pPr>
            <a:r>
              <a:t>• Multiple choices</a:t>
            </a:r>
          </a:p>
          <a:p>
            <a:pPr>
              <a:defRPr sz="1600">
                <a:latin typeface="Calibri"/>
              </a:defRPr>
            </a:pPr>
            <a:r>
              <a:t>• Need more training 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Classification Example: Spam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Problem:</a:t>
            </a:r>
          </a:p>
          <a:p>
            <a:pPr>
              <a:defRPr sz="1800">
                <a:latin typeface="Calibri"/>
              </a:defRPr>
            </a:pPr>
            <a:r>
              <a:t>• Classify emails as Spam or Not Spam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Step 1: Extract Features</a:t>
            </a:r>
          </a:p>
          <a:p>
            <a:pPr>
              <a:defRPr sz="1800">
                <a:latin typeface="Calibri"/>
              </a:defRPr>
            </a:pPr>
            <a:r>
              <a:t>• Word 'free' appears? (Yes/No)</a:t>
            </a:r>
          </a:p>
          <a:p>
            <a:pPr>
              <a:defRPr sz="1800">
                <a:latin typeface="Calibri"/>
              </a:defRPr>
            </a:pPr>
            <a:r>
              <a:t>• Word 'win' appears? (Yes/No)</a:t>
            </a:r>
          </a:p>
          <a:p>
            <a:pPr>
              <a:defRPr sz="1800">
                <a:latin typeface="Calibri"/>
              </a:defRPr>
            </a:pPr>
            <a:r>
              <a:t>• Many exclamation marks? (Yes/No)</a:t>
            </a:r>
          </a:p>
          <a:p>
            <a:pPr>
              <a:defRPr sz="1800">
                <a:latin typeface="Calibri"/>
              </a:defRPr>
            </a:pPr>
            <a:r>
              <a:t>• From known sender? (Yes/No)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Step 2: Train Classifier</a:t>
            </a:r>
          </a:p>
          <a:p>
            <a:pPr>
              <a:defRPr sz="1800">
                <a:latin typeface="Calibri"/>
              </a:defRPr>
            </a:pPr>
            <a:r>
              <a:t>• Show 1000 spam emails</a:t>
            </a:r>
          </a:p>
          <a:p>
            <a:pPr>
              <a:defRPr sz="1800">
                <a:latin typeface="Calibri"/>
              </a:defRPr>
            </a:pPr>
            <a:r>
              <a:t>• Show 1000 normal emails</a:t>
            </a:r>
          </a:p>
          <a:p>
            <a:pPr>
              <a:defRPr sz="1800">
                <a:latin typeface="Calibri"/>
              </a:defRPr>
            </a:pPr>
            <a:r>
              <a:t>• Learn patterns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Step 3: Classify New Email</a:t>
            </a:r>
          </a:p>
          <a:p>
            <a:pPr>
              <a:defRPr sz="1800">
                <a:latin typeface="Calibri"/>
              </a:defRPr>
            </a:pPr>
            <a:r>
              <a:t>• Extract features</a:t>
            </a:r>
          </a:p>
          <a:p>
            <a:pPr>
              <a:defRPr sz="1800">
                <a:latin typeface="Calibri"/>
              </a:defRPr>
            </a:pPr>
            <a:r>
              <a:t>• Compare with learned patterns</a:t>
            </a:r>
          </a:p>
          <a:p>
            <a:pPr>
              <a:defRPr sz="1800">
                <a:latin typeface="Calibri"/>
              </a:defRPr>
            </a:pPr>
            <a:r>
              <a:t>• Output: Spam or Not Spam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Result:</a:t>
            </a:r>
          </a:p>
          <a:p>
            <a:pPr>
              <a:defRPr sz="1800">
                <a:latin typeface="Calibri"/>
              </a:defRPr>
            </a:pPr>
            <a:r>
              <a:t>• 99%+ accuracy in real systems</a:t>
            </a:r>
          </a:p>
          <a:p>
            <a:br/>
            <a:r>
              <a:t>[Visual Suggestion: Flowchart: Email → Features → Classifier → Spam/Not Spam]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Classification Example: Disease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55000" lnSpcReduction="20000"/>
          </a:bodyPr>
          <a:lstStyle/>
          <a:p>
            <a:pPr>
              <a:defRPr sz="1800">
                <a:latin typeface="Calibri"/>
              </a:defRPr>
            </a:pPr>
            <a:r>
              <a:t>Problem:</a:t>
            </a:r>
          </a:p>
          <a:p>
            <a:pPr>
              <a:defRPr sz="1800">
                <a:latin typeface="Calibri"/>
              </a:defRPr>
            </a:pPr>
            <a:r>
              <a:t>• Detect disease from symptoms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Features:</a:t>
            </a:r>
          </a:p>
          <a:p>
            <a:pPr>
              <a:defRPr sz="1800">
                <a:latin typeface="Calibri"/>
              </a:defRPr>
            </a:pPr>
            <a:r>
              <a:t>• Fever? (Yes/No)</a:t>
            </a:r>
          </a:p>
          <a:p>
            <a:pPr>
              <a:defRPr sz="1800">
                <a:latin typeface="Calibri"/>
              </a:defRPr>
            </a:pPr>
            <a:r>
              <a:t>• Cough? (Yes/No)</a:t>
            </a:r>
          </a:p>
          <a:p>
            <a:pPr>
              <a:defRPr sz="1800">
                <a:latin typeface="Calibri"/>
              </a:defRPr>
            </a:pPr>
            <a:r>
              <a:t>• Temperature: 38.5°C</a:t>
            </a:r>
          </a:p>
          <a:p>
            <a:pPr>
              <a:defRPr sz="1800">
                <a:latin typeface="Calibri"/>
              </a:defRPr>
            </a:pPr>
            <a:r>
              <a:t>• Age: 25 years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Classification:</a:t>
            </a:r>
          </a:p>
          <a:p>
            <a:pPr>
              <a:defRPr sz="1800">
                <a:latin typeface="Calibri"/>
              </a:defRPr>
            </a:pPr>
            <a:r>
              <a:t>• Input: Patient symptoms</a:t>
            </a:r>
          </a:p>
          <a:p>
            <a:pPr>
              <a:defRPr sz="1800">
                <a:latin typeface="Calibri"/>
              </a:defRPr>
            </a:pPr>
            <a:r>
              <a:t>• Output: Disease category</a:t>
            </a:r>
          </a:p>
          <a:p>
            <a:pPr>
              <a:defRPr sz="1800">
                <a:latin typeface="Calibri"/>
              </a:defRPr>
            </a:pPr>
            <a:r>
              <a:t>  - Common cold</a:t>
            </a:r>
          </a:p>
          <a:p>
            <a:pPr>
              <a:defRPr sz="1800">
                <a:latin typeface="Calibri"/>
              </a:defRPr>
            </a:pPr>
            <a:r>
              <a:t>  - Flu</a:t>
            </a:r>
          </a:p>
          <a:p>
            <a:pPr>
              <a:defRPr sz="1800">
                <a:latin typeface="Calibri"/>
              </a:defRPr>
            </a:pPr>
            <a:r>
              <a:t>  - COVID-19</a:t>
            </a:r>
          </a:p>
          <a:p>
            <a:pPr>
              <a:defRPr sz="1800">
                <a:latin typeface="Calibri"/>
              </a:defRPr>
            </a:pPr>
            <a:r>
              <a:t>  - Healthy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Real application:</a:t>
            </a:r>
          </a:p>
          <a:p>
            <a:pPr>
              <a:defRPr sz="1800">
                <a:latin typeface="Calibri"/>
              </a:defRPr>
            </a:pPr>
            <a:r>
              <a:t>• Assist doctors in diagnosis</a:t>
            </a:r>
          </a:p>
          <a:p>
            <a:pPr>
              <a:defRPr sz="1800">
                <a:latin typeface="Calibri"/>
              </a:defRPr>
            </a:pPr>
            <a:r>
              <a:t>• Early detection saves lives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Note:</a:t>
            </a:r>
          </a:p>
          <a:p>
            <a:pPr>
              <a:defRPr sz="1800">
                <a:latin typeface="Calibri"/>
              </a:defRPr>
            </a:pPr>
            <a:r>
              <a:t>• ML assists, doesn't replace doctors</a:t>
            </a:r>
          </a:p>
          <a:p>
            <a:br/>
            <a:r>
              <a:t>[Visual Suggestion: Diagram: Symptoms → Features → Classifier → Diagnosis]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Classification Example: Face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Problem:</a:t>
            </a:r>
          </a:p>
          <a:p>
            <a:pPr>
              <a:defRPr sz="1800">
                <a:latin typeface="Calibri"/>
              </a:defRPr>
            </a:pPr>
            <a:r>
              <a:t>• Identify person in photo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Step 1: Extract Face Features</a:t>
            </a:r>
          </a:p>
          <a:p>
            <a:pPr>
              <a:defRPr sz="1800">
                <a:latin typeface="Calibri"/>
              </a:defRPr>
            </a:pPr>
            <a:r>
              <a:t>• Eye distance</a:t>
            </a:r>
          </a:p>
          <a:p>
            <a:pPr>
              <a:defRPr sz="1800">
                <a:latin typeface="Calibri"/>
              </a:defRPr>
            </a:pPr>
            <a:r>
              <a:t>• Nose shape</a:t>
            </a:r>
          </a:p>
          <a:p>
            <a:pPr>
              <a:defRPr sz="1800">
                <a:latin typeface="Calibri"/>
              </a:defRPr>
            </a:pPr>
            <a:r>
              <a:t>• Face width/height ratio</a:t>
            </a:r>
          </a:p>
          <a:p>
            <a:pPr>
              <a:defRPr sz="1800">
                <a:latin typeface="Calibri"/>
              </a:defRPr>
            </a:pPr>
            <a:r>
              <a:t>• Unique facial markers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Step 2: Compare with Database</a:t>
            </a:r>
          </a:p>
          <a:p>
            <a:pPr>
              <a:defRPr sz="1800">
                <a:latin typeface="Calibri"/>
              </a:defRPr>
            </a:pPr>
            <a:r>
              <a:t>• Match features with known faces</a:t>
            </a:r>
          </a:p>
          <a:p>
            <a:pPr>
              <a:defRPr sz="1800">
                <a:latin typeface="Calibri"/>
              </a:defRPr>
            </a:pPr>
            <a:r>
              <a:t>• Calculate similarity score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Step 3: Classify</a:t>
            </a:r>
          </a:p>
          <a:p>
            <a:pPr>
              <a:defRPr sz="1800">
                <a:latin typeface="Calibri"/>
              </a:defRPr>
            </a:pPr>
            <a:r>
              <a:t>• If similarity &gt; 95% → Match found</a:t>
            </a:r>
          </a:p>
          <a:p>
            <a:pPr>
              <a:defRPr sz="1800">
                <a:latin typeface="Calibri"/>
              </a:defRPr>
            </a:pPr>
            <a:r>
              <a:t>• Output: Person's name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Applications:</a:t>
            </a:r>
          </a:p>
          <a:p>
            <a:pPr>
              <a:defRPr sz="1800">
                <a:latin typeface="Calibri"/>
              </a:defRPr>
            </a:pPr>
            <a:r>
              <a:t>• Phone unlock</a:t>
            </a:r>
          </a:p>
          <a:p>
            <a:pPr>
              <a:defRPr sz="1800">
                <a:latin typeface="Calibri"/>
              </a:defRPr>
            </a:pPr>
            <a:r>
              <a:t>• Security systems</a:t>
            </a:r>
          </a:p>
          <a:p>
            <a:pPr>
              <a:defRPr sz="1800">
                <a:latin typeface="Calibri"/>
              </a:defRPr>
            </a:pPr>
            <a:r>
              <a:t>• Photo tagging</a:t>
            </a:r>
          </a:p>
          <a:p>
            <a:br/>
            <a:r>
              <a:t>[Visual Suggestion: Diagram: Face → Feature extraction → Comparison → Identity]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Common Classifiers (High-Level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pPr>
              <a:defRPr sz="1800">
                <a:latin typeface="Calibri"/>
              </a:defRPr>
            </a:pPr>
            <a:r>
              <a:t>Three popular classifiers: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1. K-Nearest Neighbors (KNN)</a:t>
            </a:r>
          </a:p>
          <a:p>
            <a:pPr>
              <a:defRPr sz="1800">
                <a:latin typeface="Calibri"/>
              </a:defRPr>
            </a:pPr>
            <a:r>
              <a:t>   • Find similar examples</a:t>
            </a:r>
          </a:p>
          <a:p>
            <a:pPr>
              <a:defRPr sz="1800">
                <a:latin typeface="Calibri"/>
              </a:defRPr>
            </a:pPr>
            <a:r>
              <a:t>   • Vote by majority</a:t>
            </a:r>
          </a:p>
          <a:p>
            <a:pPr>
              <a:defRPr sz="1800">
                <a:latin typeface="Calibri"/>
              </a:defRPr>
            </a:pPr>
            <a:r>
              <a:t>   • Like asking neighbors for advice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2. Decision Tree</a:t>
            </a:r>
          </a:p>
          <a:p>
            <a:pPr>
              <a:defRPr sz="1800">
                <a:latin typeface="Calibri"/>
              </a:defRPr>
            </a:pPr>
            <a:r>
              <a:t>   • Ask yes/no questions</a:t>
            </a:r>
          </a:p>
          <a:p>
            <a:pPr>
              <a:defRPr sz="1800">
                <a:latin typeface="Calibri"/>
              </a:defRPr>
            </a:pPr>
            <a:r>
              <a:t>   • Follow path to answer</a:t>
            </a:r>
          </a:p>
          <a:p>
            <a:pPr>
              <a:defRPr sz="1800">
                <a:latin typeface="Calibri"/>
              </a:defRPr>
            </a:pPr>
            <a:r>
              <a:t>   • Like a flowchart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3. Logistic Regression</a:t>
            </a:r>
          </a:p>
          <a:p>
            <a:pPr>
              <a:defRPr sz="1800">
                <a:latin typeface="Calibri"/>
              </a:defRPr>
            </a:pPr>
            <a:r>
              <a:t>   • Find best line/curve to separate classes</a:t>
            </a:r>
          </a:p>
          <a:p>
            <a:pPr>
              <a:defRPr sz="1800">
                <a:latin typeface="Calibri"/>
              </a:defRPr>
            </a:pPr>
            <a:r>
              <a:t>   • Uses probability</a:t>
            </a:r>
          </a:p>
          <a:p>
            <a:pPr>
              <a:defRPr sz="1800">
                <a:latin typeface="Calibri"/>
              </a:defRPr>
            </a:pPr>
            <a:r>
              <a:t>   • Like drawing a boundary</a:t>
            </a:r>
          </a:p>
          <a:p>
            <a:br/>
            <a:r>
              <a:t>[Visual Suggestion: Three icons/diagrams for each classifier type]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K-Nearest Neighbors (KNN) -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How it works (simple explanation):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1. Store all training examples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2. For new data:</a:t>
            </a:r>
          </a:p>
          <a:p>
            <a:pPr>
              <a:defRPr sz="1800">
                <a:latin typeface="Calibri"/>
              </a:defRPr>
            </a:pPr>
            <a:r>
              <a:t>   • Find K nearest neighbors</a:t>
            </a:r>
          </a:p>
          <a:p>
            <a:pPr>
              <a:defRPr sz="1800">
                <a:latin typeface="Calibri"/>
              </a:defRPr>
            </a:pPr>
            <a:r>
              <a:t>   • K = number of neighbors (e.g., K=3)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3. Vote:</a:t>
            </a:r>
          </a:p>
          <a:p>
            <a:pPr>
              <a:defRPr sz="1800">
                <a:latin typeface="Calibri"/>
              </a:defRPr>
            </a:pPr>
            <a:r>
              <a:t>   • Look at neighbors' labels</a:t>
            </a:r>
          </a:p>
          <a:p>
            <a:pPr>
              <a:defRPr sz="1800">
                <a:latin typeface="Calibri"/>
              </a:defRPr>
            </a:pPr>
            <a:r>
              <a:t>   • Majority wins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Example:</a:t>
            </a:r>
          </a:p>
          <a:p>
            <a:pPr>
              <a:defRPr sz="1800">
                <a:latin typeface="Calibri"/>
              </a:defRPr>
            </a:pPr>
            <a:r>
              <a:t>• New email: Is it spam?</a:t>
            </a:r>
          </a:p>
          <a:p>
            <a:pPr>
              <a:defRPr sz="1800">
                <a:latin typeface="Calibri"/>
              </a:defRPr>
            </a:pPr>
            <a:r>
              <a:t>• Find 3 most similar emails</a:t>
            </a:r>
          </a:p>
          <a:p>
            <a:pPr>
              <a:defRPr sz="1800">
                <a:latin typeface="Calibri"/>
              </a:defRPr>
            </a:pPr>
            <a:r>
              <a:t>• 2 are spam, 1 is not</a:t>
            </a:r>
          </a:p>
          <a:p>
            <a:pPr>
              <a:defRPr sz="1800">
                <a:latin typeface="Calibri"/>
              </a:defRPr>
            </a:pPr>
            <a:r>
              <a:t>• Decision: Spam (2 out of 3)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Analogy:</a:t>
            </a:r>
          </a:p>
          <a:p>
            <a:pPr>
              <a:defRPr sz="1800">
                <a:latin typeface="Calibri"/>
              </a:defRPr>
            </a:pPr>
            <a:r>
              <a:t>• Like asking your 3 closest friends for advice</a:t>
            </a:r>
          </a:p>
          <a:p>
            <a:br/>
            <a:r>
              <a:t>[Visual Suggestion: Diagram: New point → Find K neighbors → Vote → Class]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How it works: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• Series of yes/no questions</a:t>
            </a:r>
          </a:p>
          <a:p>
            <a:pPr>
              <a:defRPr sz="1800">
                <a:latin typeface="Calibri"/>
              </a:defRPr>
            </a:pPr>
            <a:r>
              <a:t>• Each answer leads to next question</a:t>
            </a:r>
          </a:p>
          <a:p>
            <a:pPr>
              <a:defRPr sz="1800">
                <a:latin typeface="Calibri"/>
              </a:defRPr>
            </a:pPr>
            <a:r>
              <a:t>• Final answer at the end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Example - Classifying email: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Question 1: Has word 'free'?</a:t>
            </a:r>
          </a:p>
          <a:p>
            <a:pPr>
              <a:defRPr sz="1800">
                <a:latin typeface="Calibri"/>
              </a:defRPr>
            </a:pPr>
            <a:r>
              <a:t>  → Yes: Go to Question 2</a:t>
            </a:r>
          </a:p>
          <a:p>
            <a:pPr>
              <a:defRPr sz="1800">
                <a:latin typeface="Calibri"/>
              </a:defRPr>
            </a:pPr>
            <a:r>
              <a:t>  → No: Go to Question 3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Question 2: From unknown sender?</a:t>
            </a:r>
          </a:p>
          <a:p>
            <a:pPr>
              <a:defRPr sz="1800">
                <a:latin typeface="Calibri"/>
              </a:defRPr>
            </a:pPr>
            <a:r>
              <a:t>  → Yes: SPAM</a:t>
            </a:r>
          </a:p>
          <a:p>
            <a:pPr>
              <a:defRPr sz="1800">
                <a:latin typeface="Calibri"/>
              </a:defRPr>
            </a:pPr>
            <a:r>
              <a:t>  → No: Go to Question 3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Question 3: Has many '!'?</a:t>
            </a:r>
          </a:p>
          <a:p>
            <a:pPr>
              <a:defRPr sz="1800">
                <a:latin typeface="Calibri"/>
              </a:defRPr>
            </a:pPr>
            <a:r>
              <a:t>  → Yes: SPAM</a:t>
            </a:r>
          </a:p>
          <a:p>
            <a:pPr>
              <a:defRPr sz="1800">
                <a:latin typeface="Calibri"/>
              </a:defRPr>
            </a:pPr>
            <a:r>
              <a:t>  → No: NOT SPAM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Visual:</a:t>
            </a:r>
          </a:p>
          <a:p>
            <a:pPr>
              <a:defRPr sz="1800">
                <a:latin typeface="Calibri"/>
              </a:defRPr>
            </a:pPr>
            <a:r>
              <a:t>• Like a tree with branches</a:t>
            </a:r>
          </a:p>
          <a:p>
            <a:pPr>
              <a:defRPr sz="1800">
                <a:latin typeface="Calibri"/>
              </a:defRPr>
            </a:pPr>
            <a:r>
              <a:t>• Each branch = a decision</a:t>
            </a:r>
          </a:p>
          <a:p>
            <a:br/>
            <a:r>
              <a:t>[Visual Suggestion: Tree diagram: Root → Branches → Leaves (classes)]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(Concept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High-level idea: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• Draw a line/curve to separate classes</a:t>
            </a:r>
          </a:p>
          <a:p>
            <a:pPr>
              <a:defRPr sz="1800">
                <a:latin typeface="Calibri"/>
              </a:defRPr>
            </a:pPr>
            <a:r>
              <a:t>• Find the best boundary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Example - Spam detection:</a:t>
            </a:r>
          </a:p>
          <a:p>
            <a:pPr>
              <a:defRPr sz="1800">
                <a:latin typeface="Calibri"/>
              </a:defRPr>
            </a:pPr>
            <a:r>
              <a:t>• Feature 1: Number of 'free' words</a:t>
            </a:r>
          </a:p>
          <a:p>
            <a:pPr>
              <a:defRPr sz="1800">
                <a:latin typeface="Calibri"/>
              </a:defRPr>
            </a:pPr>
            <a:r>
              <a:t>• Feature 2: Number of exclamation marks</a:t>
            </a:r>
          </a:p>
          <a:p>
            <a:pPr>
              <a:defRPr sz="1800">
                <a:latin typeface="Calibri"/>
              </a:defRPr>
            </a:pPr>
            <a:r>
              <a:t>• Draw line separating spam from not spam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How it works:</a:t>
            </a:r>
          </a:p>
          <a:p>
            <a:pPr>
              <a:defRPr sz="1800">
                <a:latin typeface="Calibri"/>
              </a:defRPr>
            </a:pPr>
            <a:r>
              <a:t>• Calculate probability</a:t>
            </a:r>
          </a:p>
          <a:p>
            <a:pPr>
              <a:defRPr sz="1800">
                <a:latin typeface="Calibri"/>
              </a:defRPr>
            </a:pPr>
            <a:r>
              <a:t>• If probability &gt; 50% → Class 1</a:t>
            </a:r>
          </a:p>
          <a:p>
            <a:pPr>
              <a:defRPr sz="1800">
                <a:latin typeface="Calibri"/>
              </a:defRPr>
            </a:pPr>
            <a:r>
              <a:t>• If probability &lt; 50% → Class 2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Visual:</a:t>
            </a:r>
          </a:p>
          <a:p>
            <a:pPr>
              <a:defRPr sz="1800">
                <a:latin typeface="Calibri"/>
              </a:defRPr>
            </a:pPr>
            <a:r>
              <a:t>• Like drawing a line on a graph</a:t>
            </a:r>
          </a:p>
          <a:p>
            <a:pPr>
              <a:defRPr sz="1800">
                <a:latin typeface="Calibri"/>
              </a:defRPr>
            </a:pPr>
            <a:r>
              <a:t>• Points on one side = Spam</a:t>
            </a:r>
          </a:p>
          <a:p>
            <a:pPr>
              <a:defRPr sz="1800">
                <a:latin typeface="Calibri"/>
              </a:defRPr>
            </a:pPr>
            <a:r>
              <a:t>• Points on other side = Not Spam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Note:</a:t>
            </a:r>
          </a:p>
          <a:p>
            <a:pPr>
              <a:defRPr sz="1800">
                <a:latin typeface="Calibri"/>
              </a:defRPr>
            </a:pPr>
            <a:r>
              <a:t>• We'll skip the math details</a:t>
            </a:r>
          </a:p>
          <a:p>
            <a:pPr>
              <a:defRPr sz="1800">
                <a:latin typeface="Calibri"/>
              </a:defRPr>
            </a:pPr>
            <a:r>
              <a:t>• Focus on the concept</a:t>
            </a:r>
          </a:p>
          <a:p>
            <a:br/>
            <a:r>
              <a:t>[Visual Suggestion: Graph: Two classes separated by a curve/line]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End-to-End Example: Image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Complete workflow: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Step 1: Input Image</a:t>
            </a:r>
          </a:p>
          <a:p>
            <a:pPr>
              <a:defRPr sz="1800">
                <a:latin typeface="Calibri"/>
              </a:defRPr>
            </a:pPr>
            <a:r>
              <a:t>• Photo of a cat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Step 2: Feature Extraction</a:t>
            </a:r>
          </a:p>
          <a:p>
            <a:pPr>
              <a:defRPr sz="1800">
                <a:latin typeface="Calibri"/>
              </a:defRPr>
            </a:pPr>
            <a:r>
              <a:t>• Extract: Pointy ears (Yes)</a:t>
            </a:r>
          </a:p>
          <a:p>
            <a:pPr>
              <a:defRPr sz="1800">
                <a:latin typeface="Calibri"/>
              </a:defRPr>
            </a:pPr>
            <a:r>
              <a:t>• Extract: Whiskers (Yes)</a:t>
            </a:r>
          </a:p>
          <a:p>
            <a:pPr>
              <a:defRPr sz="1800">
                <a:latin typeface="Calibri"/>
              </a:defRPr>
            </a:pPr>
            <a:r>
              <a:t>• Extract: Tail (Yes)</a:t>
            </a:r>
          </a:p>
          <a:p>
            <a:pPr>
              <a:defRPr sz="1800">
                <a:latin typeface="Calibri"/>
              </a:defRPr>
            </a:pPr>
            <a:r>
              <a:t>• Extract: Size (Small)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Step 3: Classification</a:t>
            </a:r>
          </a:p>
          <a:p>
            <a:pPr>
              <a:defRPr sz="1800">
                <a:latin typeface="Calibri"/>
              </a:defRPr>
            </a:pPr>
            <a:r>
              <a:t>• Input features to classifier</a:t>
            </a:r>
          </a:p>
          <a:p>
            <a:pPr>
              <a:defRPr sz="1800">
                <a:latin typeface="Calibri"/>
              </a:defRPr>
            </a:pPr>
            <a:r>
              <a:t>• Compare with learned patterns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Step 4: Output</a:t>
            </a:r>
          </a:p>
          <a:p>
            <a:pPr>
              <a:defRPr sz="1800">
                <a:latin typeface="Calibri"/>
              </a:defRPr>
            </a:pPr>
            <a:r>
              <a:t>• Prediction: Cat (95% confidence)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Real system:</a:t>
            </a:r>
          </a:p>
          <a:p>
            <a:pPr>
              <a:defRPr sz="1800">
                <a:latin typeface="Calibri"/>
              </a:defRPr>
            </a:pPr>
            <a:r>
              <a:t>• Processes in milliseconds</a:t>
            </a:r>
          </a:p>
          <a:p>
            <a:pPr>
              <a:defRPr sz="1800">
                <a:latin typeface="Calibri"/>
              </a:defRPr>
            </a:pPr>
            <a:r>
              <a:t>• Can handle thousands of images</a:t>
            </a:r>
          </a:p>
          <a:p>
            <a:br/>
            <a:r>
              <a:t>[Visual Suggestion: Complete flowchart: Image → Features → Classifier → Output]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Example: Grade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defRPr sz="1800">
                <a:latin typeface="Calibri"/>
              </a:defRPr>
            </a:pPr>
            <a:r>
              <a:t>Problem:</a:t>
            </a:r>
          </a:p>
          <a:p>
            <a:pPr>
              <a:defRPr sz="1800">
                <a:latin typeface="Calibri"/>
              </a:defRPr>
            </a:pPr>
            <a:r>
              <a:t>• Predict if student will pass or fail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Features:</a:t>
            </a:r>
          </a:p>
          <a:p>
            <a:pPr>
              <a:defRPr sz="1800">
                <a:latin typeface="Calibri"/>
              </a:defRPr>
            </a:pPr>
            <a:r>
              <a:t>• Attendance: 85%</a:t>
            </a:r>
          </a:p>
          <a:p>
            <a:pPr>
              <a:defRPr sz="1800">
                <a:latin typeface="Calibri"/>
              </a:defRPr>
            </a:pPr>
            <a:r>
              <a:t>• Assignment average: 78</a:t>
            </a:r>
          </a:p>
          <a:p>
            <a:pPr>
              <a:defRPr sz="1800">
                <a:latin typeface="Calibri"/>
              </a:defRPr>
            </a:pPr>
            <a:r>
              <a:t>• Midterm score: 82</a:t>
            </a:r>
          </a:p>
          <a:p>
            <a:pPr>
              <a:defRPr sz="1800">
                <a:latin typeface="Calibri"/>
              </a:defRPr>
            </a:pPr>
            <a:r>
              <a:t>• Study hours per week: 15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Classification:</a:t>
            </a:r>
          </a:p>
          <a:p>
            <a:pPr>
              <a:defRPr sz="1800">
                <a:latin typeface="Calibri"/>
              </a:defRPr>
            </a:pPr>
            <a:r>
              <a:t>• Input: Student features</a:t>
            </a:r>
          </a:p>
          <a:p>
            <a:pPr>
              <a:defRPr sz="1800">
                <a:latin typeface="Calibri"/>
              </a:defRPr>
            </a:pPr>
            <a:r>
              <a:t>• Output: Pass or Fail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How it helps:</a:t>
            </a:r>
          </a:p>
          <a:p>
            <a:pPr>
              <a:defRPr sz="1800">
                <a:latin typeface="Calibri"/>
              </a:defRPr>
            </a:pPr>
            <a:r>
              <a:t>• Identify at-risk students early</a:t>
            </a:r>
          </a:p>
          <a:p>
            <a:pPr>
              <a:defRPr sz="1800">
                <a:latin typeface="Calibri"/>
              </a:defRPr>
            </a:pPr>
            <a:r>
              <a:t>• Provide extra support</a:t>
            </a:r>
          </a:p>
          <a:p>
            <a:pPr>
              <a:defRPr sz="1800">
                <a:latin typeface="Calibri"/>
              </a:defRPr>
            </a:pPr>
            <a:r>
              <a:t>• Improve learning outcomes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Real application:</a:t>
            </a:r>
          </a:p>
          <a:p>
            <a:pPr>
              <a:defRPr sz="1800">
                <a:latin typeface="Calibri"/>
              </a:defRPr>
            </a:pPr>
            <a:r>
              <a:t>• Used in many universities</a:t>
            </a:r>
          </a:p>
          <a:p>
            <a:pPr>
              <a:defRPr sz="1800">
                <a:latin typeface="Calibri"/>
              </a:defRPr>
            </a:pPr>
            <a:r>
              <a:t>• Helps improve student success</a:t>
            </a:r>
          </a:p>
          <a:p>
            <a:br/>
            <a:r>
              <a:t>[Visual Suggestion: Diagram: Student data → Features → Classifier → Pass/Fail]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pPr>
              <a:defRPr sz="1800">
                <a:latin typeface="Calibri"/>
              </a:defRPr>
            </a:pPr>
            <a:r>
              <a:t>What we learned: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✓ Features = Important characteristics of data</a:t>
            </a:r>
          </a:p>
          <a:p>
            <a:pPr>
              <a:defRPr sz="1800">
                <a:latin typeface="Calibri"/>
              </a:defRPr>
            </a:pPr>
            <a:r>
              <a:t>✓ Feature extraction simplifies complex data</a:t>
            </a:r>
          </a:p>
          <a:p>
            <a:pPr>
              <a:defRPr sz="1800">
                <a:latin typeface="Calibri"/>
              </a:defRPr>
            </a:pPr>
            <a:r>
              <a:t>✓ Classification = Putting data into categories</a:t>
            </a:r>
          </a:p>
          <a:p>
            <a:pPr>
              <a:defRPr sz="1800">
                <a:latin typeface="Calibri"/>
              </a:defRPr>
            </a:pPr>
            <a:r>
              <a:t>✓ Binary (2 classes) vs Multi-class (many classes)</a:t>
            </a:r>
          </a:p>
          <a:p>
            <a:pPr>
              <a:defRPr sz="1800">
                <a:latin typeface="Calibri"/>
              </a:defRPr>
            </a:pPr>
            <a:r>
              <a:t>✓ Common classifiers: KNN, Decision Tree, Logistic Regression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Complete process:</a:t>
            </a:r>
          </a:p>
          <a:p>
            <a:pPr>
              <a:defRPr sz="1800">
                <a:latin typeface="Calibri"/>
              </a:defRPr>
            </a:pPr>
            <a:r>
              <a:t>Data → Feature Extraction → Classification → Prediction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Next steps:</a:t>
            </a:r>
          </a:p>
          <a:p>
            <a:pPr>
              <a:defRPr sz="1800">
                <a:latin typeface="Calibri"/>
              </a:defRPr>
            </a:pPr>
            <a:r>
              <a:t>→ Practice with real datasets</a:t>
            </a:r>
          </a:p>
          <a:p>
            <a:pPr>
              <a:defRPr sz="1800">
                <a:latin typeface="Calibri"/>
              </a:defRPr>
            </a:pPr>
            <a:r>
              <a:t>→ Try building your own classifier</a:t>
            </a:r>
          </a:p>
          <a:p>
            <a:pPr>
              <a:defRPr sz="1800">
                <a:latin typeface="Calibri"/>
              </a:defRPr>
            </a:pPr>
            <a:r>
              <a:t>→ Explore more ML topics</a:t>
            </a:r>
          </a:p>
          <a:p>
            <a:br/>
            <a:r>
              <a:t>[Visual Suggestion: Summary diagram, checkmark icons]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pPr>
              <a:defRPr sz="1800">
                <a:latin typeface="Calibri"/>
              </a:defRPr>
            </a:pPr>
            <a:r>
              <a:t>Today we covered: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Part 1: Introduction to ML</a:t>
            </a:r>
          </a:p>
          <a:p>
            <a:pPr>
              <a:defRPr sz="1800">
                <a:latin typeface="Calibri"/>
              </a:defRPr>
            </a:pPr>
            <a:r>
              <a:t>• What is ML and why we need it</a:t>
            </a:r>
          </a:p>
          <a:p>
            <a:pPr>
              <a:defRPr sz="1800">
                <a:latin typeface="Calibri"/>
              </a:defRPr>
            </a:pPr>
            <a:r>
              <a:t>• Types: Supervised, Unsupervised, Reinforcement</a:t>
            </a:r>
          </a:p>
          <a:p>
            <a:pPr>
              <a:defRPr sz="1800">
                <a:latin typeface="Calibri"/>
              </a:defRPr>
            </a:pPr>
            <a:r>
              <a:t>• Real-world applications</a:t>
            </a:r>
          </a:p>
          <a:p>
            <a:pPr>
              <a:defRPr sz="1800">
                <a:latin typeface="Calibri"/>
              </a:defRPr>
            </a:pPr>
            <a:r>
              <a:t>• ML workflow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Part 2: Feature Extraction &amp; Classification</a:t>
            </a:r>
          </a:p>
          <a:p>
            <a:pPr>
              <a:defRPr sz="1800">
                <a:latin typeface="Calibri"/>
              </a:defRPr>
            </a:pPr>
            <a:r>
              <a:t>• Understanding data and features</a:t>
            </a:r>
          </a:p>
          <a:p>
            <a:pPr>
              <a:defRPr sz="1800">
                <a:latin typeface="Calibri"/>
              </a:defRPr>
            </a:pPr>
            <a:r>
              <a:t>• Feature extraction methods</a:t>
            </a:r>
          </a:p>
          <a:p>
            <a:pPr>
              <a:defRPr sz="1800">
                <a:latin typeface="Calibri"/>
              </a:defRPr>
            </a:pPr>
            <a:r>
              <a:t>• Classification concepts</a:t>
            </a:r>
          </a:p>
          <a:p>
            <a:pPr>
              <a:defRPr sz="1800">
                <a:latin typeface="Calibri"/>
              </a:defRPr>
            </a:pPr>
            <a:r>
              <a:t>• Common classifiers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Key message:</a:t>
            </a:r>
          </a:p>
          <a:p>
            <a:pPr>
              <a:defRPr sz="1800">
                <a:latin typeface="Calibri"/>
              </a:defRPr>
            </a:pPr>
            <a:r>
              <a:t>ML is about learning patterns from data to make predictions</a:t>
            </a:r>
          </a:p>
          <a:p>
            <a:br/>
            <a:r>
              <a:t>[Visual Suggestion: Summary diagram connecting all concepts]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0000" lnSpcReduction="20000"/>
          </a:bodyPr>
          <a:lstStyle/>
          <a:p>
            <a:pPr>
              <a:defRPr sz="1800">
                <a:latin typeface="Calibri"/>
              </a:defRPr>
            </a:pPr>
            <a:r>
              <a:t>Questions?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Recommended next topics:</a:t>
            </a:r>
          </a:p>
          <a:p>
            <a:pPr>
              <a:defRPr sz="1800">
                <a:latin typeface="Calibri"/>
              </a:defRPr>
            </a:pPr>
            <a:r>
              <a:t>• Model evaluation (accuracy, precision, recall)</a:t>
            </a:r>
          </a:p>
          <a:p>
            <a:pPr>
              <a:defRPr sz="1800">
                <a:latin typeface="Calibri"/>
              </a:defRPr>
            </a:pPr>
            <a:r>
              <a:t>• More classifiers (SVM, Random Forest)</a:t>
            </a:r>
          </a:p>
          <a:p>
            <a:pPr>
              <a:defRPr sz="1800">
                <a:latin typeface="Calibri"/>
              </a:defRPr>
            </a:pPr>
            <a:r>
              <a:t>• Deep Learning basics</a:t>
            </a:r>
          </a:p>
          <a:p>
            <a:pPr>
              <a:defRPr sz="1800">
                <a:latin typeface="Calibri"/>
              </a:defRPr>
            </a:pPr>
            <a:r>
              <a:t>• Practical projects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Resources:</a:t>
            </a:r>
          </a:p>
          <a:p>
            <a:pPr>
              <a:defRPr sz="1800">
                <a:latin typeface="Calibri"/>
              </a:defRPr>
            </a:pPr>
            <a:r>
              <a:t>• Practice with datasets (Kaggle, UCI)</a:t>
            </a:r>
          </a:p>
          <a:p>
            <a:pPr>
              <a:defRPr sz="1800">
                <a:latin typeface="Calibri"/>
              </a:defRPr>
            </a:pPr>
            <a:r>
              <a:t>• Try Python libraries (scikit-learn)</a:t>
            </a:r>
          </a:p>
          <a:p>
            <a:pPr>
              <a:defRPr sz="1800">
                <a:latin typeface="Calibri"/>
              </a:defRPr>
            </a:pPr>
            <a:r>
              <a:t>• Build simple projects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Thank you!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Remember:</a:t>
            </a:r>
          </a:p>
          <a:p>
            <a:pPr>
              <a:defRPr sz="1800">
                <a:latin typeface="Calibri"/>
              </a:defRPr>
            </a:pPr>
            <a:r>
              <a:t>• Start simple</a:t>
            </a:r>
          </a:p>
          <a:p>
            <a:pPr>
              <a:defRPr sz="1800">
                <a:latin typeface="Calibri"/>
              </a:defRPr>
            </a:pPr>
            <a:r>
              <a:t>• Practice regularly</a:t>
            </a:r>
          </a:p>
          <a:p>
            <a:pPr>
              <a:defRPr sz="1800">
                <a:latin typeface="Calibri"/>
              </a:defRPr>
            </a:pPr>
            <a:r>
              <a:t>• Learn by doing</a:t>
            </a:r>
          </a:p>
          <a:p>
            <a:br/>
            <a:r>
              <a:t>[Visual Suggestion: Question mark icon, resource icons]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3480</Words>
  <Application>Microsoft Office PowerPoint</Application>
  <PresentationFormat>On-screen Show (4:3)</PresentationFormat>
  <Paragraphs>696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Lecture # 7</vt:lpstr>
      <vt:lpstr>Introduction to Machine Learning</vt:lpstr>
      <vt:lpstr>Introduction to Machine Learning</vt:lpstr>
      <vt:lpstr>What is Machine Learning?</vt:lpstr>
      <vt:lpstr>Why do we need Machine Learning?</vt:lpstr>
      <vt:lpstr>PowerPoint Presentation</vt:lpstr>
      <vt:lpstr>Types of Machine Learning</vt:lpstr>
      <vt:lpstr>Supervised Learning</vt:lpstr>
      <vt:lpstr>Unsupervised Learning</vt:lpstr>
      <vt:lpstr>Reinforcement Learning</vt:lpstr>
      <vt:lpstr>Real-world Example: Email Spam Detection</vt:lpstr>
      <vt:lpstr>Real-world Example: Face Recognition</vt:lpstr>
      <vt:lpstr>Real-world Example: Recommendation Systems</vt:lpstr>
      <vt:lpstr>Machine Learning Workflow</vt:lpstr>
      <vt:lpstr>Common Machine Learning Applications</vt:lpstr>
      <vt:lpstr>Part 1: Key Takeaways</vt:lpstr>
      <vt:lpstr>Part 2: Feature Extraction &amp; Classification</vt:lpstr>
      <vt:lpstr>What is Data?</vt:lpstr>
      <vt:lpstr>What are Features?</vt:lpstr>
      <vt:lpstr>Why Feature Extraction is Important?</vt:lpstr>
      <vt:lpstr>Feature Extraction: Images</vt:lpstr>
      <vt:lpstr>Feature Extraction: Text</vt:lpstr>
      <vt:lpstr>Feature Extraction: Numerical Data</vt:lpstr>
      <vt:lpstr>What is Classification?</vt:lpstr>
      <vt:lpstr>PowerPoint Presentation</vt:lpstr>
      <vt:lpstr>Classification Example: Spam Detection</vt:lpstr>
      <vt:lpstr>Classification Example: Disease Detection</vt:lpstr>
      <vt:lpstr>Classification Example: Face Recognition</vt:lpstr>
      <vt:lpstr>Common Classifiers (High-Level Overview)</vt:lpstr>
      <vt:lpstr>K-Nearest Neighbors (KNN) - Intuition</vt:lpstr>
      <vt:lpstr>Decision Tree</vt:lpstr>
      <vt:lpstr>Logistic Regression (Concept Only)</vt:lpstr>
      <vt:lpstr>End-to-End Example: Image Classification</vt:lpstr>
      <vt:lpstr>Student Example: Grade Prediction</vt:lpstr>
      <vt:lpstr>Part 2: Key Takeaways</vt:lpstr>
      <vt:lpstr>Course Summary</vt:lpstr>
      <vt:lpstr>Questions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3</cp:revision>
  <dcterms:created xsi:type="dcterms:W3CDTF">2013-01-27T09:14:16Z</dcterms:created>
  <dcterms:modified xsi:type="dcterms:W3CDTF">2025-12-25T14:31:04Z</dcterms:modified>
  <cp:category/>
</cp:coreProperties>
</file>