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70" r:id="rId6"/>
    <p:sldId id="263" r:id="rId7"/>
    <p:sldId id="271" r:id="rId8"/>
    <p:sldId id="266" r:id="rId9"/>
    <p:sldId id="264" r:id="rId10"/>
    <p:sldId id="262" r:id="rId11"/>
    <p:sldId id="261" r:id="rId12"/>
    <p:sldId id="272" r:id="rId13"/>
    <p:sldId id="274" r:id="rId14"/>
    <p:sldId id="275" r:id="rId15"/>
    <p:sldId id="276" r:id="rId16"/>
    <p:sldId id="278" r:id="rId17"/>
    <p:sldId id="280" r:id="rId18"/>
    <p:sldId id="279" r:id="rId19"/>
    <p:sldId id="281" r:id="rId20"/>
    <p:sldId id="277" r:id="rId21"/>
    <p:sldId id="282" r:id="rId22"/>
    <p:sldId id="283" r:id="rId23"/>
    <p:sldId id="284" r:id="rId24"/>
    <p:sldId id="288" r:id="rId25"/>
    <p:sldId id="285" r:id="rId26"/>
    <p:sldId id="286" r:id="rId27"/>
    <p:sldId id="290" r:id="rId28"/>
    <p:sldId id="291" r:id="rId29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699" autoAdjust="0"/>
    <p:restoredTop sz="95641" autoAdjust="0"/>
  </p:normalViewPr>
  <p:slideViewPr>
    <p:cSldViewPr>
      <p:cViewPr>
        <p:scale>
          <a:sx n="70" d="100"/>
          <a:sy n="70" d="100"/>
        </p:scale>
        <p:origin x="-486" y="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F9B32-020B-4E06-9E6A-FFAE6ED11B65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1FAB-FA0F-4286-B25A-9929329634AD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F1FAB-FA0F-4286-B25A-9929329634AD}" type="slidenum">
              <a:rPr lang="pt-PT" smtClean="0"/>
              <a:pPr/>
              <a:t>6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F1FAB-FA0F-4286-B25A-9929329634AD}" type="slidenum">
              <a:rPr lang="pt-PT" smtClean="0"/>
              <a:pPr/>
              <a:t>17</a:t>
            </a:fld>
            <a:endParaRPr lang="pt-P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F1FAB-FA0F-4286-B25A-9929329634AD}" type="slidenum">
              <a:rPr lang="pt-PT" smtClean="0"/>
              <a:pPr/>
              <a:t>20</a:t>
            </a:fld>
            <a:endParaRPr lang="pt-P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F1FAB-FA0F-4286-B25A-9929329634AD}" type="slidenum">
              <a:rPr lang="pt-PT" smtClean="0"/>
              <a:pPr/>
              <a:t>26</a:t>
            </a:fld>
            <a:endParaRPr lang="pt-P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5F1FAB-FA0F-4286-B25A-9929329634AD}" type="slidenum">
              <a:rPr lang="pt-PT" smtClean="0"/>
              <a:pPr/>
              <a:t>27</a:t>
            </a:fld>
            <a:endParaRPr lang="pt-P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PT" smtClean="0"/>
              <a:t>Faça clique para editar o estilo</a:t>
            </a:r>
            <a:endParaRPr kumimoji="0" lang="en-US"/>
          </a:p>
        </p:txBody>
      </p:sp>
      <p:sp>
        <p:nvSpPr>
          <p:cNvPr id="28" name="Título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cxnSp>
        <p:nvCxnSpPr>
          <p:cNvPr id="8" name="Conexão recta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cta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Marcador de Posição da Data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16" name="Marcador de Posição do Número do Diapositivo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7" name="Marcador de Posição do Rodapé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e Conteúdo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14" name="Marcador de Posição da Data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15" name="Marcador de Posição do Número do Diapositivo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6" name="Marcador de Posição do Rodapé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cxnSp>
        <p:nvCxnSpPr>
          <p:cNvPr id="7" name="Conexão recta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11" name="Marcador de Posição de Conteúdo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13" name="Marcador de Posição de Conteúdo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32" name="Marcador de Posição de Conteúdo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34" name="Marcador de Posição de Conteúdo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12" name="Marcador de Posição do Texto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cxnSp>
        <p:nvCxnSpPr>
          <p:cNvPr id="10" name="Conexão recta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cta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arcador de Posição de Conteúdo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31" name="Título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0" name="Marcador de Posição do Rodapé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pt-PT" smtClean="0"/>
              <a:t>Clique no ícone para adicionar uma imagem</a:t>
            </a:r>
            <a:endParaRPr kumimoji="0"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PT" smtClean="0"/>
              <a:t>Clique para editar os estilos</a:t>
            </a:r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10" name="Marcador de Posição do Rodapé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PT" smtClean="0"/>
              <a:t>Clique para editar os estilos</a:t>
            </a:r>
          </a:p>
          <a:p>
            <a:pPr lvl="1" eaLnBrk="1" latinLnBrk="0" hangingPunct="1"/>
            <a:r>
              <a:rPr lang="pt-PT" smtClean="0"/>
              <a:t>Segundo nível</a:t>
            </a:r>
          </a:p>
          <a:p>
            <a:pPr lvl="2" eaLnBrk="1" latinLnBrk="0" hangingPunct="1"/>
            <a:r>
              <a:rPr lang="pt-PT" smtClean="0"/>
              <a:t>Terceiro nível</a:t>
            </a:r>
          </a:p>
          <a:p>
            <a:pPr lvl="3" eaLnBrk="1" latinLnBrk="0" hangingPunct="1"/>
            <a:r>
              <a:rPr lang="pt-PT" smtClean="0"/>
              <a:t>Quarto nível</a:t>
            </a:r>
          </a:p>
          <a:p>
            <a:pPr lvl="4" eaLnBrk="1" latinLnBrk="0" hangingPunct="1"/>
            <a:r>
              <a:rPr lang="pt-PT" smtClean="0"/>
              <a:t>Quinto nível</a:t>
            </a:r>
            <a:endParaRPr kumimoji="0"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o Texto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PT" smtClean="0"/>
              <a:t>Clique para editar os estilos</a:t>
            </a:r>
          </a:p>
          <a:p>
            <a:pPr lvl="1" eaLnBrk="1" latinLnBrk="0" hangingPunct="1"/>
            <a:r>
              <a:rPr kumimoji="0" lang="pt-PT" smtClean="0"/>
              <a:t>Segundo nível</a:t>
            </a:r>
          </a:p>
          <a:p>
            <a:pPr lvl="2" eaLnBrk="1" latinLnBrk="0" hangingPunct="1"/>
            <a:r>
              <a:rPr kumimoji="0" lang="pt-PT" smtClean="0"/>
              <a:t>Terceiro nível</a:t>
            </a:r>
          </a:p>
          <a:p>
            <a:pPr lvl="3" eaLnBrk="1" latinLnBrk="0" hangingPunct="1"/>
            <a:r>
              <a:rPr kumimoji="0" lang="pt-PT" smtClean="0"/>
              <a:t>Quarto nível</a:t>
            </a:r>
          </a:p>
          <a:p>
            <a:pPr lvl="4" eaLnBrk="1" latinLnBrk="0" hangingPunct="1"/>
            <a:r>
              <a:rPr kumimoji="0" lang="pt-PT" smtClean="0"/>
              <a:t>Quinto nível</a:t>
            </a:r>
            <a:endParaRPr kumimoji="0" lang="en-US"/>
          </a:p>
        </p:txBody>
      </p:sp>
      <p:sp>
        <p:nvSpPr>
          <p:cNvPr id="24" name="Marcador de Posição da Data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0163E30-D6AE-413C-84F6-69DB77E54637}" type="datetimeFigureOut">
              <a:rPr lang="pt-PT" smtClean="0"/>
              <a:pPr/>
              <a:t>03-01-2011</a:t>
            </a:fld>
            <a:endParaRPr lang="pt-PT"/>
          </a:p>
        </p:txBody>
      </p:sp>
      <p:sp>
        <p:nvSpPr>
          <p:cNvPr id="10" name="Marcador de Posição do Rodapé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22" name="Marcador de Posição do Número do Diapositivo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C2E5BC9-0D52-4DB4-A731-2B5AF833C1DA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pt-PT" smtClean="0"/>
              <a:t>Clique para editar o estilo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03648" y="2564904"/>
            <a:ext cx="6400800" cy="3265654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 smtClean="0"/>
              <a:t>Decision Support</a:t>
            </a:r>
          </a:p>
          <a:p>
            <a:r>
              <a:rPr lang="en-US" sz="3200" b="1" dirty="0" smtClean="0"/>
              <a:t>2010-2011</a:t>
            </a:r>
          </a:p>
          <a:p>
            <a:endParaRPr lang="en-US" dirty="0" smtClean="0"/>
          </a:p>
          <a:p>
            <a:r>
              <a:rPr lang="en-US" dirty="0" err="1" smtClean="0"/>
              <a:t>Andry</a:t>
            </a:r>
            <a:r>
              <a:rPr lang="en-US" smtClean="0"/>
              <a:t> Pinto</a:t>
            </a:r>
          </a:p>
          <a:p>
            <a:r>
              <a:rPr lang="en-US" smtClean="0"/>
              <a:t>Hugo Alves</a:t>
            </a:r>
          </a:p>
          <a:p>
            <a:r>
              <a:rPr lang="en-US" smtClean="0"/>
              <a:t>Inês Domingues</a:t>
            </a:r>
          </a:p>
          <a:p>
            <a:r>
              <a:rPr lang="en-US" smtClean="0"/>
              <a:t>Luís Rocha</a:t>
            </a:r>
          </a:p>
          <a:p>
            <a:r>
              <a:rPr lang="en-US" smtClean="0"/>
              <a:t>Susana Cruz</a:t>
            </a:r>
          </a:p>
          <a:p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620688"/>
            <a:ext cx="8229600" cy="1828800"/>
          </a:xfrm>
        </p:spPr>
        <p:txBody>
          <a:bodyPr/>
          <a:lstStyle/>
          <a:p>
            <a:r>
              <a:rPr lang="en-US" smtClean="0"/>
              <a:t>Simulated Annealing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95536" y="1524000"/>
            <a:ext cx="843528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to Simulated Annealing (SA)</a:t>
            </a:r>
          </a:p>
          <a:p>
            <a:pPr lvl="1"/>
            <a:r>
              <a:rPr lang="en-US" dirty="0" smtClean="0"/>
              <a:t>Meta-Heuristic Concept</a:t>
            </a:r>
          </a:p>
          <a:p>
            <a:pPr lvl="1"/>
            <a:r>
              <a:rPr lang="en-US" dirty="0" smtClean="0"/>
              <a:t>Historical Approach</a:t>
            </a:r>
          </a:p>
          <a:p>
            <a:pPr lvl="1"/>
            <a:r>
              <a:rPr lang="en-US" dirty="0" smtClean="0"/>
              <a:t>SA Algorithm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Simulated Annealing for the Bin Packing Problem (BPP)</a:t>
            </a:r>
          </a:p>
          <a:p>
            <a:pPr lvl="1"/>
            <a:r>
              <a:rPr lang="en-US" dirty="0" smtClean="0"/>
              <a:t>Two Variants of the BPP</a:t>
            </a:r>
          </a:p>
          <a:p>
            <a:pPr lvl="1"/>
            <a:r>
              <a:rPr lang="en-US" dirty="0" smtClean="0"/>
              <a:t>Neighborhoods</a:t>
            </a:r>
          </a:p>
          <a:p>
            <a:pPr lvl="1"/>
            <a:r>
              <a:rPr lang="en-US" dirty="0" smtClean="0"/>
              <a:t>Parameterization</a:t>
            </a:r>
          </a:p>
          <a:p>
            <a:pPr lvl="1"/>
            <a:r>
              <a:rPr lang="en-US" dirty="0" smtClean="0"/>
              <a:t>Computational Results</a:t>
            </a:r>
          </a:p>
          <a:p>
            <a:pPr lvl="1"/>
            <a:endParaRPr lang="pt-PT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methods to be potentially applied to any optimization problem</a:t>
            </a:r>
          </a:p>
          <a:p>
            <a:r>
              <a:rPr lang="en-US" dirty="0" smtClean="0"/>
              <a:t>Contrast with exact and heavy computation algorithms</a:t>
            </a:r>
          </a:p>
          <a:p>
            <a:r>
              <a:rPr lang="en-US" dirty="0" smtClean="0"/>
              <a:t>Find acceptable solutions in admissible amount of time and resources even in real and complex problems</a:t>
            </a:r>
          </a:p>
          <a:p>
            <a:r>
              <a:rPr lang="en-US" dirty="0" smtClean="0"/>
              <a:t>Avoid local minimums by allowing the increase of the cost function under certain conditions</a:t>
            </a:r>
          </a:p>
          <a:p>
            <a:r>
              <a:rPr lang="en-US" dirty="0" smtClean="0"/>
              <a:t>Resemblance to local search methods</a:t>
            </a:r>
          </a:p>
          <a:p>
            <a:r>
              <a:rPr lang="en-US" dirty="0" smtClean="0"/>
              <a:t>Combine multiple heuristics</a:t>
            </a:r>
          </a:p>
          <a:p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</a:t>
            </a:r>
            <a:r>
              <a:rPr lang="en-US" sz="3500" b="1" dirty="0" smtClean="0"/>
              <a:t>:    </a:t>
            </a:r>
            <a:r>
              <a:rPr lang="en-US" sz="3000" b="1" u="sng" dirty="0" smtClean="0"/>
              <a:t>Meta-Heuristic</a:t>
            </a:r>
            <a:r>
              <a:rPr lang="pt-PT" sz="3000" b="1" u="sng" dirty="0" smtClean="0"/>
              <a:t> </a:t>
            </a:r>
            <a:r>
              <a:rPr lang="en-US" sz="3000" b="1" u="sng" dirty="0" smtClean="0"/>
              <a:t>Concept</a:t>
            </a:r>
            <a:endParaRPr lang="en-US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0134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In condensed matter physics, the annealing is the following process: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A solid is heated in a hot bath, increasing the temperature up to a maximum value. At this temperature, all material is in liquid state and the particles arrange themselves randomly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As the temperature of the hot bath is cooled gradually, all the particles of this structure will be arranged in the state of lower energy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r>
              <a:rPr lang="en-US" dirty="0" smtClean="0"/>
              <a:t>Algorithm:</a:t>
            </a:r>
          </a:p>
          <a:p>
            <a:pPr lvl="1">
              <a:spcBef>
                <a:spcPts val="600"/>
              </a:spcBef>
              <a:buNone/>
            </a:pPr>
            <a:r>
              <a:rPr lang="en-US" dirty="0" smtClean="0"/>
              <a:t>Metropolis </a:t>
            </a:r>
            <a:r>
              <a:rPr lang="en-US" i="1" dirty="0" smtClean="0"/>
              <a:t>et al. </a:t>
            </a:r>
            <a:r>
              <a:rPr lang="en-US" dirty="0" smtClean="0"/>
              <a:t>(1953), Equation of state</a:t>
            </a:r>
          </a:p>
          <a:p>
            <a:pPr lvl="1">
              <a:spcBef>
                <a:spcPts val="600"/>
              </a:spcBef>
              <a:buNone/>
            </a:pPr>
            <a:r>
              <a:rPr lang="en-US" dirty="0" smtClean="0"/>
              <a:t>calculations by fast computing machines,</a:t>
            </a:r>
          </a:p>
          <a:p>
            <a:pPr lvl="1">
              <a:spcBef>
                <a:spcPts val="600"/>
              </a:spcBef>
              <a:buNone/>
            </a:pPr>
            <a:r>
              <a:rPr lang="en-US" dirty="0" smtClean="0"/>
              <a:t>Journal of Chemical Physics , Vol. 21, No. 6</a:t>
            </a:r>
          </a:p>
          <a:p>
            <a:pPr lvl="1">
              <a:spcBef>
                <a:spcPts val="600"/>
              </a:spcBef>
              <a:buNone/>
            </a:pPr>
            <a:r>
              <a:rPr lang="en-US" dirty="0" smtClean="0"/>
              <a:t>June 1953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r>
              <a:rPr lang="en-US" sz="3000" b="1" u="sng" dirty="0" smtClean="0"/>
              <a:t>Historical Approach</a:t>
            </a:r>
            <a:endParaRPr lang="pt-PT" sz="3000" b="1" u="sng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331196"/>
            <a:ext cx="2633434" cy="18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Application of these ideas of thermodynamics and metallurgy to optimization problems</a:t>
            </a:r>
          </a:p>
          <a:p>
            <a:endParaRPr lang="en-US" b="1" dirty="0" smtClean="0"/>
          </a:p>
          <a:p>
            <a:pPr lvl="1"/>
            <a:r>
              <a:rPr lang="en-US" dirty="0" smtClean="0"/>
              <a:t> Kirkpatrick </a:t>
            </a:r>
            <a:r>
              <a:rPr lang="en-US" i="1" dirty="0" smtClean="0"/>
              <a:t>et al. </a:t>
            </a:r>
            <a:r>
              <a:rPr lang="en-US" dirty="0" smtClean="0"/>
              <a:t>(1983), Optimization by Simulated Annealing, </a:t>
            </a:r>
            <a:r>
              <a:rPr lang="en-US" i="1" dirty="0" smtClean="0"/>
              <a:t>Science, </a:t>
            </a:r>
            <a:r>
              <a:rPr lang="en-US" dirty="0" smtClean="0"/>
              <a:t>Vol. 220, No. 4598, May 1983</a:t>
            </a:r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Cerny</a:t>
            </a:r>
            <a:r>
              <a:rPr lang="en-US" dirty="0" smtClean="0"/>
              <a:t> (1985), A </a:t>
            </a:r>
            <a:r>
              <a:rPr lang="en-US" dirty="0" err="1" smtClean="0"/>
              <a:t>Thermodynamical</a:t>
            </a:r>
            <a:r>
              <a:rPr lang="en-US" dirty="0" smtClean="0"/>
              <a:t> Approach to the Traveling Salesman Problem: An Efficient Simulation Algorithm, </a:t>
            </a:r>
            <a:r>
              <a:rPr lang="en-US" i="1" dirty="0" smtClean="0"/>
              <a:t>Journal of optimization theory and applications</a:t>
            </a:r>
            <a:r>
              <a:rPr lang="en-US" dirty="0" smtClean="0"/>
              <a:t>, Vol. 45, No. l, January I985</a:t>
            </a:r>
          </a:p>
          <a:p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r>
              <a:rPr lang="en-US" sz="3000" b="1" u="sng" dirty="0" smtClean="0"/>
              <a:t>Historical Approach</a:t>
            </a:r>
            <a:endParaRPr lang="pt-PT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Combinatorial Optimization ⇔ Thermodynamics </a:t>
            </a:r>
          </a:p>
          <a:p>
            <a:pPr>
              <a:buNone/>
            </a:pPr>
            <a:endParaRPr lang="en-US" sz="1200" dirty="0" smtClean="0"/>
          </a:p>
          <a:p>
            <a:pPr lvl="1">
              <a:lnSpc>
                <a:spcPct val="150000"/>
              </a:lnSpc>
            </a:pPr>
            <a:r>
              <a:rPr lang="en-US" dirty="0" smtClean="0"/>
              <a:t>Objective </a:t>
            </a:r>
            <a:r>
              <a:rPr lang="en-US" dirty="0" smtClean="0"/>
              <a:t>function </a:t>
            </a:r>
            <a:r>
              <a:rPr lang="en-US" dirty="0" smtClean="0"/>
              <a:t>⇔ Energy level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Admissible solution ⇔ System state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Neighbor solution ⇔ Change of state 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Control parameter ⇔ Temperature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Better solution ⇔ Solidification s</a:t>
            </a:r>
            <a:r>
              <a:rPr lang="pt-PT" dirty="0" smtClean="0"/>
              <a:t>tate</a:t>
            </a:r>
            <a:endParaRPr lang="en-US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‘When optimizing a very large system (i.e. a system with many degrees of freedom), instead of “always” going downhill, try to go downhill “most of the time” ’ (</a:t>
            </a:r>
            <a:r>
              <a:rPr lang="pt-PT" dirty="0" err="1" smtClean="0"/>
              <a:t>Kirkpatrick</a:t>
            </a:r>
            <a:r>
              <a:rPr lang="pt-PT" dirty="0" smtClean="0"/>
              <a:t>, 1983)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Allows to accept worse solutions</a:t>
            </a:r>
          </a:p>
          <a:p>
            <a:r>
              <a:rPr lang="en-US" dirty="0" smtClean="0"/>
              <a:t>A worse neighborhood solution can be accepted depending on:</a:t>
            </a:r>
          </a:p>
          <a:p>
            <a:pPr lvl="1"/>
            <a:r>
              <a:rPr lang="en-US" dirty="0" smtClean="0"/>
              <a:t>Temperature</a:t>
            </a:r>
          </a:p>
          <a:p>
            <a:pPr lvl="1"/>
            <a:r>
              <a:rPr lang="en-US" dirty="0" smtClean="0"/>
              <a:t>Difference to the best known solution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 smtClean="0"/>
              <a:t>Initial Solution</a:t>
            </a:r>
            <a:endParaRPr lang="en-US" b="1" dirty="0" smtClean="0"/>
          </a:p>
          <a:p>
            <a:pPr lvl="1"/>
            <a:r>
              <a:rPr lang="en-US" dirty="0" smtClean="0"/>
              <a:t>Generated using an heuristic</a:t>
            </a:r>
          </a:p>
          <a:p>
            <a:pPr lvl="1"/>
            <a:r>
              <a:rPr lang="en-US" dirty="0" smtClean="0"/>
              <a:t>Chosen at random</a:t>
            </a:r>
          </a:p>
          <a:p>
            <a:endParaRPr lang="en-US" sz="600" dirty="0" smtClean="0"/>
          </a:p>
          <a:p>
            <a:r>
              <a:rPr lang="en-US" b="1" u="sng" dirty="0" smtClean="0"/>
              <a:t>Neighborhood</a:t>
            </a:r>
            <a:endParaRPr lang="en-US" b="1" dirty="0" smtClean="0"/>
          </a:p>
          <a:p>
            <a:pPr lvl="1"/>
            <a:r>
              <a:rPr lang="en-US" dirty="0" smtClean="0"/>
              <a:t>Generated randomly</a:t>
            </a:r>
          </a:p>
          <a:p>
            <a:pPr lvl="1"/>
            <a:r>
              <a:rPr lang="en-US" dirty="0" smtClean="0"/>
              <a:t>Mutating the current solution</a:t>
            </a:r>
          </a:p>
          <a:p>
            <a:pPr>
              <a:buNone/>
            </a:pPr>
            <a:endParaRPr lang="pt-PT" sz="700" dirty="0" smtClean="0"/>
          </a:p>
          <a:p>
            <a:r>
              <a:rPr lang="en-US" b="1" u="sng" dirty="0" smtClean="0"/>
              <a:t>Acceptance</a:t>
            </a:r>
            <a:endParaRPr lang="en-US" b="1" dirty="0" smtClean="0"/>
          </a:p>
          <a:p>
            <a:pPr lvl="1"/>
            <a:r>
              <a:rPr lang="en-US" dirty="0" smtClean="0"/>
              <a:t>Neighbor has lower cost value</a:t>
            </a:r>
            <a:endParaRPr lang="pt-PT" dirty="0" smtClean="0"/>
          </a:p>
          <a:p>
            <a:pPr lvl="1"/>
            <a:r>
              <a:rPr lang="en-US" dirty="0" smtClean="0"/>
              <a:t>Neighbor has higher cost value is accepted with the probability </a:t>
            </a:r>
            <a:r>
              <a:rPr lang="en-US" i="1" dirty="0" smtClean="0"/>
              <a:t>p</a:t>
            </a:r>
          </a:p>
          <a:p>
            <a:pPr lvl="1"/>
            <a:endParaRPr lang="en-US" sz="1000" dirty="0" smtClean="0"/>
          </a:p>
          <a:p>
            <a:r>
              <a:rPr lang="en-US" b="1" u="sng" dirty="0" smtClean="0"/>
              <a:t>Stopping Criteria</a:t>
            </a:r>
          </a:p>
          <a:p>
            <a:pPr lvl="1"/>
            <a:r>
              <a:rPr lang="en-US" dirty="0" smtClean="0"/>
              <a:t>Maximum CPU time</a:t>
            </a:r>
            <a:endParaRPr lang="pt-PT" dirty="0" smtClean="0"/>
          </a:p>
          <a:p>
            <a:pPr lvl="1"/>
            <a:r>
              <a:rPr lang="en-US" dirty="0" smtClean="0"/>
              <a:t>Solution with a lower value than threshold</a:t>
            </a:r>
            <a:endParaRPr lang="pt-PT" dirty="0" smtClean="0"/>
          </a:p>
          <a:p>
            <a:pPr lvl="1"/>
            <a:r>
              <a:rPr lang="en-US" dirty="0" smtClean="0"/>
              <a:t>Maximum number of iterations without improvement</a:t>
            </a:r>
          </a:p>
          <a:p>
            <a:pPr lvl="1"/>
            <a:r>
              <a:rPr lang="en-US" dirty="0" smtClean="0"/>
              <a:t>Maximum total number of iterations</a:t>
            </a:r>
            <a:endParaRPr lang="pt-PT" dirty="0" smtClean="0"/>
          </a:p>
          <a:p>
            <a:endParaRPr lang="pt-PT" dirty="0" smtClean="0"/>
          </a:p>
          <a:p>
            <a:endParaRPr lang="pt-PT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pt-PT" dirty="0" smtClean="0"/>
          </a:p>
          <a:p>
            <a:endParaRPr lang="pt-PT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 cstate="print"/>
          <a:srcRect l="26284" t="23250" r="39403" b="9813"/>
          <a:stretch>
            <a:fillRect/>
          </a:stretch>
        </p:blipFill>
        <p:spPr bwMode="auto">
          <a:xfrm>
            <a:off x="3779912" y="980728"/>
            <a:ext cx="4660210" cy="5425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C:\Users\Su\Desktop\Blacksmith Pounding Captione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552" y="1844824"/>
            <a:ext cx="2943225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7200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Geometric cooling: </a:t>
            </a:r>
            <a:r>
              <a:rPr lang="en-US" i="1" dirty="0" smtClean="0"/>
              <a:t>TL</a:t>
            </a:r>
            <a:r>
              <a:rPr lang="en-US" dirty="0" smtClean="0"/>
              <a:t>+1= </a:t>
            </a:r>
            <a:r>
              <a:rPr lang="el-GR" dirty="0" smtClean="0"/>
              <a:t>β</a:t>
            </a:r>
            <a:r>
              <a:rPr lang="en-US" dirty="0" smtClean="0"/>
              <a:t> </a:t>
            </a:r>
            <a:r>
              <a:rPr lang="en-US" i="1" dirty="0" smtClean="0"/>
              <a:t>TL</a:t>
            </a:r>
          </a:p>
          <a:p>
            <a:pPr lvl="1"/>
            <a:r>
              <a:rPr lang="en-US" i="1" dirty="0" smtClean="0"/>
              <a:t>L</a:t>
            </a:r>
            <a:r>
              <a:rPr lang="en-US" dirty="0" smtClean="0"/>
              <a:t> - Step with in iterations number</a:t>
            </a:r>
          </a:p>
          <a:p>
            <a:pPr lvl="1"/>
            <a:r>
              <a:rPr lang="en-US" i="1" dirty="0" smtClean="0"/>
              <a:t>T0</a:t>
            </a:r>
            <a:r>
              <a:rPr lang="en-US" dirty="0" smtClean="0"/>
              <a:t> – initial temperature (usually high)</a:t>
            </a:r>
          </a:p>
          <a:p>
            <a:pPr lvl="1"/>
            <a:r>
              <a:rPr lang="el-GR" dirty="0" smtClean="0"/>
              <a:t>β</a:t>
            </a:r>
            <a:r>
              <a:rPr lang="en-US" dirty="0" smtClean="0"/>
              <a:t> – cooling parameter (usually between 0.8  and 0,99)</a:t>
            </a:r>
          </a:p>
          <a:p>
            <a:pPr lvl="1"/>
            <a:r>
              <a:rPr lang="en-US" i="1" dirty="0" smtClean="0"/>
              <a:t>ΔC</a:t>
            </a:r>
            <a:r>
              <a:rPr lang="en-US" dirty="0" smtClean="0"/>
              <a:t> – Difference between current and previous solutions</a:t>
            </a:r>
          </a:p>
          <a:p>
            <a:pPr lvl="1"/>
            <a:r>
              <a:rPr lang="en-US" dirty="0" smtClean="0"/>
              <a:t>Probability of acceptance: </a:t>
            </a:r>
            <a:r>
              <a:rPr lang="en-US" i="1" dirty="0" smtClean="0"/>
              <a:t>p</a:t>
            </a:r>
            <a:r>
              <a:rPr lang="en-US" dirty="0" smtClean="0"/>
              <a:t> = exp (- </a:t>
            </a:r>
            <a:r>
              <a:rPr lang="en-US" i="1" dirty="0" smtClean="0"/>
              <a:t>ΔC/T</a:t>
            </a:r>
            <a:r>
              <a:rPr lang="en-US" dirty="0" smtClean="0"/>
              <a:t>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  <p:pic>
        <p:nvPicPr>
          <p:cNvPr id="2050" name="Picture 2" descr="C:\Users\Su\Desktop\Simulated Annealing.png"/>
          <p:cNvPicPr>
            <a:picLocks noChangeAspect="1" noChangeArrowheads="1"/>
          </p:cNvPicPr>
          <p:nvPr/>
        </p:nvPicPr>
        <p:blipFill>
          <a:blip r:embed="rId2"/>
          <a:srcRect t="12444"/>
          <a:stretch>
            <a:fillRect/>
          </a:stretch>
        </p:blipFill>
        <p:spPr bwMode="auto">
          <a:xfrm>
            <a:off x="2411760" y="4077072"/>
            <a:ext cx="4351514" cy="2314574"/>
          </a:xfrm>
          <a:prstGeom prst="rect">
            <a:avLst/>
          </a:prstGeom>
          <a:noFill/>
        </p:spPr>
      </p:pic>
      <p:sp>
        <p:nvSpPr>
          <p:cNvPr id="5" name="Rectângulo 4"/>
          <p:cNvSpPr/>
          <p:nvPr/>
        </p:nvSpPr>
        <p:spPr>
          <a:xfrm>
            <a:off x="5292080" y="6093296"/>
            <a:ext cx="13869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dirty="0" smtClean="0">
                <a:solidFill>
                  <a:schemeClr val="tx1">
                    <a:lumMod val="75000"/>
                  </a:schemeClr>
                </a:solidFill>
              </a:rPr>
              <a:t>http://www.maxdama.com</a:t>
            </a:r>
            <a:endParaRPr lang="pt-PT" sz="8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785320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Advantages:</a:t>
            </a:r>
          </a:p>
          <a:p>
            <a:pPr lvl="1"/>
            <a:r>
              <a:rPr lang="en-US" dirty="0" smtClean="0"/>
              <a:t>Can escape from local minimum</a:t>
            </a:r>
          </a:p>
          <a:p>
            <a:pPr lvl="1"/>
            <a:r>
              <a:rPr lang="en-US" dirty="0" smtClean="0"/>
              <a:t>Simplicity</a:t>
            </a:r>
          </a:p>
          <a:p>
            <a:pPr lvl="1"/>
            <a:r>
              <a:rPr lang="en-US" dirty="0" smtClean="0"/>
              <a:t>Robustness</a:t>
            </a:r>
          </a:p>
          <a:p>
            <a:pPr lvl="1"/>
            <a:r>
              <a:rPr lang="en-US" dirty="0" smtClean="0"/>
              <a:t>Can be improved by other procedures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Problems:</a:t>
            </a:r>
            <a:endParaRPr lang="en-US" dirty="0" smtClean="0"/>
          </a:p>
          <a:p>
            <a:pPr lvl="1"/>
            <a:r>
              <a:rPr lang="en-US" dirty="0" smtClean="0"/>
              <a:t>Parameter tuning</a:t>
            </a:r>
          </a:p>
          <a:p>
            <a:pPr lvl="1"/>
            <a:r>
              <a:rPr lang="en-US" dirty="0" smtClean="0"/>
              <a:t>Define initial temperature</a:t>
            </a:r>
          </a:p>
          <a:p>
            <a:pPr lvl="1"/>
            <a:r>
              <a:rPr lang="en-US" dirty="0" smtClean="0"/>
              <a:t>When and how to decrease the temperature </a:t>
            </a:r>
          </a:p>
          <a:p>
            <a:pPr lvl="1"/>
            <a:r>
              <a:rPr lang="en-US" dirty="0" smtClean="0"/>
              <a:t>Can have long computation times</a:t>
            </a:r>
          </a:p>
          <a:p>
            <a:pPr lvl="1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500" dirty="0" smtClean="0"/>
              <a:t>Introduction to Simulated Annealing:    </a:t>
            </a:r>
            <a:br>
              <a:rPr lang="en-US" sz="3500" dirty="0" smtClean="0"/>
            </a:br>
            <a:r>
              <a:rPr lang="en-US" sz="3000" b="1" u="sng" dirty="0" smtClean="0"/>
              <a:t>SA  Algorithm</a:t>
            </a:r>
            <a:endParaRPr lang="pt-PT" sz="30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539552" y="1844824"/>
            <a:ext cx="8229600" cy="315922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Theory and Methodology</a:t>
            </a:r>
          </a:p>
          <a:p>
            <a:pPr>
              <a:buNone/>
            </a:pPr>
            <a:r>
              <a:rPr lang="en-US" i="1" dirty="0" smtClean="0"/>
              <a:t>   Some experiment with simulated annealing techniques for packing problems</a:t>
            </a:r>
          </a:p>
          <a:p>
            <a:pPr>
              <a:buNone/>
            </a:pPr>
            <a:r>
              <a:rPr lang="en-US" dirty="0" smtClean="0"/>
              <a:t>					</a:t>
            </a:r>
          </a:p>
          <a:p>
            <a:pPr>
              <a:buNone/>
            </a:pPr>
            <a:r>
              <a:rPr lang="en-US" dirty="0" smtClean="0"/>
              <a:t>Kathryn A. </a:t>
            </a:r>
            <a:r>
              <a:rPr lang="en-US" dirty="0" err="1" smtClean="0"/>
              <a:t>Dowsland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European Journal of Operational Research 68 (1993) 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Variant (Initial Experiments)</a:t>
            </a:r>
            <a:r>
              <a:rPr lang="pt-PT" dirty="0" smtClean="0"/>
              <a:t>:</a:t>
            </a:r>
          </a:p>
          <a:p>
            <a:pPr lvl="1"/>
            <a:r>
              <a:rPr lang="en-US" dirty="0" smtClean="0"/>
              <a:t>2D BPP with identical pieces</a:t>
            </a:r>
          </a:p>
          <a:p>
            <a:pPr lvl="1"/>
            <a:r>
              <a:rPr lang="en-US" dirty="0" smtClean="0"/>
              <a:t>Classical Pallet Loading Problem – Packing identical rectangles into a larger containing rectangle 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PT" dirty="0" smtClean="0"/>
          </a:p>
          <a:p>
            <a:pPr lvl="1"/>
            <a:endParaRPr lang="pt-PT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  <p:pic>
        <p:nvPicPr>
          <p:cNvPr id="3074" name="Picture 2" descr="C:\Users\Su\Desktop\150px-Stacked_bon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2772" y="3861048"/>
            <a:ext cx="1833204" cy="1968996"/>
          </a:xfrm>
          <a:prstGeom prst="rect">
            <a:avLst/>
          </a:prstGeom>
          <a:noFill/>
        </p:spPr>
      </p:pic>
      <p:pic>
        <p:nvPicPr>
          <p:cNvPr id="3075" name="Picture 3" descr="C:\Users\Su\Desktop\120px-7_kvadratoj_en_kvadrato.png"/>
          <p:cNvPicPr>
            <a:picLocks noChangeAspect="1" noChangeArrowheads="1"/>
          </p:cNvPicPr>
          <p:nvPr/>
        </p:nvPicPr>
        <p:blipFill>
          <a:blip r:embed="rId3"/>
          <a:srcRect l="3448" t="3477" r="3448" b="2637"/>
          <a:stretch>
            <a:fillRect/>
          </a:stretch>
        </p:blipFill>
        <p:spPr bwMode="auto">
          <a:xfrm>
            <a:off x="5220072" y="3861048"/>
            <a:ext cx="1944216" cy="19442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72000"/>
          </a:xfrm>
        </p:spPr>
        <p:txBody>
          <a:bodyPr>
            <a:normAutofit fontScale="70000" lnSpcReduction="20000"/>
          </a:bodyPr>
          <a:lstStyle/>
          <a:p>
            <a:r>
              <a:rPr lang="en-US" sz="3700" dirty="0" smtClean="0"/>
              <a:t>Feasible</a:t>
            </a:r>
            <a:r>
              <a:rPr lang="pt-PT" sz="3700" dirty="0" smtClean="0"/>
              <a:t> </a:t>
            </a:r>
            <a:r>
              <a:rPr lang="en-US" sz="3700" dirty="0" smtClean="0"/>
              <a:t>Solutions:</a:t>
            </a:r>
          </a:p>
          <a:p>
            <a:pPr lvl="1"/>
            <a:endParaRPr lang="en-US" sz="2800" dirty="0" smtClean="0"/>
          </a:p>
          <a:p>
            <a:pPr lvl="1"/>
            <a:r>
              <a:rPr lang="en-US" sz="3400" dirty="0" smtClean="0"/>
              <a:t>The set of feasible solutions can be considered as any placement of the optimal number of pieces in the containing rectangle</a:t>
            </a:r>
          </a:p>
          <a:p>
            <a:pPr lvl="1"/>
            <a:endParaRPr lang="en-US" sz="2800" dirty="0" smtClean="0"/>
          </a:p>
          <a:p>
            <a:pPr lvl="1"/>
            <a:r>
              <a:rPr lang="en-US" sz="3400" dirty="0" smtClean="0"/>
              <a:t>Divide pieces and containing rectangle into a checkerboard of unit square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>
              <a:buNone/>
            </a:pPr>
            <a:r>
              <a:rPr lang="pt-PT" dirty="0" smtClean="0"/>
              <a:t> </a:t>
            </a:r>
          </a:p>
          <a:p>
            <a:endParaRPr lang="pt-PT" dirty="0" smtClean="0"/>
          </a:p>
          <a:p>
            <a:pPr>
              <a:buNone/>
            </a:pPr>
            <a:endParaRPr lang="pt-PT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  <p:sp>
        <p:nvSpPr>
          <p:cNvPr id="4" name="Rectângulo 3"/>
          <p:cNvSpPr/>
          <p:nvPr/>
        </p:nvSpPr>
        <p:spPr>
          <a:xfrm rot="16200000">
            <a:off x="2214546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ctângulo 15"/>
          <p:cNvSpPr/>
          <p:nvPr/>
        </p:nvSpPr>
        <p:spPr>
          <a:xfrm rot="16200000">
            <a:off x="2844888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ctângulo 16"/>
          <p:cNvSpPr/>
          <p:nvPr/>
        </p:nvSpPr>
        <p:spPr>
          <a:xfrm rot="16200000">
            <a:off x="3471402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Rectângulo 17"/>
          <p:cNvSpPr/>
          <p:nvPr/>
        </p:nvSpPr>
        <p:spPr>
          <a:xfrm rot="16200000">
            <a:off x="2214546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Rectângulo 18"/>
          <p:cNvSpPr/>
          <p:nvPr/>
        </p:nvSpPr>
        <p:spPr>
          <a:xfrm rot="16200000">
            <a:off x="2844888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ctângulo 19"/>
          <p:cNvSpPr/>
          <p:nvPr/>
        </p:nvSpPr>
        <p:spPr>
          <a:xfrm rot="16200000">
            <a:off x="3471402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Rectângulo 20"/>
          <p:cNvSpPr/>
          <p:nvPr/>
        </p:nvSpPr>
        <p:spPr>
          <a:xfrm rot="16200000">
            <a:off x="5243970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Rectângulo 21"/>
          <p:cNvSpPr/>
          <p:nvPr/>
        </p:nvSpPr>
        <p:spPr>
          <a:xfrm rot="16200000">
            <a:off x="5874312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Rectângulo 22"/>
          <p:cNvSpPr/>
          <p:nvPr/>
        </p:nvSpPr>
        <p:spPr>
          <a:xfrm rot="16200000">
            <a:off x="6500826" y="4572008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ctângulo 23"/>
          <p:cNvSpPr/>
          <p:nvPr/>
        </p:nvSpPr>
        <p:spPr>
          <a:xfrm rot="16200000">
            <a:off x="5243970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Rectângulo 24"/>
          <p:cNvSpPr/>
          <p:nvPr/>
        </p:nvSpPr>
        <p:spPr>
          <a:xfrm rot="16200000">
            <a:off x="5874312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ctângulo 25"/>
          <p:cNvSpPr/>
          <p:nvPr/>
        </p:nvSpPr>
        <p:spPr>
          <a:xfrm rot="16200000">
            <a:off x="6500826" y="5187836"/>
            <a:ext cx="612000" cy="6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Rectângulo 26"/>
          <p:cNvSpPr/>
          <p:nvPr/>
        </p:nvSpPr>
        <p:spPr>
          <a:xfrm>
            <a:off x="2214546" y="4572008"/>
            <a:ext cx="1285884" cy="642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ctângulo 27"/>
          <p:cNvSpPr/>
          <p:nvPr/>
        </p:nvSpPr>
        <p:spPr>
          <a:xfrm>
            <a:off x="5572132" y="4857760"/>
            <a:ext cx="1285884" cy="642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27" name="Picture 3" descr="C:\Users\Su\Desktop\wrong_5.svg.m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7378" y="4973196"/>
            <a:ext cx="427040" cy="427040"/>
          </a:xfrm>
          <a:prstGeom prst="rect">
            <a:avLst/>
          </a:prstGeom>
          <a:noFill/>
        </p:spPr>
      </p:pic>
      <p:pic>
        <p:nvPicPr>
          <p:cNvPr id="1028" name="Picture 4" descr="C:\Users\Su\Desktop\600px-symbol_ok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4714884"/>
            <a:ext cx="428628" cy="4286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neighborhood structure: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Is a set of solutions obtained my moving any piece to any other position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Two approaches: including or excluding those positions already occupied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The movements may be restricted to those positions with no overlap and excluding the last piece to be moved</a:t>
            </a:r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Objective Function:</a:t>
            </a:r>
          </a:p>
          <a:p>
            <a:pPr lvl="1">
              <a:lnSpc>
                <a:spcPct val="150000"/>
              </a:lnSpc>
            </a:pPr>
            <a:r>
              <a:rPr lang="en-US" smtClean="0"/>
              <a:t>The main concept is to reduce the overlap between pieces down to the optimal value of zero</a:t>
            </a:r>
          </a:p>
          <a:p>
            <a:pPr lvl="1">
              <a:lnSpc>
                <a:spcPct val="150000"/>
              </a:lnSpc>
            </a:pPr>
            <a:r>
              <a:rPr lang="en-US" smtClean="0"/>
              <a:t>Two approaches:</a:t>
            </a:r>
          </a:p>
          <a:p>
            <a:pPr lvl="2">
              <a:lnSpc>
                <a:spcPct val="150000"/>
              </a:lnSpc>
            </a:pPr>
            <a:r>
              <a:rPr lang="en-US" smtClean="0"/>
              <a:t>1. Minimize the amount of overlap</a:t>
            </a:r>
          </a:p>
          <a:p>
            <a:pPr lvl="2">
              <a:lnSpc>
                <a:spcPct val="150000"/>
              </a:lnSpc>
            </a:pPr>
            <a:r>
              <a:rPr lang="en-US" smtClean="0"/>
              <a:t>2. Minimize the number of overlapping pieces</a:t>
            </a:r>
          </a:p>
          <a:p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457200" y="1524000"/>
            <a:ext cx="3754760" cy="4572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The Cooling Schedule:</a:t>
            </a:r>
          </a:p>
          <a:p>
            <a:pPr lvl="1">
              <a:lnSpc>
                <a:spcPct val="150000"/>
              </a:lnSpc>
            </a:pPr>
            <a:r>
              <a:rPr lang="en-GB" b="1" i="1" dirty="0" smtClean="0"/>
              <a:t>f</a:t>
            </a:r>
            <a:r>
              <a:rPr lang="en-GB" dirty="0" smtClean="0"/>
              <a:t> – cooling schedule</a:t>
            </a:r>
          </a:p>
          <a:p>
            <a:pPr lvl="1">
              <a:lnSpc>
                <a:spcPct val="150000"/>
              </a:lnSpc>
            </a:pPr>
            <a:r>
              <a:rPr lang="en-GB" b="1" i="1" dirty="0" smtClean="0"/>
              <a:t>b</a:t>
            </a:r>
            <a:r>
              <a:rPr lang="en-GB" dirty="0" smtClean="0"/>
              <a:t> – iteration step</a:t>
            </a:r>
          </a:p>
          <a:p>
            <a:pPr lvl="1">
              <a:lnSpc>
                <a:spcPct val="150000"/>
              </a:lnSpc>
            </a:pPr>
            <a:r>
              <a:rPr lang="en-GB" b="1" i="1" dirty="0" smtClean="0"/>
              <a:t>rep</a:t>
            </a:r>
            <a:r>
              <a:rPr lang="en-GB" dirty="0" smtClean="0"/>
              <a:t> – number of iterations</a:t>
            </a:r>
          </a:p>
          <a:p>
            <a:pPr lvl="1">
              <a:lnSpc>
                <a:spcPct val="150000"/>
              </a:lnSpc>
            </a:pPr>
            <a:r>
              <a:rPr lang="en-GB" b="1" i="1" dirty="0" smtClean="0"/>
              <a:t>t</a:t>
            </a:r>
            <a:r>
              <a:rPr lang="en-GB" dirty="0" smtClean="0"/>
              <a:t> – temperature parameter   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2420888"/>
            <a:ext cx="44100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Cooling Schedule - determining temperature:</a:t>
            </a:r>
          </a:p>
          <a:p>
            <a:endParaRPr lang="en-GB" dirty="0" smtClean="0"/>
          </a:p>
          <a:p>
            <a:pPr lvl="1"/>
            <a:r>
              <a:rPr lang="en-GB" dirty="0" smtClean="0"/>
              <a:t>Cooling function:</a:t>
            </a:r>
          </a:p>
          <a:p>
            <a:pPr lvl="1"/>
            <a:endParaRPr lang="en-GB" dirty="0" smtClean="0"/>
          </a:p>
          <a:p>
            <a:pPr lvl="1">
              <a:buNone/>
            </a:pPr>
            <a:r>
              <a:rPr lang="en-GB" dirty="0" smtClean="0"/>
              <a:t>		</a:t>
            </a:r>
          </a:p>
          <a:p>
            <a:pPr lvl="1"/>
            <a:r>
              <a:rPr lang="en-GB" dirty="0" smtClean="0"/>
              <a:t>Heating function: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Relation:</a:t>
            </a:r>
            <a:endParaRPr lang="en-GB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5856" y="2996952"/>
            <a:ext cx="2592288" cy="512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4293096"/>
            <a:ext cx="2186090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5440258"/>
            <a:ext cx="1152128" cy="437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11" name="CaixaDeTexto 10"/>
          <p:cNvSpPr txBox="1"/>
          <p:nvPr/>
        </p:nvSpPr>
        <p:spPr>
          <a:xfrm>
            <a:off x="755576" y="5445224"/>
            <a:ext cx="7704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0080" lvl="1" indent="-274320" algn="r">
              <a:spcBef>
                <a:spcPts val="300"/>
              </a:spcBef>
              <a:buClr>
                <a:schemeClr val="accent2">
                  <a:shade val="75000"/>
                </a:schemeClr>
              </a:buClr>
              <a:buSzPct val="85000"/>
            </a:pPr>
            <a:r>
              <a:rPr lang="en-GB" sz="2400" dirty="0" smtClean="0">
                <a:solidFill>
                  <a:schemeClr val="tx2"/>
                </a:solidFill>
              </a:rPr>
              <a:t>		considered value </a:t>
            </a:r>
            <a:r>
              <a:rPr lang="en-GB" sz="2400" i="1" dirty="0" smtClean="0">
                <a:solidFill>
                  <a:schemeClr val="tx2"/>
                </a:solidFill>
              </a:rPr>
              <a:t>k</a:t>
            </a:r>
            <a:r>
              <a:rPr lang="en-GB" sz="2400" dirty="0" smtClean="0">
                <a:solidFill>
                  <a:schemeClr val="tx2"/>
                </a:solidFill>
              </a:rPr>
              <a:t>=100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 t="13491"/>
          <a:stretch>
            <a:fillRect/>
          </a:stretch>
        </p:blipFill>
        <p:spPr bwMode="auto">
          <a:xfrm>
            <a:off x="3635896" y="2636912"/>
            <a:ext cx="1872208" cy="461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410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4540" y="4293096"/>
            <a:ext cx="2864742" cy="510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 l="27308"/>
          <a:stretch>
            <a:fillRect/>
          </a:stretch>
        </p:blipFill>
        <p:spPr bwMode="auto">
          <a:xfrm>
            <a:off x="2856508" y="5661248"/>
            <a:ext cx="3497982" cy="57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9" name="Marcador de Posição de Conteúdo 1"/>
          <p:cNvSpPr txBox="1">
            <a:spLocks/>
          </p:cNvSpPr>
          <p:nvPr/>
        </p:nvSpPr>
        <p:spPr>
          <a:xfrm>
            <a:off x="457200" y="1524000"/>
            <a:ext cx="7715200" cy="4209256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Probability</a:t>
            </a:r>
            <a:r>
              <a:rPr kumimoji="0" lang="en-GB" sz="26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Function</a:t>
            </a: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731520" lvl="1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r>
              <a:rPr lang="en-GB" sz="2600" dirty="0" smtClean="0"/>
              <a:t>Usual approach (unsatisfactory):</a:t>
            </a:r>
          </a:p>
          <a:p>
            <a:pPr marL="731520" lvl="1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endParaRPr lang="en-GB" sz="2600" dirty="0" smtClean="0"/>
          </a:p>
          <a:p>
            <a:pPr marL="731520" lvl="1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endParaRPr lang="en-GB" sz="2600" dirty="0" smtClean="0"/>
          </a:p>
          <a:p>
            <a:pPr marL="731520" lvl="1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r>
              <a:rPr lang="en-GB" sz="2600" dirty="0" smtClean="0"/>
              <a:t>Proposed alternatives:</a:t>
            </a:r>
          </a:p>
          <a:p>
            <a:pPr marL="1188720" lvl="2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r>
              <a:rPr lang="en-GB" sz="2600" dirty="0" smtClean="0"/>
              <a:t>Add constant </a:t>
            </a:r>
            <a:r>
              <a:rPr lang="el-GR" sz="2600" dirty="0" smtClean="0"/>
              <a:t>γ</a:t>
            </a:r>
            <a:endParaRPr lang="pt-PT" sz="2600" dirty="0" smtClean="0"/>
          </a:p>
          <a:p>
            <a:pPr marL="1188720" lvl="2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endParaRPr lang="pt-PT" sz="2600" dirty="0" smtClean="0"/>
          </a:p>
          <a:p>
            <a:pPr marL="1188720" lvl="2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endParaRPr lang="pt-PT" sz="2600" dirty="0" smtClean="0"/>
          </a:p>
          <a:p>
            <a:pPr marL="1188720" lvl="2" indent="-274320">
              <a:spcBef>
                <a:spcPts val="600"/>
              </a:spcBef>
              <a:buClr>
                <a:schemeClr val="accent2"/>
              </a:buClr>
              <a:buSzPct val="85000"/>
              <a:buFont typeface="Wingdings 2"/>
              <a:buChar char=""/>
            </a:pPr>
            <a:r>
              <a:rPr lang="pt-PT" sz="2600" dirty="0" smtClean="0"/>
              <a:t>Use linear </a:t>
            </a:r>
            <a:r>
              <a:rPr lang="en-US" sz="2600" dirty="0" smtClean="0"/>
              <a:t>function</a:t>
            </a: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endParaRPr lang="en-GB" sz="2600" b="1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05840" marR="0" lvl="2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005840" marR="0" lvl="2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50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Sampling Process</a:t>
            </a:r>
          </a:p>
          <a:p>
            <a:pPr lvl="1"/>
            <a:r>
              <a:rPr lang="en-GB" dirty="0" smtClean="0"/>
              <a:t>Uniform Random Selection – better solution</a:t>
            </a:r>
          </a:p>
          <a:p>
            <a:pPr lvl="1"/>
            <a:r>
              <a:rPr lang="en-GB" dirty="0" smtClean="0"/>
              <a:t>Cyclic Sampling Pattern</a:t>
            </a:r>
          </a:p>
          <a:p>
            <a:pPr lvl="1"/>
            <a:endParaRPr lang="en-GB" dirty="0" smtClean="0"/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r>
              <a:rPr lang="en-GB" sz="2600" dirty="0" smtClean="0">
                <a:solidFill>
                  <a:schemeClr val="tx1"/>
                </a:solidFill>
              </a:rPr>
              <a:t> Starting Solution</a:t>
            </a:r>
            <a:endParaRPr lang="en-GB" dirty="0" smtClean="0"/>
          </a:p>
          <a:p>
            <a:pPr lvl="1"/>
            <a:r>
              <a:rPr lang="en-GB" dirty="0" smtClean="0"/>
              <a:t>Random  Solution</a:t>
            </a:r>
          </a:p>
          <a:p>
            <a:pPr lvl="1"/>
            <a:r>
              <a:rPr lang="en-GB" dirty="0" smtClean="0"/>
              <a:t>Solution from a Fast Heuristic</a:t>
            </a:r>
          </a:p>
          <a:p>
            <a:pPr lvl="1"/>
            <a:endParaRPr lang="en-GB" dirty="0" smtClean="0"/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r>
              <a:rPr lang="en-GB" sz="2600" dirty="0" smtClean="0">
                <a:solidFill>
                  <a:schemeClr val="tx1"/>
                </a:solidFill>
              </a:rPr>
              <a:t>Optimization Step</a:t>
            </a:r>
          </a:p>
          <a:p>
            <a:pPr lvl="1"/>
            <a:r>
              <a:rPr lang="en-GB" dirty="0" smtClean="0"/>
              <a:t>Rotate 90º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505400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Computational Experiments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100 problems from each of the ranges 5-10, 11-20 and 20-30 pieces </a:t>
            </a:r>
            <a:r>
              <a:rPr lang="en-GB" dirty="0" smtClean="0"/>
              <a:t>fitted</a:t>
            </a:r>
            <a:endParaRPr lang="en-GB" dirty="0" smtClean="0"/>
          </a:p>
          <a:p>
            <a:pPr lvl="1">
              <a:lnSpc>
                <a:spcPct val="150000"/>
              </a:lnSpc>
            </a:pPr>
            <a:r>
              <a:rPr lang="en-GB" dirty="0" smtClean="0"/>
              <a:t>Comparison of 8 methods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The annealing process is very successful when 20 or less pieces are to be </a:t>
            </a:r>
            <a:r>
              <a:rPr lang="en-GB" dirty="0" smtClean="0"/>
              <a:t>fitted</a:t>
            </a:r>
            <a:endParaRPr lang="en-GB" dirty="0" smtClean="0"/>
          </a:p>
          <a:p>
            <a:pPr lvl="1">
              <a:lnSpc>
                <a:spcPct val="150000"/>
              </a:lnSpc>
            </a:pPr>
            <a:r>
              <a:rPr lang="en-GB" dirty="0" smtClean="0"/>
              <a:t>Less reliable when 20 to 30 pieces are to be </a:t>
            </a:r>
            <a:r>
              <a:rPr lang="en-GB" dirty="0" smtClean="0"/>
              <a:t>fitted</a:t>
            </a:r>
            <a:endParaRPr lang="en-GB" dirty="0" smtClean="0"/>
          </a:p>
          <a:p>
            <a:pPr lvl="1">
              <a:lnSpc>
                <a:spcPct val="150000"/>
              </a:lnSpc>
            </a:pPr>
            <a:r>
              <a:rPr lang="en-GB" dirty="0" smtClean="0"/>
              <a:t>The schedule with heating up incorporated appeared to be the best with the fixed </a:t>
            </a:r>
            <a:r>
              <a:rPr lang="el-GR" dirty="0" smtClean="0"/>
              <a:t>α</a:t>
            </a:r>
            <a:r>
              <a:rPr lang="pt-PT" dirty="0" smtClean="0"/>
              <a:t>:</a:t>
            </a:r>
            <a:r>
              <a:rPr lang="el-GR" dirty="0" smtClean="0"/>
              <a:t>β</a:t>
            </a:r>
            <a:r>
              <a:rPr lang="en-GB" dirty="0" smtClean="0"/>
              <a:t> </a:t>
            </a:r>
            <a:r>
              <a:rPr lang="en-GB" dirty="0" smtClean="0"/>
              <a:t>ratio</a:t>
            </a:r>
            <a:endParaRPr lang="en-GB" dirty="0" smtClean="0"/>
          </a:p>
          <a:p>
            <a:pPr lvl="1"/>
            <a:endParaRPr lang="en-GB" dirty="0" smtClean="0"/>
          </a:p>
          <a:p>
            <a:pPr>
              <a:buNone/>
            </a:pP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Second Variant</a:t>
            </a:r>
            <a:r>
              <a:rPr lang="pt-PT" dirty="0" smtClean="0"/>
              <a:t>:</a:t>
            </a:r>
          </a:p>
          <a:p>
            <a:pPr lvl="1"/>
            <a:r>
              <a:rPr lang="en-US" dirty="0" smtClean="0"/>
              <a:t>2D BPP with non-identical pieces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PT" dirty="0" smtClean="0"/>
          </a:p>
          <a:p>
            <a:pPr lvl="1"/>
            <a:endParaRPr lang="pt-PT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  <p:pic>
        <p:nvPicPr>
          <p:cNvPr id="1027" name="Picture 3" descr="C:\Users\Su\Desktop\binPackagingUseCase_mo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672" y="2852936"/>
            <a:ext cx="5904654" cy="326124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Feasible Solutions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Each piece is a valid combination of the lengths or widths of the other pieces types from the container edge</a:t>
            </a:r>
          </a:p>
          <a:p>
            <a:pPr lvl="1">
              <a:buNone/>
            </a:pPr>
            <a:endParaRPr lang="en-US" dirty="0" smtClean="0"/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r>
              <a:rPr lang="en-US" sz="2600" dirty="0" smtClean="0">
                <a:solidFill>
                  <a:schemeClr val="tx1"/>
                </a:solidFill>
              </a:rPr>
              <a:t>Neighborhood Structure 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Move the position of one of the pieces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Restriction: move only overlapping pieces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Restriction: </a:t>
            </a:r>
            <a:r>
              <a:rPr lang="en-US" dirty="0" smtClean="0"/>
              <a:t>the </a:t>
            </a:r>
            <a:r>
              <a:rPr lang="en-US" dirty="0" smtClean="0"/>
              <a:t>last piece is not allowed to move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marL="640080" lvl="2">
              <a:spcBef>
                <a:spcPts val="600"/>
              </a:spcBef>
              <a:buClr>
                <a:schemeClr val="accent2"/>
              </a:buClr>
            </a:pPr>
            <a:endParaRPr lang="en-US" sz="2300" dirty="0" smtClean="0">
              <a:solidFill>
                <a:schemeClr val="tx1"/>
              </a:solidFill>
            </a:endParaRP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395536" y="1524000"/>
            <a:ext cx="5122912" cy="4572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Objective Function</a:t>
            </a:r>
          </a:p>
          <a:p>
            <a:pPr lvl="1"/>
            <a:r>
              <a:rPr lang="en-GB" dirty="0" smtClean="0"/>
              <a:t> Minimize the total pairwise overlap  weighted according to piece </a:t>
            </a:r>
            <a:r>
              <a:rPr lang="en-GB" dirty="0" smtClean="0"/>
              <a:t>size</a:t>
            </a:r>
            <a:endParaRPr lang="en-GB" dirty="0" smtClean="0"/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Two stages optimization</a:t>
            </a:r>
            <a:r>
              <a:rPr lang="en-GB" dirty="0" smtClean="0"/>
              <a:t>:</a:t>
            </a:r>
          </a:p>
          <a:p>
            <a:pPr lvl="2"/>
            <a:r>
              <a:rPr lang="en-GB" dirty="0" smtClean="0"/>
              <a:t>Minimize </a:t>
            </a:r>
            <a:r>
              <a:rPr lang="en-GB" dirty="0" err="1" smtClean="0"/>
              <a:t>overcover</a:t>
            </a:r>
            <a:r>
              <a:rPr lang="en-GB" dirty="0" smtClean="0"/>
              <a:t> (relaxation of the original problem)</a:t>
            </a:r>
          </a:p>
          <a:p>
            <a:pPr lvl="2"/>
            <a:r>
              <a:rPr lang="en-GB" dirty="0" smtClean="0"/>
              <a:t>Minimize overlap, constraining </a:t>
            </a:r>
            <a:r>
              <a:rPr lang="en-GB" dirty="0" err="1" smtClean="0"/>
              <a:t>overcover</a:t>
            </a:r>
            <a:r>
              <a:rPr lang="en-GB" dirty="0" smtClean="0"/>
              <a:t> to remain zero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Difficult to solve when </a:t>
            </a:r>
            <a:r>
              <a:rPr lang="en-GB" dirty="0" smtClean="0"/>
              <a:t>space is tight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marL="640080" lvl="2">
              <a:spcBef>
                <a:spcPts val="600"/>
              </a:spcBef>
              <a:buClr>
                <a:schemeClr val="accent2"/>
              </a:buClr>
            </a:pPr>
            <a:endParaRPr lang="en-US" sz="2300" dirty="0" smtClean="0">
              <a:solidFill>
                <a:schemeClr val="tx1"/>
              </a:solidFill>
            </a:endParaRP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PT" dirty="0" smtClean="0"/>
          </a:p>
          <a:p>
            <a:pPr lvl="1"/>
            <a:endParaRPr lang="pt-PT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7114" y="1957933"/>
            <a:ext cx="318135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Cooling Schedule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Same as identical pieces case</a:t>
            </a:r>
          </a:p>
          <a:p>
            <a:pPr marL="274320" lvl="1">
              <a:lnSpc>
                <a:spcPct val="150000"/>
              </a:lnSpc>
              <a:spcBef>
                <a:spcPts val="600"/>
              </a:spcBef>
              <a:buClr>
                <a:schemeClr val="accent2"/>
              </a:buClr>
            </a:pPr>
            <a:r>
              <a:rPr lang="en-US" sz="2800" dirty="0" smtClean="0">
                <a:solidFill>
                  <a:schemeClr val="tx1"/>
                </a:solidFill>
              </a:rPr>
              <a:t>Probability Function</a:t>
            </a:r>
          </a:p>
          <a:p>
            <a:pPr marL="274320" lvl="1">
              <a:lnSpc>
                <a:spcPct val="150000"/>
              </a:lnSpc>
              <a:spcBef>
                <a:spcPts val="600"/>
              </a:spcBef>
              <a:buClr>
                <a:schemeClr val="accent2"/>
              </a:buClr>
              <a:buNone/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lnSpc>
                <a:spcPct val="150000"/>
              </a:lnSpc>
              <a:spcBef>
                <a:spcPts val="600"/>
              </a:spcBef>
              <a:buClr>
                <a:schemeClr val="accent2"/>
              </a:buClr>
            </a:pPr>
            <a:r>
              <a:rPr lang="en-US" sz="2800" dirty="0" smtClean="0">
                <a:solidFill>
                  <a:schemeClr val="tx1"/>
                </a:solidFill>
              </a:rPr>
              <a:t>Sampling Process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Random solution</a:t>
            </a:r>
          </a:p>
          <a:p>
            <a:pPr marL="274320" lvl="1">
              <a:lnSpc>
                <a:spcPct val="150000"/>
              </a:lnSpc>
              <a:spcBef>
                <a:spcPts val="600"/>
              </a:spcBef>
              <a:buClr>
                <a:schemeClr val="accent2"/>
              </a:buClr>
            </a:pPr>
            <a:r>
              <a:rPr lang="en-US" sz="2800" dirty="0" smtClean="0">
                <a:solidFill>
                  <a:schemeClr val="tx1"/>
                </a:solidFill>
              </a:rPr>
              <a:t>Starting Solution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Generate random position for each piece</a:t>
            </a:r>
            <a:endParaRPr lang="en-US" sz="2500" dirty="0" smtClean="0">
              <a:solidFill>
                <a:schemeClr val="tx1"/>
              </a:solidFill>
            </a:endParaRPr>
          </a:p>
          <a:p>
            <a:pPr lvl="1"/>
            <a:endParaRPr lang="en-US" dirty="0" smtClean="0"/>
          </a:p>
          <a:p>
            <a:pPr marL="640080" lvl="2">
              <a:spcBef>
                <a:spcPts val="600"/>
              </a:spcBef>
              <a:buClr>
                <a:schemeClr val="accent2"/>
              </a:buClr>
            </a:pPr>
            <a:endParaRPr lang="en-US" sz="25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274320" lvl="1">
              <a:spcBef>
                <a:spcPts val="600"/>
              </a:spcBef>
              <a:buClr>
                <a:schemeClr val="accent2"/>
              </a:buClr>
            </a:pPr>
            <a:endParaRPr lang="en-US" sz="2800" dirty="0" smtClean="0">
              <a:solidFill>
                <a:schemeClr val="tx1"/>
              </a:solidFill>
            </a:endParaRP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marL="640080" lvl="2">
              <a:spcBef>
                <a:spcPts val="600"/>
              </a:spcBef>
              <a:buClr>
                <a:schemeClr val="accent2"/>
              </a:buClr>
            </a:pPr>
            <a:endParaRPr lang="en-US" sz="2300" dirty="0" smtClean="0">
              <a:solidFill>
                <a:schemeClr val="tx1"/>
              </a:solidFill>
            </a:endParaRP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pt-PT" dirty="0" smtClean="0"/>
          </a:p>
          <a:p>
            <a:pPr lvl="1"/>
            <a:endParaRPr lang="pt-PT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 l="38347"/>
          <a:stretch>
            <a:fillRect/>
          </a:stretch>
        </p:blipFill>
        <p:spPr bwMode="auto">
          <a:xfrm>
            <a:off x="3563888" y="3212976"/>
            <a:ext cx="204216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25692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 smtClean="0"/>
              <a:t>Optimization Steps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Swap two pieces that are overlapping	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  <p:sp>
        <p:nvSpPr>
          <p:cNvPr id="4" name="Marcador de Posição de Conteúdo 1"/>
          <p:cNvSpPr txBox="1">
            <a:spLocks/>
          </p:cNvSpPr>
          <p:nvPr/>
        </p:nvSpPr>
        <p:spPr>
          <a:xfrm>
            <a:off x="457200" y="2996952"/>
            <a:ext cx="8219256" cy="334786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GB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Computational Experiments</a:t>
            </a:r>
          </a:p>
          <a:p>
            <a:pPr marL="640080" marR="0" lvl="1" indent="-27432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 problems</a:t>
            </a:r>
          </a:p>
          <a:p>
            <a:pPr marL="640080" marR="0" lvl="1" indent="-27432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 sets of piece dimensions packed into 4 different widths</a:t>
            </a:r>
          </a:p>
          <a:p>
            <a:pPr marL="640080" marR="0" lvl="1" indent="-27432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GB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Annealing in parallel produced the most promising results 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>
                  <a:shade val="75000"/>
                </a:schemeClr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 2"/>
              <a:buChar char="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e Conteúdo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353272"/>
          </a:xfrm>
        </p:spPr>
        <p:txBody>
          <a:bodyPr>
            <a:normAutofit/>
          </a:bodyPr>
          <a:lstStyle/>
          <a:p>
            <a:r>
              <a:rPr lang="en-GB" dirty="0" smtClean="0"/>
              <a:t>Conclusions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Use of a </a:t>
            </a:r>
            <a:r>
              <a:rPr lang="en-GB" dirty="0" smtClean="0"/>
              <a:t>cooling </a:t>
            </a:r>
            <a:r>
              <a:rPr lang="en-GB" dirty="0" smtClean="0"/>
              <a:t>schedule which also heats up when moves are not accepted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Use </a:t>
            </a:r>
            <a:r>
              <a:rPr lang="en-GB" dirty="0" smtClean="0"/>
              <a:t>of a relaxed objective either in a two stage approach or in parallel</a:t>
            </a:r>
          </a:p>
          <a:p>
            <a:pPr lvl="1">
              <a:lnSpc>
                <a:spcPct val="150000"/>
              </a:lnSpc>
            </a:pPr>
            <a:r>
              <a:rPr lang="en-GB" dirty="0" smtClean="0"/>
              <a:t>Capability to </a:t>
            </a:r>
            <a:r>
              <a:rPr lang="en-GB" dirty="0" smtClean="0"/>
              <a:t>produce </a:t>
            </a:r>
            <a:r>
              <a:rPr lang="en-GB" dirty="0" smtClean="0"/>
              <a:t>“near” </a:t>
            </a:r>
            <a:r>
              <a:rPr lang="en-GB" dirty="0" smtClean="0"/>
              <a:t>solutions </a:t>
            </a:r>
            <a:r>
              <a:rPr lang="en-GB" dirty="0" smtClean="0"/>
              <a:t>- transformed into solutions by hand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Simulated Annealing for BPP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03648" y="2827642"/>
            <a:ext cx="6400800" cy="3265654"/>
          </a:xfrm>
        </p:spPr>
        <p:txBody>
          <a:bodyPr>
            <a:normAutofit lnSpcReduction="10000"/>
          </a:bodyPr>
          <a:lstStyle/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r>
              <a:rPr lang="en-US" sz="3200" b="1" dirty="0" smtClean="0"/>
              <a:t>Questions</a:t>
            </a:r>
          </a:p>
          <a:p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908720"/>
            <a:ext cx="8229600" cy="892696"/>
          </a:xfrm>
        </p:spPr>
        <p:txBody>
          <a:bodyPr/>
          <a:lstStyle/>
          <a:p>
            <a:r>
              <a:rPr lang="en-US" dirty="0" smtClean="0"/>
              <a:t>Simulated Annealing</a:t>
            </a:r>
            <a:endParaRPr lang="en-US" dirty="0"/>
          </a:p>
        </p:txBody>
      </p:sp>
      <p:sp>
        <p:nvSpPr>
          <p:cNvPr id="4" name="Rectângulo 3"/>
          <p:cNvSpPr/>
          <p:nvPr/>
        </p:nvSpPr>
        <p:spPr>
          <a:xfrm>
            <a:off x="2987824" y="1368345"/>
            <a:ext cx="2880322" cy="450892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7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effectLst>
                  <a:glow rad="63500">
                    <a:schemeClr val="bg1">
                      <a:lumMod val="75000"/>
                      <a:lumOff val="25000"/>
                      <a:alpha val="40000"/>
                    </a:schemeClr>
                  </a:glow>
                </a:effectLst>
              </a:rPr>
              <a:t>?</a:t>
            </a:r>
            <a:endParaRPr lang="pt-PT" sz="287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>
                <a:glow rad="63500">
                  <a:schemeClr val="bg1">
                    <a:lumMod val="75000"/>
                    <a:lumOff val="2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l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775</TotalTime>
  <Words>1097</Words>
  <Application>Microsoft Office PowerPoint</Application>
  <PresentationFormat>Apresentação no Ecrã (4:3)</PresentationFormat>
  <Paragraphs>300</Paragraphs>
  <Slides>28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28</vt:i4>
      </vt:variant>
    </vt:vector>
  </HeadingPairs>
  <TitlesOfParts>
    <vt:vector size="29" baseType="lpstr">
      <vt:lpstr>Papel</vt:lpstr>
      <vt:lpstr>Simulated Annealing</vt:lpstr>
      <vt:lpstr>Summary</vt:lpstr>
      <vt:lpstr>Introduction to Simulated Annealing:    Meta-Heuristic Concept</vt:lpstr>
      <vt:lpstr>Introduction to Simulated Annealing:    Historical Approach</vt:lpstr>
      <vt:lpstr>Introduction to Simulated Annealing:    Historical Approach</vt:lpstr>
      <vt:lpstr>Introduction to Simulated Annealing:     SA  Algorithm</vt:lpstr>
      <vt:lpstr>Introduction to Simulated Annealing:     SA  Algorithm</vt:lpstr>
      <vt:lpstr>Introduction to Simulated Annealing:     SA  Algorithm</vt:lpstr>
      <vt:lpstr>Introduction to Simulated Annealing:     SA  Algorithm</vt:lpstr>
      <vt:lpstr>Introduction to Simulated Annealing:     SA  Algorithm</vt:lpstr>
      <vt:lpstr>Introduction to Simulated Annealing:     SA  Algorithm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 for BPP</vt:lpstr>
      <vt:lpstr>Simulated Annealing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Simulated Annealing</dc:title>
  <dc:creator>Andry</dc:creator>
  <cp:lastModifiedBy>Windows User</cp:lastModifiedBy>
  <cp:revision>123</cp:revision>
  <dcterms:created xsi:type="dcterms:W3CDTF">2010-12-14T14:11:21Z</dcterms:created>
  <dcterms:modified xsi:type="dcterms:W3CDTF">2011-01-03T01:38:19Z</dcterms:modified>
</cp:coreProperties>
</file>