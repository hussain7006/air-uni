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9" r:id="rId5"/>
    <p:sldId id="268" r:id="rId6"/>
    <p:sldId id="260" r:id="rId7"/>
    <p:sldId id="262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298575"/>
          </a:xfrm>
        </p:spPr>
        <p:txBody>
          <a:bodyPr/>
          <a:lstStyle/>
          <a:p>
            <a:r>
              <a:rPr lang="en-US" dirty="0"/>
              <a:t>Lecture # 3</a:t>
            </a:r>
            <a:endParaRPr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DFA82B-49AC-34CF-6241-B403267B1D01}"/>
              </a:ext>
            </a:extLst>
          </p:cNvPr>
          <p:cNvSpPr txBox="1">
            <a:spLocks/>
          </p:cNvSpPr>
          <p:nvPr/>
        </p:nvSpPr>
        <p:spPr>
          <a:xfrm>
            <a:off x="685800" y="3039909"/>
            <a:ext cx="7772400" cy="1298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Solving by Searching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What is Problem Solving by Searching?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lang="en-US" sz="2000" dirty="0"/>
              <a:t>Finding a sequence of actions that transforms the initial state into a goal state.</a:t>
            </a:r>
          </a:p>
          <a:p>
            <a:endParaRPr lang="en-US" sz="2000" b="1" dirty="0"/>
          </a:p>
          <a:p>
            <a:r>
              <a:rPr lang="en-US" sz="2000" b="1" dirty="0"/>
              <a:t>State Space Search</a:t>
            </a:r>
          </a:p>
          <a:p>
            <a:pPr lvl="1"/>
            <a:r>
              <a:rPr lang="en-US" sz="1800" dirty="0"/>
              <a:t>No. of state in which problem can be solved</a:t>
            </a:r>
          </a:p>
          <a:p>
            <a:pPr lvl="1"/>
            <a:r>
              <a:rPr lang="en-US" sz="2000" b="1" dirty="0"/>
              <a:t>Precise</a:t>
            </a:r>
            <a:r>
              <a:rPr lang="en-US" sz="1800" b="1" dirty="0"/>
              <a:t> </a:t>
            </a:r>
            <a:r>
              <a:rPr lang="en-US" sz="1800" dirty="0"/>
              <a:t>(How to represent the problem precisely)</a:t>
            </a:r>
          </a:p>
          <a:p>
            <a:pPr lvl="1"/>
            <a:r>
              <a:rPr lang="en-US" sz="2000" b="1" dirty="0"/>
              <a:t>Analyze</a:t>
            </a:r>
            <a:r>
              <a:rPr lang="en-US" sz="1800" dirty="0"/>
              <a:t> ( Can analyze the problem )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E.g. 8 puzzle problem</a:t>
            </a:r>
          </a:p>
          <a:p>
            <a:endParaRPr lang="en-US" sz="2200" dirty="0"/>
          </a:p>
          <a:p>
            <a:r>
              <a:rPr lang="en-US" sz="2000" dirty="0"/>
              <a:t>State space search helps us clearly define a problem, allowing the agent to understand the situation and decide which actions to take to reach its goal.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6C42-D3B6-3467-5582-594D5B1F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B17A-9BC8-B121-BA31-60BA462C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What is Problem Solving by Searching?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FF0D-3F09-F24C-8113-E494C41B5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76134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/>
              <a:t>Problem Formulation: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Problem formulation means </a:t>
            </a:r>
            <a:r>
              <a:rPr lang="en-US" sz="1800" b="1" dirty="0"/>
              <a:t>defining a problem clearly</a:t>
            </a:r>
            <a:r>
              <a:rPr lang="en-US" sz="1800" dirty="0"/>
              <a:t> so that an intelligent agent knows </a:t>
            </a:r>
            <a:r>
              <a:rPr lang="en-US" sz="1800" b="1" dirty="0"/>
              <a:t>what the goal is, where to start, and what actions it can take</a:t>
            </a:r>
            <a:r>
              <a:rPr lang="en-US" sz="1800" dirty="0"/>
              <a:t> to reach that goal.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endParaRPr lang="en-US" sz="1600" b="1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1600" dirty="0"/>
              <a:t>•</a:t>
            </a:r>
            <a:r>
              <a:rPr sz="1600" dirty="0"/>
              <a:t> </a:t>
            </a:r>
            <a:r>
              <a:rPr sz="1800" b="1" dirty="0"/>
              <a:t>State</a:t>
            </a:r>
            <a:r>
              <a:rPr sz="1800" dirty="0"/>
              <a:t> – </a:t>
            </a:r>
            <a:r>
              <a:rPr lang="en-US" sz="1800" dirty="0"/>
              <a:t>Start and Goal</a:t>
            </a:r>
            <a:endParaRPr sz="1800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sz="1800" dirty="0"/>
              <a:t>• </a:t>
            </a:r>
            <a:r>
              <a:rPr sz="1800" b="1" dirty="0"/>
              <a:t>Actions</a:t>
            </a:r>
            <a:r>
              <a:rPr sz="1800" dirty="0"/>
              <a:t> – possible moves</a:t>
            </a:r>
            <a:r>
              <a:rPr lang="en-US" sz="1800" dirty="0"/>
              <a:t> | Set of actions | All possible actions</a:t>
            </a:r>
            <a:endParaRPr sz="1800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sz="1800" dirty="0"/>
              <a:t>• </a:t>
            </a:r>
            <a:r>
              <a:rPr lang="en-US" sz="1800" b="1" dirty="0"/>
              <a:t>Transition</a:t>
            </a:r>
            <a:r>
              <a:rPr lang="en-US" sz="1800" dirty="0"/>
              <a:t> Model</a:t>
            </a:r>
            <a:r>
              <a:rPr sz="1800" dirty="0"/>
              <a:t> – result of</a:t>
            </a:r>
            <a:r>
              <a:rPr lang="en-US" sz="1800" dirty="0"/>
              <a:t> an</a:t>
            </a:r>
            <a:r>
              <a:rPr sz="1800" dirty="0"/>
              <a:t> action</a:t>
            </a:r>
            <a:endParaRPr lang="en-US" sz="1800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• </a:t>
            </a:r>
            <a:r>
              <a:rPr lang="en-US" sz="1800" b="1" dirty="0"/>
              <a:t>Goal Test</a:t>
            </a:r>
            <a:r>
              <a:rPr lang="en-US" sz="1800" dirty="0"/>
              <a:t> – checks if goal reached</a:t>
            </a:r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sz="1800" dirty="0"/>
              <a:t>• </a:t>
            </a:r>
            <a:r>
              <a:rPr sz="1800" b="1" dirty="0"/>
              <a:t>Path Cost</a:t>
            </a:r>
            <a:r>
              <a:rPr sz="1800" dirty="0"/>
              <a:t> – </a:t>
            </a:r>
            <a:r>
              <a:rPr lang="en-US" sz="1800" dirty="0"/>
              <a:t>cost of reaching the goal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958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Uninformed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Searching Without Information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Searching without information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no prior knowledge of goal location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More time consumption and high chances of optimal solution</a:t>
            </a:r>
            <a:endParaRPr sz="18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Explores state space systematically.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Includes: </a:t>
            </a:r>
            <a:endParaRPr lang="en-US" sz="20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BFS</a:t>
            </a:r>
            <a:r>
              <a:rPr lang="en-US" sz="1800" dirty="0"/>
              <a:t> (Breadth-First Search)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UCS (Uniform-Cost Search)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DFS (Depth-First Search)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DLS</a:t>
            </a:r>
            <a:r>
              <a:rPr lang="en-US" sz="1800" dirty="0"/>
              <a:t> (Depth-Limited Search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IDS</a:t>
            </a:r>
            <a:r>
              <a:rPr lang="en-US" sz="1800" dirty="0"/>
              <a:t> (Iterative deepening DFS)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59727-5546-79E0-CF84-B82C0B370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6" r="15913"/>
          <a:stretch>
            <a:fillRect/>
          </a:stretch>
        </p:blipFill>
        <p:spPr>
          <a:xfrm>
            <a:off x="4916129" y="3234815"/>
            <a:ext cx="2939846" cy="2930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E0EE-E0D1-86DE-062E-705F9316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6A6B-20A1-E340-4246-B5385653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Breadth-First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15B5-A9C5-704B-7D81-414E6925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60900" cy="4025899"/>
          </a:xfrm>
        </p:spPr>
        <p:txBody>
          <a:bodyPr wrap="square">
            <a:normAutofit/>
          </a:bodyPr>
          <a:lstStyle/>
          <a:p>
            <a:r>
              <a:rPr lang="en-US" sz="2000" dirty="0"/>
              <a:t>Uniformed search technique</a:t>
            </a:r>
            <a:endParaRPr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Expands shallowest nodes first using a FIFO queue.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Complete</a:t>
            </a:r>
            <a:r>
              <a:rPr lang="en-US" sz="2000" dirty="0"/>
              <a:t>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Optimal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Time &amp; Space</a:t>
            </a:r>
            <a:r>
              <a:rPr lang="en-US" sz="2000" dirty="0"/>
              <a:t> complexity</a:t>
            </a:r>
            <a:r>
              <a:rPr sz="2000" dirty="0"/>
              <a:t>: O(</a:t>
            </a:r>
            <a:r>
              <a:rPr sz="2000" dirty="0" err="1"/>
              <a:t>b^d</a:t>
            </a:r>
            <a:r>
              <a:rPr sz="2000" dirty="0"/>
              <a:t>)</a:t>
            </a: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AI Example: Chatbot exploring shortest conversation paths to reach desired user intent.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12D77-D8FD-C014-1CC3-F5210F535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19" y="1791723"/>
            <a:ext cx="3214281" cy="364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3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Breadth-First Search?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650" y="1924848"/>
            <a:ext cx="8229600" cy="1045368"/>
          </a:xfrm>
        </p:spPr>
        <p:txBody>
          <a:bodyPr wrap="square">
            <a:normAutofit/>
          </a:bodyPr>
          <a:lstStyle/>
          <a:p>
            <a:r>
              <a:rPr lang="en-US" sz="2000" dirty="0"/>
              <a:t>BFS explores neighbor nodes first, before moving to the next level of neighbors. It explores "wide" before it explores "deep."</a:t>
            </a:r>
            <a:endParaRPr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AEE2A-ED2A-7852-BC42-BC241C450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945" y="2831690"/>
            <a:ext cx="3214281" cy="3642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Uniform-Cost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67084" cy="4682613"/>
          </a:xfrm>
        </p:spPr>
        <p:txBody>
          <a:bodyPr wrap="square">
            <a:normAutofit lnSpcReduction="10000"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UCS is an uninformed search algorithm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By default, uses a BFS method </a:t>
            </a:r>
            <a:r>
              <a:rPr lang="en-US" b="1" dirty="0"/>
              <a:t>(uses a weighted graph)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Find the least cost path from a start node to a goal node in a weighted graph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Guarantees optimal solution if step cost are non-negative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Explore the nodes with the lowest cumulative cost first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Uses a priority queue to manage nodes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19131-9675-2609-6FF1-59431FAD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839" y="1570704"/>
            <a:ext cx="3627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F9C1-AD7A-CC6B-8327-902638A1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F391-3B44-9527-EE4E-7E915C80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Uniform-Cost Search (UCS)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FC78D2-0F8C-8E13-3B81-5DEBCE7F5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029" y="1263650"/>
            <a:ext cx="362712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0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381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Lecture # 3</vt:lpstr>
      <vt:lpstr>What is Problem Solving by Searching?</vt:lpstr>
      <vt:lpstr>What is Problem Solving by Searching?</vt:lpstr>
      <vt:lpstr>Uninformed Search Strategies</vt:lpstr>
      <vt:lpstr>Breadth-First Search (BFS)</vt:lpstr>
      <vt:lpstr>What is Breadth-First Search?</vt:lpstr>
      <vt:lpstr>Uniform-Cost Search (UCS)</vt:lpstr>
      <vt:lpstr>Uniform-Cost Search (UCS)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28</cp:revision>
  <dcterms:created xsi:type="dcterms:W3CDTF">2013-01-27T09:14:16Z</dcterms:created>
  <dcterms:modified xsi:type="dcterms:W3CDTF">2025-11-15T15:45:04Z</dcterms:modified>
  <cp:category/>
</cp:coreProperties>
</file>