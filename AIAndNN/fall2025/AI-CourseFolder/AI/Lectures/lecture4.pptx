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1" r:id="rId3"/>
    <p:sldId id="267" r:id="rId4"/>
    <p:sldId id="268" r:id="rId5"/>
    <p:sldId id="269" r:id="rId6"/>
    <p:sldId id="264" r:id="rId7"/>
    <p:sldId id="270" r:id="rId8"/>
    <p:sldId id="266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298575"/>
          </a:xfrm>
        </p:spPr>
        <p:txBody>
          <a:bodyPr/>
          <a:lstStyle/>
          <a:p>
            <a:r>
              <a:rPr lang="en-US" dirty="0"/>
              <a:t>Lecture # 4</a:t>
            </a:r>
            <a:endParaRPr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EDFA82B-49AC-34CF-6241-B403267B1D01}"/>
              </a:ext>
            </a:extLst>
          </p:cNvPr>
          <p:cNvSpPr txBox="1">
            <a:spLocks/>
          </p:cNvSpPr>
          <p:nvPr/>
        </p:nvSpPr>
        <p:spPr>
          <a:xfrm>
            <a:off x="685800" y="3039909"/>
            <a:ext cx="7772400" cy="12985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Problem Solving by Searching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Depth-First Search (DFS)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 wrap="square"/>
              <a:lstStyle/>
              <a:p>
                <a:pPr>
                  <a:defRPr sz="1800">
                    <a:solidFill>
                      <a:srgbClr val="000000"/>
                    </a:solidFill>
                  </a:defRPr>
                </a:pPr>
                <a:r>
                  <a:rPr lang="en-US" sz="2000" b="1" dirty="0"/>
                  <a:t>Uniformed Search Technique</a:t>
                </a:r>
              </a:p>
              <a:p>
                <a:pPr lvl="1">
                  <a:defRPr sz="1800">
                    <a:solidFill>
                      <a:srgbClr val="000000"/>
                    </a:solidFill>
                  </a:defRPr>
                </a:pPr>
                <a:r>
                  <a:rPr lang="en-US" sz="1800" dirty="0"/>
                  <a:t>It explores the search space without any extra knowledge</a:t>
                </a:r>
                <a:endParaRPr lang="en-US" dirty="0"/>
              </a:p>
              <a:p>
                <a:pPr>
                  <a:defRPr sz="1800">
                    <a:solidFill>
                      <a:srgbClr val="000000"/>
                    </a:solidFill>
                  </a:defRPr>
                </a:pPr>
                <a:r>
                  <a:rPr lang="en-US" sz="2000" b="1" dirty="0"/>
                  <a:t>Stack (LIFO)</a:t>
                </a:r>
              </a:p>
              <a:p>
                <a:pPr lvl="1">
                  <a:defRPr sz="1800">
                    <a:solidFill>
                      <a:srgbClr val="000000"/>
                    </a:solidFill>
                  </a:defRPr>
                </a:pPr>
                <a:r>
                  <a:rPr lang="en-US" sz="1800" dirty="0"/>
                  <a:t>The most recently added node is explored first</a:t>
                </a:r>
                <a:endParaRPr lang="en-US" dirty="0"/>
              </a:p>
              <a:p>
                <a:pPr>
                  <a:defRPr sz="1800">
                    <a:solidFill>
                      <a:srgbClr val="000000"/>
                    </a:solidFill>
                  </a:defRPr>
                </a:pPr>
                <a:r>
                  <a:rPr lang="en-US" sz="2000" b="1" dirty="0"/>
                  <a:t>Deepest Node</a:t>
                </a:r>
              </a:p>
              <a:p>
                <a:pPr lvl="1">
                  <a:defRPr sz="1800">
                    <a:solidFill>
                      <a:srgbClr val="000000"/>
                    </a:solidFill>
                  </a:defRPr>
                </a:pPr>
                <a:r>
                  <a:rPr lang="en-US" sz="1800" dirty="0"/>
                  <a:t>Always expands the deepest unexplored node in the search tree</a:t>
                </a:r>
                <a:endParaRPr lang="en-US" dirty="0"/>
              </a:p>
              <a:p>
                <a:pPr>
                  <a:defRPr sz="1800">
                    <a:solidFill>
                      <a:srgbClr val="000000"/>
                    </a:solidFill>
                  </a:defRPr>
                </a:pPr>
                <a:r>
                  <a:rPr lang="en-US" sz="2000" b="1" dirty="0"/>
                  <a:t>complete</a:t>
                </a:r>
              </a:p>
              <a:p>
                <a:pPr lvl="1">
                  <a:defRPr sz="1800">
                    <a:solidFill>
                      <a:srgbClr val="000000"/>
                    </a:solidFill>
                  </a:defRPr>
                </a:pPr>
                <a:r>
                  <a:rPr lang="en-US" sz="1800" dirty="0"/>
                  <a:t>It may fail to find a solution if the search goes infinitely deep</a:t>
                </a:r>
                <a:endParaRPr lang="en-US" dirty="0"/>
              </a:p>
              <a:p>
                <a:pPr>
                  <a:defRPr sz="1800">
                    <a:solidFill>
                      <a:srgbClr val="000000"/>
                    </a:solidFill>
                  </a:defRPr>
                </a:pPr>
                <a:r>
                  <a:rPr lang="en-US" sz="2000" b="1" dirty="0"/>
                  <a:t>Non optimal</a:t>
                </a:r>
              </a:p>
              <a:p>
                <a:pPr lvl="1">
                  <a:defRPr sz="1800">
                    <a:solidFill>
                      <a:srgbClr val="000000"/>
                    </a:solidFill>
                  </a:defRPr>
                </a:pPr>
                <a:r>
                  <a:rPr lang="en-US" sz="1800" dirty="0"/>
                  <a:t>It does not guarantee the shortest or best solution path</a:t>
                </a:r>
                <a:endParaRPr lang="en-US" dirty="0"/>
              </a:p>
              <a:p>
                <a:pPr>
                  <a:defRPr sz="1800">
                    <a:solidFill>
                      <a:srgbClr val="000000"/>
                    </a:solidFill>
                  </a:defRPr>
                </a:pPr>
                <a:r>
                  <a:rPr lang="en-US" sz="2000" b="1" dirty="0"/>
                  <a:t>Time Complexity</a:t>
                </a:r>
                <a:endParaRPr lang="en-US" b="1" dirty="0"/>
              </a:p>
              <a:p>
                <a:pPr lvl="1">
                  <a:defRPr sz="1800">
                    <a:solidFill>
                      <a:srgbClr val="000000"/>
                    </a:solidFill>
                  </a:defRPr>
                </a:pPr>
                <a:r>
                  <a:rPr lang="en-US" sz="1800" dirty="0"/>
                  <a:t>can take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ar-AE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sz="1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sz="18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ar-AE" sz="1800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1800" dirty="0"/>
                  <a:t>time, where </a:t>
                </a:r>
                <a:r>
                  <a:rPr lang="en-US" sz="1800" i="1" dirty="0"/>
                  <a:t>b</a:t>
                </a:r>
                <a:r>
                  <a:rPr lang="en-US" sz="1800" dirty="0"/>
                  <a:t> is branching factor and </a:t>
                </a:r>
                <a:r>
                  <a:rPr lang="en-US" sz="1800" i="1" dirty="0"/>
                  <a:t>d</a:t>
                </a:r>
                <a:r>
                  <a:rPr lang="en-US" sz="1800" dirty="0"/>
                  <a:t> is maximum depth</a:t>
                </a:r>
                <a:endParaRPr lang="en-US" dirty="0"/>
              </a:p>
              <a:p>
                <a:pPr marL="0" indent="0">
                  <a:buNone/>
                  <a:defRPr sz="1800">
                    <a:solidFill>
                      <a:srgbClr val="000000"/>
                    </a:solidFill>
                  </a:defRPr>
                </a:pPr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67" t="-8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8E5B74-7D21-D7A0-2A55-67A98FFD5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8BFCD-5700-ADB3-C743-B33D465F8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Depth-First Search (DFS)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81E09AC-F849-A8D6-9A0E-FD2DDF8582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565122"/>
            <a:ext cx="3764821" cy="2711910"/>
          </a:xfrm>
        </p:spPr>
      </p:pic>
    </p:spTree>
    <p:extLst>
      <p:ext uri="{BB962C8B-B14F-4D97-AF65-F5344CB8AC3E}">
        <p14:creationId xmlns:p14="http://schemas.microsoft.com/office/powerpoint/2010/main" val="25645127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DC5EE6-566F-4B09-4A8D-A7FC4AF13D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F5C94-5025-0C8B-2ED2-38EE84677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Depth-Limited Search (DLS)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2A33AD9-5FB5-E6C2-E868-8A0062207A6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 wrap="square"/>
              <a:lstStyle/>
              <a:p>
                <a:pPr>
                  <a:defRPr sz="1800">
                    <a:solidFill>
                      <a:srgbClr val="000000"/>
                    </a:solidFill>
                  </a:defRPr>
                </a:pPr>
                <a:r>
                  <a:rPr lang="en-US" sz="2000" b="1" dirty="0"/>
                  <a:t>Depth Limitation</a:t>
                </a:r>
              </a:p>
              <a:p>
                <a:pPr lvl="1">
                  <a:defRPr sz="1800">
                    <a:solidFill>
                      <a:srgbClr val="000000"/>
                    </a:solidFill>
                  </a:defRPr>
                </a:pPr>
                <a:r>
                  <a:rPr lang="en-US" sz="1800" dirty="0"/>
                  <a:t>It stops exploring once it reaches a fixed depth you set</a:t>
                </a:r>
                <a:endParaRPr lang="en-US" dirty="0"/>
              </a:p>
              <a:p>
                <a:pPr>
                  <a:defRPr sz="1800">
                    <a:solidFill>
                      <a:srgbClr val="000000"/>
                    </a:solidFill>
                  </a:defRPr>
                </a:pPr>
                <a:r>
                  <a:rPr lang="en-US" sz="2000" b="1" dirty="0"/>
                  <a:t>Stack (LIFO)</a:t>
                </a:r>
              </a:p>
              <a:p>
                <a:pPr lvl="1">
                  <a:defRPr sz="1800">
                    <a:solidFill>
                      <a:srgbClr val="000000"/>
                    </a:solidFill>
                  </a:defRPr>
                </a:pPr>
                <a:r>
                  <a:rPr lang="en-US" sz="1800" dirty="0"/>
                  <a:t>The most recently added node is explored first</a:t>
                </a:r>
                <a:endParaRPr lang="en-US" dirty="0"/>
              </a:p>
              <a:p>
                <a:pPr>
                  <a:defRPr sz="1800">
                    <a:solidFill>
                      <a:srgbClr val="000000"/>
                    </a:solidFill>
                  </a:defRPr>
                </a:pPr>
                <a:r>
                  <a:rPr lang="en-US" sz="2000" b="1" dirty="0"/>
                  <a:t>complete</a:t>
                </a:r>
              </a:p>
              <a:p>
                <a:pPr lvl="1">
                  <a:defRPr sz="1800">
                    <a:solidFill>
                      <a:srgbClr val="000000"/>
                    </a:solidFill>
                  </a:defRPr>
                </a:pPr>
                <a:r>
                  <a:rPr lang="en-US" sz="1800" dirty="0"/>
                  <a:t>It can find a solution only if the solution lies within the depth limit you chose</a:t>
                </a:r>
                <a:endParaRPr lang="en-US" dirty="0"/>
              </a:p>
              <a:p>
                <a:pPr>
                  <a:defRPr sz="1800">
                    <a:solidFill>
                      <a:srgbClr val="000000"/>
                    </a:solidFill>
                  </a:defRPr>
                </a:pPr>
                <a:r>
                  <a:rPr lang="en-US" sz="2000" b="1" dirty="0"/>
                  <a:t>Time Complexity</a:t>
                </a:r>
                <a:endParaRPr lang="en-US" b="1" dirty="0"/>
              </a:p>
              <a:p>
                <a:pPr lvl="1">
                  <a:defRPr sz="1800">
                    <a:solidFill>
                      <a:srgbClr val="000000"/>
                    </a:solidFill>
                  </a:defRPr>
                </a:pPr>
                <a:r>
                  <a:rPr lang="en-US" sz="1800" dirty="0"/>
                  <a:t>can take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ar-AE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sz="1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sz="18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1800" dirty="0"/>
                  <a:t>time, where </a:t>
                </a:r>
                <a:r>
                  <a:rPr lang="en-US" sz="1800" i="1" dirty="0"/>
                  <a:t>b</a:t>
                </a:r>
                <a:r>
                  <a:rPr lang="en-US" sz="1800" dirty="0"/>
                  <a:t> is branching factor and </a:t>
                </a:r>
                <a:r>
                  <a:rPr lang="en-US" sz="1800" i="1" dirty="0"/>
                  <a:t>l</a:t>
                </a:r>
                <a:r>
                  <a:rPr lang="en-US" sz="1800" dirty="0"/>
                  <a:t> is depth limit</a:t>
                </a:r>
              </a:p>
              <a:p>
                <a:pPr lvl="1">
                  <a:defRPr sz="1800">
                    <a:solidFill>
                      <a:srgbClr val="000000"/>
                    </a:solidFill>
                  </a:defRPr>
                </a:pPr>
                <a:r>
                  <a:rPr lang="en-US" sz="1800" dirty="0"/>
                  <a:t>It takes time based on how many nodes it has to explore before reaching the depth limit.</a:t>
                </a:r>
                <a:endParaRPr lang="en-US" dirty="0"/>
              </a:p>
              <a:p>
                <a:pPr marL="0" indent="0">
                  <a:buNone/>
                  <a:defRPr sz="1800">
                    <a:solidFill>
                      <a:srgbClr val="000000"/>
                    </a:solidFill>
                  </a:defRPr>
                </a:pPr>
                <a:endParaRPr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2A33AD9-5FB5-E6C2-E868-8A0062207A6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67" t="-8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637049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3630B8-FC85-AA61-A20A-1CF128B18D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F0A44-FFED-6D62-8302-D869718B7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Depth-Limited Search (DLS)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AB61DA-3B5F-F004-AB91-A32BD6EC43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631" y="1664052"/>
            <a:ext cx="4435677" cy="3183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68011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Iterative Deepening Search (IDS)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r>
              <a:rPr lang="en-US" sz="2000" dirty="0"/>
              <a:t>Combines </a:t>
            </a:r>
            <a:r>
              <a:rPr lang="en-US" sz="2000" b="1" dirty="0"/>
              <a:t>DFS and BFS</a:t>
            </a:r>
            <a:r>
              <a:rPr lang="en-US" sz="2000" dirty="0"/>
              <a:t> advantages. (complete, space efficient)</a:t>
            </a:r>
          </a:p>
          <a:p>
            <a:endParaRPr lang="en-US" sz="2000" dirty="0"/>
          </a:p>
          <a:p>
            <a:r>
              <a:rPr lang="en-US" sz="2000" dirty="0"/>
              <a:t>Searches to a limited depth, increasing the limit with each iteration</a:t>
            </a:r>
          </a:p>
          <a:p>
            <a:endParaRPr lang="en-US" sz="2000" dirty="0"/>
          </a:p>
          <a:p>
            <a:r>
              <a:rPr lang="en-US" sz="2000" dirty="0"/>
              <a:t>Ensure both completeness and optimality</a:t>
            </a:r>
          </a:p>
          <a:p>
            <a:endParaRPr lang="en-US" sz="2000" dirty="0"/>
          </a:p>
          <a:p>
            <a:r>
              <a:rPr lang="en-US" sz="2000" dirty="0"/>
              <a:t>Ensure exploration of all nodes at each depth before going deeper</a:t>
            </a:r>
            <a:endParaRPr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85E531-33A8-81CB-5E29-6814BB1FC1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484C9-A594-E963-A965-CA303F7BC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Iterative Deepening Search (IDS)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6F5CBA-6B59-867E-8394-9F36D95623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631" y="1664052"/>
            <a:ext cx="4435677" cy="3183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2541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Comparison Summary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23291E5-F31A-AA0F-9DC6-DD5D5F0EB7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5484436"/>
              </p:ext>
            </p:extLst>
          </p:nvPr>
        </p:nvGraphicFramePr>
        <p:xfrm>
          <a:off x="339213" y="1901646"/>
          <a:ext cx="8229600" cy="2743200"/>
        </p:xfrm>
        <a:graphic>
          <a:graphicData uri="http://schemas.openxmlformats.org/drawingml/2006/table">
            <a:tbl>
              <a:tblPr/>
              <a:tblGrid>
                <a:gridCol w="1519084">
                  <a:extLst>
                    <a:ext uri="{9D8B030D-6E8A-4147-A177-3AD203B41FA5}">
                      <a16:colId xmlns:a16="http://schemas.microsoft.com/office/drawing/2014/main" val="307013742"/>
                    </a:ext>
                  </a:extLst>
                </a:gridCol>
                <a:gridCol w="3392129">
                  <a:extLst>
                    <a:ext uri="{9D8B030D-6E8A-4147-A177-3AD203B41FA5}">
                      <a16:colId xmlns:a16="http://schemas.microsoft.com/office/drawing/2014/main" val="2769406044"/>
                    </a:ext>
                  </a:extLst>
                </a:gridCol>
                <a:gridCol w="3318387">
                  <a:extLst>
                    <a:ext uri="{9D8B030D-6E8A-4147-A177-3AD203B41FA5}">
                      <a16:colId xmlns:a16="http://schemas.microsoft.com/office/drawing/2014/main" val="130087085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Search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Key Advantage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Key Disadvantage / Cost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87829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BFS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Complete, optimal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High memory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9435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UCS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Finds least-cost solution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High computational cost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6338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DFS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Space efficient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Not optimal, may get stuck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92725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DLS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Prevents infinite loops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May miss solution beyond depth limit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39771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Combines BFS &amp; DFS advantages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Repeated search → slightly more time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51739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1276</TotalTime>
  <Words>290</Words>
  <Application>Microsoft Office PowerPoint</Application>
  <PresentationFormat>On-screen Show (4:3)</PresentationFormat>
  <Paragraphs>55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 Math</vt:lpstr>
      <vt:lpstr>Office Theme</vt:lpstr>
      <vt:lpstr>Lecture # 4</vt:lpstr>
      <vt:lpstr>Depth-First Search (DFS)</vt:lpstr>
      <vt:lpstr>Depth-First Search (DFS)</vt:lpstr>
      <vt:lpstr>Depth-Limited Search (DLS)</vt:lpstr>
      <vt:lpstr>Depth-Limited Search (DLS)</vt:lpstr>
      <vt:lpstr>Iterative Deepening Search (IDS)</vt:lpstr>
      <vt:lpstr>Iterative Deepening Search (IDS)</vt:lpstr>
      <vt:lpstr>Comparison 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Muhammad Hussain</cp:lastModifiedBy>
  <cp:revision>33</cp:revision>
  <dcterms:created xsi:type="dcterms:W3CDTF">2013-01-27T09:14:16Z</dcterms:created>
  <dcterms:modified xsi:type="dcterms:W3CDTF">2025-11-21T05:21:48Z</dcterms:modified>
  <cp:category/>
</cp:coreProperties>
</file>