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308" r:id="rId3"/>
    <p:sldId id="309" r:id="rId4"/>
    <p:sldId id="310" r:id="rId5"/>
    <p:sldId id="311" r:id="rId6"/>
    <p:sldId id="316" r:id="rId7"/>
    <p:sldId id="312" r:id="rId8"/>
    <p:sldId id="315" r:id="rId9"/>
    <p:sldId id="317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55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DA5460-0223-4DAF-A138-9183965676CE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D17024-63D9-4887-B91B-F9DC8F91D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436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Lecture # 8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16CD8-CE5F-1673-6072-882E9ED30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Confusion Matrix, Sensitivity &amp; Specificity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68BB1-9A24-EC03-9DCB-B18DACF54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Confusion Matrix:</a:t>
            </a:r>
          </a:p>
          <a:p>
            <a:r>
              <a:rPr lang="en-US" sz="1800" dirty="0"/>
              <a:t>A performance measurement tool for Machine Learning classification problems.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Core Concept:</a:t>
            </a:r>
            <a:r>
              <a:rPr lang="en-US" sz="1800" dirty="0"/>
              <a:t> </a:t>
            </a:r>
          </a:p>
          <a:p>
            <a:r>
              <a:rPr lang="en-US" sz="1800" dirty="0"/>
              <a:t>It is a table used to describe the performance of a classification model on a set of test data for which the true values are known.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Key Benefit:</a:t>
            </a:r>
          </a:p>
          <a:p>
            <a:r>
              <a:rPr lang="en-US" sz="1800" dirty="0"/>
              <a:t>It reveals which specific classes are being misclassified.</a:t>
            </a:r>
          </a:p>
          <a:p>
            <a:r>
              <a:rPr lang="en-US" sz="1800" dirty="0"/>
              <a:t>It compares:</a:t>
            </a:r>
          </a:p>
          <a:p>
            <a:pPr marL="685800" lvl="1"/>
            <a:r>
              <a:rPr lang="en-US" sz="1600" b="1" dirty="0"/>
              <a:t>Actual values</a:t>
            </a:r>
            <a:r>
              <a:rPr lang="en-US" sz="1600" dirty="0"/>
              <a:t> (True labels)</a:t>
            </a:r>
          </a:p>
          <a:p>
            <a:pPr marL="685800" lvl="1"/>
            <a:r>
              <a:rPr lang="en-US" sz="1600" b="1" dirty="0"/>
              <a:t>Predicted values</a:t>
            </a:r>
            <a:r>
              <a:rPr lang="en-US" sz="1600" dirty="0"/>
              <a:t> (Model output)</a:t>
            </a:r>
          </a:p>
          <a:p>
            <a:r>
              <a:rPr lang="en-US" sz="1800" dirty="0"/>
              <a:t>It helps us understand </a:t>
            </a:r>
            <a:r>
              <a:rPr lang="en-US" sz="1800" b="1" dirty="0"/>
              <a:t>how many predictions were correct or wrong</a:t>
            </a:r>
            <a:r>
              <a:rPr lang="en-US" sz="1800" dirty="0"/>
              <a:t>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93440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0391A-7F4D-0F85-2C8C-D45AE76A0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Confusion Matrix Structure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2BEE662-F776-DE50-BC7E-83F0E8511D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4151" y="1358644"/>
            <a:ext cx="3550674" cy="2906398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C9ED79A-93FA-000C-47D3-55F3FDFFCE50}"/>
              </a:ext>
            </a:extLst>
          </p:cNvPr>
          <p:cNvSpPr txBox="1"/>
          <p:nvPr/>
        </p:nvSpPr>
        <p:spPr>
          <a:xfrm>
            <a:off x="457200" y="4393775"/>
            <a:ext cx="82295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Example:</a:t>
            </a:r>
            <a:endParaRPr lang="en-US" dirty="0"/>
          </a:p>
          <a:p>
            <a:pPr lvl="1"/>
            <a:r>
              <a:rPr lang="en-US" dirty="0"/>
              <a:t>To understand the matrix, we define four outcomes: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True Positive (TP):</a:t>
            </a:r>
            <a:r>
              <a:rPr lang="en-US" dirty="0"/>
              <a:t> You predicted positive and it is true.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True Negative (TN):</a:t>
            </a:r>
            <a:r>
              <a:rPr lang="en-US" dirty="0"/>
              <a:t> You predicted negative and it is true.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False Positive (FP):</a:t>
            </a:r>
            <a:r>
              <a:rPr lang="en-US" dirty="0"/>
              <a:t> You predicted positive and it is false. (</a:t>
            </a:r>
            <a:r>
              <a:rPr lang="en-US" b="1" dirty="0"/>
              <a:t>Type I Error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False Negative (FN):</a:t>
            </a:r>
            <a:r>
              <a:rPr lang="en-US" dirty="0"/>
              <a:t> You predicted negative and it is false. (</a:t>
            </a:r>
            <a:r>
              <a:rPr lang="en-US" b="1" dirty="0"/>
              <a:t>Type II Error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79493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51BE-F091-2846-A425-AEADFD3F8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Sensitivity (Recall / True Positive Rate)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F5639-FE1D-B908-7C6B-4B0F56D63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Definition:</a:t>
            </a:r>
            <a:br>
              <a:rPr lang="en-US" sz="1800" dirty="0"/>
            </a:br>
            <a:r>
              <a:rPr lang="en-US" sz="1800" dirty="0"/>
              <a:t>	Sensitivity measures how well the model identifies </a:t>
            </a:r>
            <a:r>
              <a:rPr lang="en-US" sz="1800" b="1" dirty="0"/>
              <a:t>positive cases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b="1" dirty="0"/>
              <a:t>Formula:</a:t>
            </a:r>
            <a:br>
              <a:rPr lang="en-US" sz="1800" dirty="0"/>
            </a:br>
            <a:r>
              <a:rPr lang="en-US" sz="1800" dirty="0"/>
              <a:t>Sensitivity = TP / (TP + FN)</a:t>
            </a:r>
          </a:p>
          <a:p>
            <a:endParaRPr lang="en-US" sz="1800" dirty="0"/>
          </a:p>
          <a:p>
            <a:r>
              <a:rPr lang="en-US" sz="1800" b="1" dirty="0"/>
              <a:t>Simple words:</a:t>
            </a:r>
            <a:br>
              <a:rPr lang="en-US" sz="1800" dirty="0"/>
            </a:br>
            <a:r>
              <a:rPr lang="en-US" sz="1800" dirty="0"/>
              <a:t>	Out of all actual positives, how many did we correctly predict?</a:t>
            </a:r>
          </a:p>
          <a:p>
            <a:endParaRPr lang="en-US" sz="1800" dirty="0"/>
          </a:p>
          <a:p>
            <a:r>
              <a:rPr lang="en-US" sz="1800" b="1" dirty="0"/>
              <a:t>Real-life example:</a:t>
            </a:r>
            <a:br>
              <a:rPr lang="en-US" sz="1800" dirty="0"/>
            </a:br>
            <a:r>
              <a:rPr lang="en-US" sz="1800" dirty="0"/>
              <a:t>In disease detection, </a:t>
            </a:r>
            <a:r>
              <a:rPr lang="en-US" sz="1800" b="1" dirty="0"/>
              <a:t>high sensitivity</a:t>
            </a:r>
            <a:r>
              <a:rPr lang="en-US" sz="1800" dirty="0"/>
              <a:t> means fewer sick patients are missed.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07680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2A9C3-514D-CC3B-F533-FD35604D5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Specificity (True Negative Rate)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9F7E4-E7A0-9378-0FCD-19F4A4E4C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/>
              <a:t>Definition:</a:t>
            </a:r>
            <a:br>
              <a:rPr lang="en-US" sz="1800" dirty="0"/>
            </a:br>
            <a:r>
              <a:rPr lang="en-US" sz="1800" dirty="0"/>
              <a:t>	Specificity measures how well the model identifies </a:t>
            </a:r>
            <a:r>
              <a:rPr lang="en-US" sz="1800" b="1" dirty="0"/>
              <a:t>negative cases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b="1" dirty="0"/>
              <a:t>Formula:</a:t>
            </a:r>
            <a:br>
              <a:rPr lang="en-US" sz="1800" dirty="0"/>
            </a:br>
            <a:r>
              <a:rPr lang="en-US" sz="1800" dirty="0"/>
              <a:t>Specificity = TN / (TN + FP)</a:t>
            </a:r>
          </a:p>
          <a:p>
            <a:endParaRPr lang="en-US" sz="1800" dirty="0"/>
          </a:p>
          <a:p>
            <a:r>
              <a:rPr lang="en-US" sz="1800" b="1" dirty="0"/>
              <a:t>Simple words:</a:t>
            </a:r>
          </a:p>
          <a:p>
            <a:pPr marL="0" indent="0">
              <a:buNone/>
            </a:pPr>
            <a:r>
              <a:rPr lang="en-US" sz="1800" b="1" dirty="0"/>
              <a:t>	</a:t>
            </a:r>
            <a:r>
              <a:rPr lang="en-US" sz="1800" dirty="0"/>
              <a:t>Out of all actual negatives, how many did we correctly predict?“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b="1" dirty="0"/>
              <a:t>Real-life example:</a:t>
            </a:r>
            <a:br>
              <a:rPr lang="en-US" sz="1800" dirty="0"/>
            </a:br>
            <a:r>
              <a:rPr lang="en-US" sz="1800" dirty="0"/>
              <a:t>High specificity means </a:t>
            </a:r>
            <a:r>
              <a:rPr lang="en-US" sz="1800" b="1" dirty="0"/>
              <a:t>healthy people are not wrongly labeled as sick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Key Note:</a:t>
            </a:r>
            <a:endParaRPr lang="en-US" sz="1800" dirty="0"/>
          </a:p>
          <a:p>
            <a:r>
              <a:rPr lang="en-US" sz="1800" dirty="0"/>
              <a:t>Sensitivity focuses on </a:t>
            </a:r>
            <a:r>
              <a:rPr lang="en-US" sz="1800" b="1" dirty="0"/>
              <a:t>positives</a:t>
            </a:r>
            <a:endParaRPr lang="en-US" sz="1800" dirty="0"/>
          </a:p>
          <a:p>
            <a:r>
              <a:rPr lang="en-US" sz="1800" dirty="0"/>
              <a:t>Specificity focuses on </a:t>
            </a:r>
            <a:r>
              <a:rPr lang="en-US" sz="1800" b="1" dirty="0"/>
              <a:t>negatives</a:t>
            </a: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2984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2E59A-B4F5-02F9-52F8-1DAA09857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Confusion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3E49B-2519-BB25-FCC7-234AAD0D6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0585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Spam Email Classification</a:t>
            </a:r>
          </a:p>
          <a:p>
            <a:pPr marL="0" indent="0">
              <a:buNone/>
            </a:pPr>
            <a:r>
              <a:rPr lang="en-US" sz="1600" dirty="0"/>
              <a:t>	A spam classifier is tested on </a:t>
            </a:r>
            <a:r>
              <a:rPr lang="en-US" sz="1600" b="1" dirty="0"/>
              <a:t>100 emails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en-US" sz="1600" b="1" dirty="0"/>
              <a:t>	Actual Spam emails:</a:t>
            </a:r>
            <a:r>
              <a:rPr lang="en-US" sz="1600" dirty="0"/>
              <a:t> 40</a:t>
            </a:r>
          </a:p>
          <a:p>
            <a:pPr marL="0" indent="0">
              <a:buNone/>
            </a:pPr>
            <a:r>
              <a:rPr lang="en-US" sz="1600" b="1" dirty="0"/>
              <a:t>	Actual Not Spam emails:</a:t>
            </a:r>
            <a:r>
              <a:rPr lang="en-US" sz="1600" dirty="0"/>
              <a:t> 60</a:t>
            </a:r>
          </a:p>
          <a:p>
            <a:pPr marL="0" indent="0">
              <a:buNone/>
            </a:pPr>
            <a:r>
              <a:rPr lang="en-US" sz="1600" dirty="0"/>
              <a:t>Model predictions:</a:t>
            </a:r>
          </a:p>
          <a:p>
            <a:pPr marL="0" indent="0">
              <a:buNone/>
            </a:pPr>
            <a:r>
              <a:rPr lang="en-US" sz="1600" dirty="0"/>
              <a:t>	Spam correctly predicted as Spam = </a:t>
            </a:r>
            <a:r>
              <a:rPr lang="en-US" sz="1600" b="1" dirty="0"/>
              <a:t>30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	Spam predicted as Not Spam = </a:t>
            </a:r>
            <a:r>
              <a:rPr lang="en-US" sz="1600" b="1" dirty="0"/>
              <a:t>10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	Not Spam predicted as Spam = </a:t>
            </a:r>
            <a:r>
              <a:rPr lang="en-US" sz="1600" b="1" dirty="0"/>
              <a:t>5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	Not Spam correctly predicted as Not Spam = </a:t>
            </a:r>
            <a:r>
              <a:rPr lang="en-US" sz="1600" b="1" dirty="0"/>
              <a:t>55</a:t>
            </a:r>
            <a:endParaRPr lang="en-US" sz="1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04C3BD-5D72-6B6D-3754-EDFAB8D6AC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021695"/>
              </p:ext>
            </p:extLst>
          </p:nvPr>
        </p:nvGraphicFramePr>
        <p:xfrm>
          <a:off x="5545393" y="2379407"/>
          <a:ext cx="3303636" cy="12060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212">
                  <a:extLst>
                    <a:ext uri="{9D8B030D-6E8A-4147-A177-3AD203B41FA5}">
                      <a16:colId xmlns:a16="http://schemas.microsoft.com/office/drawing/2014/main" val="565184946"/>
                    </a:ext>
                  </a:extLst>
                </a:gridCol>
                <a:gridCol w="1101212">
                  <a:extLst>
                    <a:ext uri="{9D8B030D-6E8A-4147-A177-3AD203B41FA5}">
                      <a16:colId xmlns:a16="http://schemas.microsoft.com/office/drawing/2014/main" val="3816219487"/>
                    </a:ext>
                  </a:extLst>
                </a:gridCol>
                <a:gridCol w="1101212">
                  <a:extLst>
                    <a:ext uri="{9D8B030D-6E8A-4147-A177-3AD203B41FA5}">
                      <a16:colId xmlns:a16="http://schemas.microsoft.com/office/drawing/2014/main" val="1241796948"/>
                    </a:ext>
                  </a:extLst>
                </a:gridCol>
              </a:tblGrid>
              <a:tr h="422787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472101"/>
                  </a:ext>
                </a:extLst>
              </a:tr>
              <a:tr h="41746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484845"/>
                  </a:ext>
                </a:extLst>
              </a:tr>
              <a:tr h="3539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68952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D8D43E5-AB04-2546-6979-381AF8A39409}"/>
              </a:ext>
            </a:extLst>
          </p:cNvPr>
          <p:cNvSpPr txBox="1"/>
          <p:nvPr/>
        </p:nvSpPr>
        <p:spPr>
          <a:xfrm>
            <a:off x="7197211" y="2021411"/>
            <a:ext cx="1189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B5404C-4BBA-7EFE-A02A-400D81CFF95F}"/>
              </a:ext>
            </a:extLst>
          </p:cNvPr>
          <p:cNvSpPr txBox="1"/>
          <p:nvPr/>
        </p:nvSpPr>
        <p:spPr>
          <a:xfrm rot="16200000">
            <a:off x="4876801" y="2997627"/>
            <a:ext cx="806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Actual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9D9742-04A5-D3F0-7E56-0F3E2ED22DA1}"/>
                  </a:ext>
                </a:extLst>
              </p:cNvPr>
              <p:cNvSpPr txBox="1"/>
              <p:nvPr/>
            </p:nvSpPr>
            <p:spPr>
              <a:xfrm>
                <a:off x="811162" y="4596294"/>
                <a:ext cx="3495367" cy="4912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Accuracy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TP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𝑇𝑁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Total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85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ar-AE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9D9742-04A5-D3F0-7E56-0F3E2ED22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62" y="4596294"/>
                <a:ext cx="3495367" cy="491288"/>
              </a:xfrm>
              <a:prstGeom prst="rect">
                <a:avLst/>
              </a:prstGeom>
              <a:blipFill>
                <a:blip r:embed="rId2"/>
                <a:stretch>
                  <a:fillRect l="-1396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9339D2-ACD8-AEFD-AE5A-515A3B403D2A}"/>
                  </a:ext>
                </a:extLst>
              </p:cNvPr>
              <p:cNvSpPr txBox="1"/>
              <p:nvPr/>
            </p:nvSpPr>
            <p:spPr>
              <a:xfrm>
                <a:off x="766295" y="5167569"/>
                <a:ext cx="3805705" cy="4912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+mj-lt"/>
                  </a:rPr>
                  <a:t>Precision 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TP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TP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FP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85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7</m:t>
                    </m:r>
                    <m:r>
                      <a:rPr lang="ar-AE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9339D2-ACD8-AEFD-AE5A-515A3B403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295" y="5167569"/>
                <a:ext cx="3805705" cy="491225"/>
              </a:xfrm>
              <a:prstGeom prst="rect">
                <a:avLst/>
              </a:prstGeom>
              <a:blipFill>
                <a:blip r:embed="rId3"/>
                <a:stretch>
                  <a:fillRect l="-1442" b="-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72FBA7E-2CD2-9412-09DE-60B0FDCBD079}"/>
                  </a:ext>
                </a:extLst>
              </p:cNvPr>
              <p:cNvSpPr txBox="1"/>
              <p:nvPr/>
            </p:nvSpPr>
            <p:spPr>
              <a:xfrm>
                <a:off x="4472293" y="4586804"/>
                <a:ext cx="4048743" cy="5102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Sensitivity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TP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TP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75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ar-AE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72FBA7E-2CD2-9412-09DE-60B0FDCBD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293" y="4586804"/>
                <a:ext cx="4048743" cy="510268"/>
              </a:xfrm>
              <a:prstGeom prst="rect">
                <a:avLst/>
              </a:prstGeom>
              <a:blipFill>
                <a:blip r:embed="rId4"/>
                <a:stretch>
                  <a:fillRect l="-1355"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1B19AE9-49D5-DF65-5C90-F8E6B0D0C6BC}"/>
                  </a:ext>
                </a:extLst>
              </p:cNvPr>
              <p:cNvSpPr txBox="1"/>
              <p:nvPr/>
            </p:nvSpPr>
            <p:spPr>
              <a:xfrm>
                <a:off x="4472292" y="5168980"/>
                <a:ext cx="4048743" cy="4898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Specificity 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TN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FP</m:t>
                        </m:r>
                      </m:den>
                    </m:f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91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6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ar-AE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1B19AE9-49D5-DF65-5C90-F8E6B0D0C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292" y="5168980"/>
                <a:ext cx="4048743" cy="489814"/>
              </a:xfrm>
              <a:prstGeom prst="rect">
                <a:avLst/>
              </a:prstGeom>
              <a:blipFill>
                <a:blip r:embed="rId5"/>
                <a:stretch>
                  <a:fillRect l="-1355" b="-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E5E58508-B1AD-6882-2861-0497BB561BD0}"/>
              </a:ext>
            </a:extLst>
          </p:cNvPr>
          <p:cNvSpPr txBox="1"/>
          <p:nvPr/>
        </p:nvSpPr>
        <p:spPr>
          <a:xfrm>
            <a:off x="766295" y="5772247"/>
            <a:ext cx="78467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Accuracy: </a:t>
            </a:r>
            <a:r>
              <a:rPr lang="en-US" sz="1400" dirty="0"/>
              <a:t>Overall correctness of the model</a:t>
            </a:r>
          </a:p>
          <a:p>
            <a:pPr>
              <a:buNone/>
            </a:pPr>
            <a:r>
              <a:rPr lang="en-US" sz="1400" b="1" dirty="0"/>
              <a:t>Precision: </a:t>
            </a:r>
            <a:r>
              <a:rPr lang="en-US" sz="1400" dirty="0"/>
              <a:t>How many predicted Spam emails were actually Spam</a:t>
            </a:r>
          </a:p>
          <a:p>
            <a:pPr>
              <a:buNone/>
            </a:pPr>
            <a:r>
              <a:rPr lang="en-US" sz="1400" b="1" dirty="0"/>
              <a:t>Recall (Sensitivity):</a:t>
            </a:r>
            <a:r>
              <a:rPr lang="en-US" sz="1400" dirty="0"/>
              <a:t> How many actual Spam emails were correctly identified</a:t>
            </a:r>
          </a:p>
          <a:p>
            <a:pPr>
              <a:buNone/>
            </a:pPr>
            <a:r>
              <a:rPr lang="en-US" sz="1400" b="1" dirty="0"/>
              <a:t>Specificity:</a:t>
            </a:r>
            <a:r>
              <a:rPr lang="en-US" sz="1400" dirty="0"/>
              <a:t> How well the model identified Not Spam emails</a:t>
            </a:r>
            <a:endParaRPr lang="ar-AE" sz="1400" dirty="0"/>
          </a:p>
        </p:txBody>
      </p:sp>
    </p:spTree>
    <p:extLst>
      <p:ext uri="{BB962C8B-B14F-4D97-AF65-F5344CB8AC3E}">
        <p14:creationId xmlns:p14="http://schemas.microsoft.com/office/powerpoint/2010/main" val="1235287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E370E-5584-689E-4791-788AFC3EA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Bayesian Network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A5D85-EBDD-0E99-EE2C-FD5B71708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724400" cy="4525963"/>
          </a:xfrm>
        </p:spPr>
        <p:txBody>
          <a:bodyPr>
            <a:normAutofit/>
          </a:bodyPr>
          <a:lstStyle/>
          <a:p>
            <a:r>
              <a:rPr lang="en-US" sz="1800" dirty="0"/>
              <a:t>To represent uncertainty.</a:t>
            </a:r>
          </a:p>
          <a:p>
            <a:r>
              <a:rPr lang="en-US" sz="1800" dirty="0"/>
              <a:t>Graphical model to represent probability.</a:t>
            </a:r>
          </a:p>
          <a:p>
            <a:r>
              <a:rPr lang="en-US" sz="1800" dirty="0"/>
              <a:t>It uses Direct Acyclic Graph (DAG).</a:t>
            </a:r>
          </a:p>
          <a:p>
            <a:endParaRPr lang="en-US" sz="1800" dirty="0"/>
          </a:p>
          <a:p>
            <a:r>
              <a:rPr lang="en-US" sz="1800" b="1" dirty="0"/>
              <a:t>Why use it?</a:t>
            </a:r>
            <a:r>
              <a:rPr lang="en-US" sz="1800" dirty="0"/>
              <a:t> In real life, things are uncertain. This helps us make decisions when we aren't 100% sure.</a:t>
            </a:r>
          </a:p>
          <a:p>
            <a:endParaRPr lang="en-US" sz="1800" dirty="0"/>
          </a:p>
          <a:p>
            <a:r>
              <a:rPr lang="en-US" sz="1800" b="1" dirty="0"/>
              <a:t>Two Main Parts:</a:t>
            </a:r>
            <a:endParaRPr lang="en-US" sz="1800" dirty="0"/>
          </a:p>
          <a:p>
            <a:pPr lvl="1"/>
            <a:r>
              <a:rPr lang="en-US" sz="1800" b="1" dirty="0"/>
              <a:t>Nodes (Circles):</a:t>
            </a:r>
            <a:r>
              <a:rPr lang="en-US" sz="1800" dirty="0"/>
              <a:t> These represent events (e.g., "It is raining," "I am late").</a:t>
            </a:r>
          </a:p>
          <a:p>
            <a:pPr lvl="1"/>
            <a:r>
              <a:rPr lang="en-US" sz="1800" b="1" dirty="0"/>
              <a:t>Arrows (Lines):</a:t>
            </a:r>
            <a:r>
              <a:rPr lang="en-US" sz="1800" dirty="0"/>
              <a:t> These show cause and effect (e.g., Rain → Wet Grass).</a:t>
            </a:r>
          </a:p>
          <a:p>
            <a:endParaRPr lang="en-US" sz="1800" dirty="0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60F2350B-09A9-CB08-BC16-098EC8A95EBC}"/>
              </a:ext>
            </a:extLst>
          </p:cNvPr>
          <p:cNvSpPr/>
          <p:nvPr/>
        </p:nvSpPr>
        <p:spPr>
          <a:xfrm>
            <a:off x="6331974" y="1533167"/>
            <a:ext cx="1199536" cy="1143000"/>
          </a:xfrm>
          <a:prstGeom prst="flowChartConnector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Cloudy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34729C5A-C996-E8E1-001D-AE9308D14708}"/>
              </a:ext>
            </a:extLst>
          </p:cNvPr>
          <p:cNvSpPr/>
          <p:nvPr/>
        </p:nvSpPr>
        <p:spPr>
          <a:xfrm>
            <a:off x="5442155" y="3062748"/>
            <a:ext cx="1199536" cy="1143000"/>
          </a:xfrm>
          <a:prstGeom prst="flowChartConnector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Rain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0E877E57-C2A2-E37F-7006-DFF993CBE982}"/>
              </a:ext>
            </a:extLst>
          </p:cNvPr>
          <p:cNvSpPr/>
          <p:nvPr/>
        </p:nvSpPr>
        <p:spPr>
          <a:xfrm>
            <a:off x="7290619" y="3062748"/>
            <a:ext cx="1199536" cy="1143000"/>
          </a:xfrm>
          <a:prstGeom prst="flowChartConnector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Sprinkler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5A0CE4AF-49D4-D473-54B1-3BA8A1330730}"/>
              </a:ext>
            </a:extLst>
          </p:cNvPr>
          <p:cNvSpPr/>
          <p:nvPr/>
        </p:nvSpPr>
        <p:spPr>
          <a:xfrm>
            <a:off x="6336890" y="4592329"/>
            <a:ext cx="1199536" cy="1143000"/>
          </a:xfrm>
          <a:prstGeom prst="flowChartConnector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Wet Grass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CDEE7D-D77F-081F-3BCA-E57C4A41015E}"/>
              </a:ext>
            </a:extLst>
          </p:cNvPr>
          <p:cNvCxnSpPr>
            <a:stCxn id="4" idx="3"/>
            <a:endCxn id="6" idx="0"/>
          </p:cNvCxnSpPr>
          <p:nvPr/>
        </p:nvCxnSpPr>
        <p:spPr>
          <a:xfrm flipH="1">
            <a:off x="6041923" y="2508779"/>
            <a:ext cx="465719" cy="553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E41D82-0D3E-5E40-A770-D05587106E44}"/>
              </a:ext>
            </a:extLst>
          </p:cNvPr>
          <p:cNvCxnSpPr>
            <a:stCxn id="4" idx="5"/>
            <a:endCxn id="7" idx="0"/>
          </p:cNvCxnSpPr>
          <p:nvPr/>
        </p:nvCxnSpPr>
        <p:spPr>
          <a:xfrm>
            <a:off x="7355842" y="2508779"/>
            <a:ext cx="534545" cy="553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0B1E6D2-A204-AF66-3DDA-0CAE560BDFA4}"/>
              </a:ext>
            </a:extLst>
          </p:cNvPr>
          <p:cNvCxnSpPr>
            <a:stCxn id="6" idx="4"/>
            <a:endCxn id="8" idx="1"/>
          </p:cNvCxnSpPr>
          <p:nvPr/>
        </p:nvCxnSpPr>
        <p:spPr>
          <a:xfrm>
            <a:off x="6041923" y="4205748"/>
            <a:ext cx="470635" cy="553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E2DE8F9-EC23-44EA-F95B-546667154135}"/>
              </a:ext>
            </a:extLst>
          </p:cNvPr>
          <p:cNvCxnSpPr>
            <a:cxnSpLocks/>
            <a:stCxn id="7" idx="4"/>
            <a:endCxn id="8" idx="7"/>
          </p:cNvCxnSpPr>
          <p:nvPr/>
        </p:nvCxnSpPr>
        <p:spPr>
          <a:xfrm flipH="1">
            <a:off x="7360758" y="4205748"/>
            <a:ext cx="529629" cy="553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7948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0D45-7B84-372D-839A-1FDF676CF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739B5-71FF-B0FA-286F-27E39323B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Autofit/>
          </a:bodyPr>
          <a:lstStyle/>
          <a:p>
            <a:r>
              <a:rPr lang="en-US" sz="1800" dirty="0"/>
              <a:t>A Bayesian Network consists of three variables: </a:t>
            </a:r>
            <a:r>
              <a:rPr lang="en-US" sz="1800" b="1" dirty="0"/>
              <a:t>Storm</a:t>
            </a:r>
            <a:r>
              <a:rPr lang="en-US" sz="1800" dirty="0"/>
              <a:t>, </a:t>
            </a:r>
            <a:r>
              <a:rPr lang="en-US" sz="1800" b="1" dirty="0"/>
              <a:t>Generator</a:t>
            </a:r>
            <a:r>
              <a:rPr lang="en-US" sz="1800" dirty="0"/>
              <a:t>, and </a:t>
            </a:r>
            <a:r>
              <a:rPr lang="en-US" sz="1800" b="1" dirty="0"/>
              <a:t>Power Outage</a:t>
            </a:r>
            <a:r>
              <a:rPr lang="en-US" sz="1800" dirty="0"/>
              <a:t>. </a:t>
            </a:r>
            <a:r>
              <a:rPr lang="en-US" sz="1800" i="1" dirty="0"/>
              <a:t>Storm</a:t>
            </a:r>
            <a:r>
              <a:rPr lang="en-US" sz="1800" dirty="0"/>
              <a:t> is an independent variable. </a:t>
            </a:r>
            <a:r>
              <a:rPr lang="en-US" sz="1800" i="1" dirty="0"/>
              <a:t>Generator</a:t>
            </a:r>
            <a:r>
              <a:rPr lang="en-US" sz="1800" dirty="0"/>
              <a:t> depends on </a:t>
            </a:r>
            <a:r>
              <a:rPr lang="en-US" sz="1800" i="1" dirty="0"/>
              <a:t>Storm</a:t>
            </a:r>
            <a:r>
              <a:rPr lang="en-US" sz="1800" dirty="0"/>
              <a:t>, and </a:t>
            </a:r>
            <a:r>
              <a:rPr lang="en-US" sz="1800" i="1" dirty="0"/>
              <a:t>Power Outage</a:t>
            </a:r>
            <a:r>
              <a:rPr lang="en-US" sz="1800" dirty="0"/>
              <a:t> depends on both </a:t>
            </a:r>
            <a:r>
              <a:rPr lang="en-US" sz="1800" i="1" dirty="0"/>
              <a:t>Storm</a:t>
            </a:r>
            <a:r>
              <a:rPr lang="en-US" sz="1800" dirty="0"/>
              <a:t> and </a:t>
            </a:r>
            <a:r>
              <a:rPr lang="en-US" sz="1800" i="1" dirty="0"/>
              <a:t>Generator</a:t>
            </a:r>
            <a:r>
              <a:rPr lang="en-US" sz="1800" dirty="0"/>
              <a:t>. The probability of a storm is 0.3. If a storm occurs, the generator is on with probability 0.2; otherwise, it is on with probability 0.8. The probability of a power outage depends on both storm and generator conditions.</a:t>
            </a:r>
          </a:p>
          <a:p>
            <a:r>
              <a:rPr lang="en-US" sz="1800" b="1" dirty="0"/>
              <a:t>Draw the Bayesian Network and find the probability of a power outage.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E5B6E1-5DC1-D373-D4F9-C897F29C9E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477427"/>
              </p:ext>
            </p:extLst>
          </p:nvPr>
        </p:nvGraphicFramePr>
        <p:xfrm>
          <a:off x="869950" y="3595639"/>
          <a:ext cx="2311401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467">
                  <a:extLst>
                    <a:ext uri="{9D8B030D-6E8A-4147-A177-3AD203B41FA5}">
                      <a16:colId xmlns:a16="http://schemas.microsoft.com/office/drawing/2014/main" val="2528064209"/>
                    </a:ext>
                  </a:extLst>
                </a:gridCol>
                <a:gridCol w="770467">
                  <a:extLst>
                    <a:ext uri="{9D8B030D-6E8A-4147-A177-3AD203B41FA5}">
                      <a16:colId xmlns:a16="http://schemas.microsoft.com/office/drawing/2014/main" val="37085726"/>
                    </a:ext>
                  </a:extLst>
                </a:gridCol>
                <a:gridCol w="770467">
                  <a:extLst>
                    <a:ext uri="{9D8B030D-6E8A-4147-A177-3AD203B41FA5}">
                      <a16:colId xmlns:a16="http://schemas.microsoft.com/office/drawing/2014/main" val="10675742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Storm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071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64973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527507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2D6B361-649F-F2DF-D43A-54F737CCE7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816427"/>
              </p:ext>
            </p:extLst>
          </p:nvPr>
        </p:nvGraphicFramePr>
        <p:xfrm>
          <a:off x="869950" y="5018040"/>
          <a:ext cx="2311401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467">
                  <a:extLst>
                    <a:ext uri="{9D8B030D-6E8A-4147-A177-3AD203B41FA5}">
                      <a16:colId xmlns:a16="http://schemas.microsoft.com/office/drawing/2014/main" val="2528064209"/>
                    </a:ext>
                  </a:extLst>
                </a:gridCol>
                <a:gridCol w="770467">
                  <a:extLst>
                    <a:ext uri="{9D8B030D-6E8A-4147-A177-3AD203B41FA5}">
                      <a16:colId xmlns:a16="http://schemas.microsoft.com/office/drawing/2014/main" val="37085726"/>
                    </a:ext>
                  </a:extLst>
                </a:gridCol>
                <a:gridCol w="770467">
                  <a:extLst>
                    <a:ext uri="{9D8B030D-6E8A-4147-A177-3AD203B41FA5}">
                      <a16:colId xmlns:a16="http://schemas.microsoft.com/office/drawing/2014/main" val="1067574201"/>
                    </a:ext>
                  </a:extLst>
                </a:gridCol>
              </a:tblGrid>
              <a:tr h="31113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Storm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Generator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07108"/>
                  </a:ext>
                </a:extLst>
              </a:tr>
              <a:tr h="276869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649735"/>
                  </a:ext>
                </a:extLst>
              </a:tr>
              <a:tr h="2768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5275071"/>
                  </a:ext>
                </a:extLst>
              </a:tr>
              <a:tr h="2768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809282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75EFDF3-23D3-2E36-F961-A077F7EC8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888948"/>
              </p:ext>
            </p:extLst>
          </p:nvPr>
        </p:nvGraphicFramePr>
        <p:xfrm>
          <a:off x="3489324" y="3595639"/>
          <a:ext cx="478472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1565">
                  <a:extLst>
                    <a:ext uri="{9D8B030D-6E8A-4147-A177-3AD203B41FA5}">
                      <a16:colId xmlns:a16="http://schemas.microsoft.com/office/drawing/2014/main" val="3823951620"/>
                    </a:ext>
                  </a:extLst>
                </a:gridCol>
                <a:gridCol w="1156950">
                  <a:extLst>
                    <a:ext uri="{9D8B030D-6E8A-4147-A177-3AD203B41FA5}">
                      <a16:colId xmlns:a16="http://schemas.microsoft.com/office/drawing/2014/main" val="2183095778"/>
                    </a:ext>
                  </a:extLst>
                </a:gridCol>
                <a:gridCol w="2486211">
                  <a:extLst>
                    <a:ext uri="{9D8B030D-6E8A-4147-A177-3AD203B41FA5}">
                      <a16:colId xmlns:a16="http://schemas.microsoft.com/office/drawing/2014/main" val="16333516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Power Outage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966102"/>
                  </a:ext>
                </a:extLst>
              </a:tr>
              <a:tr h="2312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868955"/>
                  </a:ext>
                </a:extLst>
              </a:tr>
              <a:tr h="2312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199886"/>
                  </a:ext>
                </a:extLst>
              </a:tr>
              <a:tr h="2312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1012060"/>
                  </a:ext>
                </a:extLst>
              </a:tr>
              <a:tr h="2312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609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6668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4DB6C-A09A-99CE-D3CC-37024DE3A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378"/>
            <a:ext cx="8229600" cy="1143000"/>
          </a:xfrm>
        </p:spPr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C296BA-2CA3-FF11-B82F-7A4074934630}"/>
                  </a:ext>
                </a:extLst>
              </p:cNvPr>
              <p:cNvSpPr txBox="1"/>
              <p:nvPr/>
            </p:nvSpPr>
            <p:spPr>
              <a:xfrm>
                <a:off x="2288127" y="926896"/>
                <a:ext cx="3874394" cy="6724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𝑃𝑂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pt-BR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𝑆𝐺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𝑃𝑂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C296BA-2CA3-FF11-B82F-7A4074934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127" y="926896"/>
                <a:ext cx="3874394" cy="6724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30759EB-0428-2B5F-C73D-E91C06F05443}"/>
                  </a:ext>
                </a:extLst>
              </p:cNvPr>
              <p:cNvSpPr txBox="1"/>
              <p:nvPr/>
            </p:nvSpPr>
            <p:spPr>
              <a:xfrm>
                <a:off x="571500" y="1827260"/>
                <a:ext cx="4083050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𝑃𝑂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𝑆𝑇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𝐺𝑇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pt-BR" sz="16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𝑃𝑂</m:t>
                          </m:r>
                        </m:e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1600" i="1" baseline="-2500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𝐺𝑇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1600" b="0" i="1" baseline="-2500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1600" i="1" baseline="-2500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𝑆𝑇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30759EB-0428-2B5F-C73D-E91C06F05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827260"/>
                <a:ext cx="4083050" cy="246221"/>
              </a:xfrm>
              <a:prstGeom prst="rect">
                <a:avLst/>
              </a:prstGeom>
              <a:blipFill>
                <a:blip r:embed="rId3"/>
                <a:stretch>
                  <a:fillRect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859D9CCC-D540-C8AB-20FD-70486C2B5409}"/>
              </a:ext>
            </a:extLst>
          </p:cNvPr>
          <p:cNvSpPr txBox="1"/>
          <p:nvPr/>
        </p:nvSpPr>
        <p:spPr>
          <a:xfrm>
            <a:off x="514350" y="2079893"/>
            <a:ext cx="3448050" cy="792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P(PO|S</a:t>
            </a:r>
            <a:r>
              <a:rPr lang="en-US" sz="1600" baseline="-25000" dirty="0"/>
              <a:t>T</a:t>
            </a:r>
            <a:r>
              <a:rPr lang="en-US" sz="1600" dirty="0"/>
              <a:t>,G</a:t>
            </a:r>
            <a:r>
              <a:rPr lang="en-US" sz="1600" baseline="-25000" dirty="0"/>
              <a:t>T</a:t>
            </a:r>
            <a:r>
              <a:rPr lang="en-US" sz="1600" dirty="0"/>
              <a:t>) = 0.90 * 0.20 * 0.30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P(PO|S</a:t>
            </a:r>
            <a:r>
              <a:rPr lang="en-US" sz="1600" baseline="-25000" dirty="0"/>
              <a:t>T</a:t>
            </a:r>
            <a:r>
              <a:rPr lang="en-US" sz="1600" dirty="0"/>
              <a:t>,G</a:t>
            </a:r>
            <a:r>
              <a:rPr lang="en-US" sz="1600" baseline="-25000" dirty="0"/>
              <a:t>T</a:t>
            </a:r>
            <a:r>
              <a:rPr lang="en-US" sz="1600" dirty="0"/>
              <a:t>) = 0.054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32D3A19-A8D4-A405-2749-11ABE5D0FCD7}"/>
                  </a:ext>
                </a:extLst>
              </p:cNvPr>
              <p:cNvSpPr txBox="1"/>
              <p:nvPr/>
            </p:nvSpPr>
            <p:spPr>
              <a:xfrm>
                <a:off x="565150" y="3054990"/>
                <a:ext cx="416764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𝑃𝑂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𝑆𝐹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𝐺𝑇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pt-BR" sz="16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𝑃𝑂</m:t>
                          </m:r>
                        </m:e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1600" b="0" i="1" baseline="-25000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𝐺𝑇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1600" b="0" i="1" baseline="-2500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1600" i="1" baseline="-2500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𝑆𝑇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32D3A19-A8D4-A405-2749-11ABE5D0F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50" y="3054990"/>
                <a:ext cx="4167648" cy="246221"/>
              </a:xfrm>
              <a:prstGeom prst="rect">
                <a:avLst/>
              </a:prstGeom>
              <a:blipFill>
                <a:blip r:embed="rId4"/>
                <a:stretch>
                  <a:fillRect b="-31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286FF15F-C1BB-8B60-EB28-DB705D664F17}"/>
              </a:ext>
            </a:extLst>
          </p:cNvPr>
          <p:cNvSpPr txBox="1"/>
          <p:nvPr/>
        </p:nvSpPr>
        <p:spPr>
          <a:xfrm>
            <a:off x="514350" y="3307623"/>
            <a:ext cx="3448050" cy="792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P(PO|S</a:t>
            </a:r>
            <a:r>
              <a:rPr lang="en-US" sz="1600" baseline="-25000" dirty="0"/>
              <a:t>F</a:t>
            </a:r>
            <a:r>
              <a:rPr lang="en-US" sz="1600" dirty="0"/>
              <a:t>,G</a:t>
            </a:r>
            <a:r>
              <a:rPr lang="en-US" sz="1600" baseline="-25000" dirty="0"/>
              <a:t>T</a:t>
            </a:r>
            <a:r>
              <a:rPr lang="en-US" sz="1600" dirty="0"/>
              <a:t>) = 0.20 * 0.80 * 0.70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P(PO|S</a:t>
            </a:r>
            <a:r>
              <a:rPr lang="en-US" sz="1600" baseline="-25000" dirty="0"/>
              <a:t>F</a:t>
            </a:r>
            <a:r>
              <a:rPr lang="en-US" sz="1600" dirty="0"/>
              <a:t>,G</a:t>
            </a:r>
            <a:r>
              <a:rPr lang="en-US" sz="1600" baseline="-25000" dirty="0"/>
              <a:t>T</a:t>
            </a:r>
            <a:r>
              <a:rPr lang="en-US" sz="1600" dirty="0"/>
              <a:t>) = 0.112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49418A3-54E9-2F3D-47DB-C2F7E93245C6}"/>
                  </a:ext>
                </a:extLst>
              </p:cNvPr>
              <p:cNvSpPr txBox="1"/>
              <p:nvPr/>
            </p:nvSpPr>
            <p:spPr>
              <a:xfrm>
                <a:off x="571500" y="4282720"/>
                <a:ext cx="416764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𝑃𝑂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𝑆𝑇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𝐺𝐹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pt-BR" sz="16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𝑃𝑂</m:t>
                          </m:r>
                        </m:e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1600" i="1" baseline="-2500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𝐺𝐹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1600" b="0" i="1" baseline="-2500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1600" b="0" i="1" baseline="-2500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𝑆𝐹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49418A3-54E9-2F3D-47DB-C2F7E932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4282720"/>
                <a:ext cx="4167648" cy="246221"/>
              </a:xfrm>
              <a:prstGeom prst="rect">
                <a:avLst/>
              </a:prstGeom>
              <a:blipFill>
                <a:blip r:embed="rId5"/>
                <a:stretch>
                  <a:fillRect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886A1E99-905C-5AE9-D655-FE5B698DECC4}"/>
              </a:ext>
            </a:extLst>
          </p:cNvPr>
          <p:cNvSpPr txBox="1"/>
          <p:nvPr/>
        </p:nvSpPr>
        <p:spPr>
          <a:xfrm>
            <a:off x="514350" y="4535353"/>
            <a:ext cx="3448050" cy="792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P(PO|S</a:t>
            </a:r>
            <a:r>
              <a:rPr lang="en-US" sz="1600" baseline="-25000" dirty="0"/>
              <a:t>T</a:t>
            </a:r>
            <a:r>
              <a:rPr lang="en-US" sz="1600" dirty="0"/>
              <a:t>,G</a:t>
            </a:r>
            <a:r>
              <a:rPr lang="en-US" sz="1600" baseline="-25000" dirty="0"/>
              <a:t>F</a:t>
            </a:r>
            <a:r>
              <a:rPr lang="en-US" sz="1600" dirty="0"/>
              <a:t>) = 0.60 * 0.80 * 0.30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P(PO|S</a:t>
            </a:r>
            <a:r>
              <a:rPr lang="en-US" sz="1600" baseline="-25000" dirty="0"/>
              <a:t>T</a:t>
            </a:r>
            <a:r>
              <a:rPr lang="en-US" sz="1600" dirty="0"/>
              <a:t>,G</a:t>
            </a:r>
            <a:r>
              <a:rPr lang="en-US" sz="1600" baseline="-25000" dirty="0"/>
              <a:t>F</a:t>
            </a:r>
            <a:r>
              <a:rPr lang="en-US" sz="1600" dirty="0"/>
              <a:t>) = 0.144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01C52A8-DCFB-9135-2F81-409BFC723CA5}"/>
                  </a:ext>
                </a:extLst>
              </p:cNvPr>
              <p:cNvSpPr txBox="1"/>
              <p:nvPr/>
            </p:nvSpPr>
            <p:spPr>
              <a:xfrm>
                <a:off x="514350" y="5454190"/>
                <a:ext cx="416764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𝑃𝑂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𝑆𝐹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𝐺𝐹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pt-BR" sz="16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𝑃𝑂</m:t>
                          </m:r>
                        </m:e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1600" b="0" i="1" baseline="-25000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𝐺𝐹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1600" b="0" i="1" baseline="-2500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1600" b="0" i="1" baseline="-2500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𝑆𝐹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01C52A8-DCFB-9135-2F81-409BFC723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50" y="5454190"/>
                <a:ext cx="4167648" cy="246221"/>
              </a:xfrm>
              <a:prstGeom prst="rect">
                <a:avLst/>
              </a:prstGeom>
              <a:blipFill>
                <a:blip r:embed="rId6"/>
                <a:stretch>
                  <a:fillRect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C95E5D2D-23CB-687D-2858-0788A2FC6F83}"/>
              </a:ext>
            </a:extLst>
          </p:cNvPr>
          <p:cNvSpPr txBox="1"/>
          <p:nvPr/>
        </p:nvSpPr>
        <p:spPr>
          <a:xfrm>
            <a:off x="457200" y="5706823"/>
            <a:ext cx="3448050" cy="792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P(PO|S</a:t>
            </a:r>
            <a:r>
              <a:rPr lang="en-US" sz="1600" baseline="-25000" dirty="0"/>
              <a:t>F</a:t>
            </a:r>
            <a:r>
              <a:rPr lang="en-US" sz="1600" dirty="0"/>
              <a:t>,G</a:t>
            </a:r>
            <a:r>
              <a:rPr lang="en-US" sz="1600" baseline="-25000" dirty="0"/>
              <a:t>F</a:t>
            </a:r>
            <a:r>
              <a:rPr lang="en-US" sz="1600" dirty="0"/>
              <a:t>) = 0.05 * 0.20 * 0.70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P(PO|S</a:t>
            </a:r>
            <a:r>
              <a:rPr lang="en-US" sz="1600" baseline="-25000" dirty="0"/>
              <a:t>F</a:t>
            </a:r>
            <a:r>
              <a:rPr lang="en-US" sz="1600" dirty="0"/>
              <a:t>,G</a:t>
            </a:r>
            <a:r>
              <a:rPr lang="en-US" sz="1600" baseline="-25000" dirty="0"/>
              <a:t>F</a:t>
            </a:r>
            <a:r>
              <a:rPr lang="en-US" sz="1600" dirty="0"/>
              <a:t>) = 0.007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33FD19-F9E1-2463-EC1C-E4682890345E}"/>
              </a:ext>
            </a:extLst>
          </p:cNvPr>
          <p:cNvSpPr txBox="1"/>
          <p:nvPr/>
        </p:nvSpPr>
        <p:spPr>
          <a:xfrm>
            <a:off x="5181602" y="1746730"/>
            <a:ext cx="4083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P(PO) = 0.054 + 0.112 + 0.144 + 0.007</a:t>
            </a:r>
          </a:p>
          <a:p>
            <a:r>
              <a:rPr lang="en-US" dirty="0"/>
              <a:t>P(PO) = 0.317</a:t>
            </a:r>
          </a:p>
        </p:txBody>
      </p:sp>
    </p:spTree>
    <p:extLst>
      <p:ext uri="{BB962C8B-B14F-4D97-AF65-F5344CB8AC3E}">
        <p14:creationId xmlns:p14="http://schemas.microsoft.com/office/powerpoint/2010/main" val="268471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9850</TotalTime>
  <Words>831</Words>
  <Application>Microsoft Office PowerPoint</Application>
  <PresentationFormat>On-screen Show (4:3)</PresentationFormat>
  <Paragraphs>133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 Math</vt:lpstr>
      <vt:lpstr>Office Theme</vt:lpstr>
      <vt:lpstr>Lecture # 8</vt:lpstr>
      <vt:lpstr>Confusion Matrix, Sensitivity &amp; Specificity</vt:lpstr>
      <vt:lpstr>Confusion Matrix Structure</vt:lpstr>
      <vt:lpstr>Sensitivity (Recall / True Positive Rate)</vt:lpstr>
      <vt:lpstr>Specificity (True Negative Rate)</vt:lpstr>
      <vt:lpstr>Example: Confusion Matrix</vt:lpstr>
      <vt:lpstr>Bayesian Network</vt:lpstr>
      <vt:lpstr>Problem</vt:lpstr>
      <vt:lpstr>Solution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Hussain</cp:lastModifiedBy>
  <cp:revision>99</cp:revision>
  <dcterms:created xsi:type="dcterms:W3CDTF">2013-01-27T09:14:16Z</dcterms:created>
  <dcterms:modified xsi:type="dcterms:W3CDTF">2026-02-01T09:05:34Z</dcterms:modified>
  <cp:category/>
</cp:coreProperties>
</file>