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9" r:id="rId5"/>
    <p:sldId id="268" r:id="rId6"/>
    <p:sldId id="260" r:id="rId7"/>
    <p:sldId id="262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3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298575"/>
          </a:xfrm>
        </p:spPr>
        <p:txBody>
          <a:bodyPr/>
          <a:lstStyle/>
          <a:p>
            <a:r>
              <a:rPr lang="en-US" dirty="0"/>
              <a:t>Lecture # 3</a:t>
            </a:r>
            <a:endParaRPr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DFA82B-49AC-34CF-6241-B403267B1D01}"/>
              </a:ext>
            </a:extLst>
          </p:cNvPr>
          <p:cNvSpPr txBox="1">
            <a:spLocks/>
          </p:cNvSpPr>
          <p:nvPr/>
        </p:nvSpPr>
        <p:spPr>
          <a:xfrm>
            <a:off x="685800" y="3039909"/>
            <a:ext cx="7772400" cy="1298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Solving by Searching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What is Problem Solving by Searching?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2000" dirty="0"/>
              <a:t>Finding a sequence of actions that transforms the initial state into a goal state.</a:t>
            </a:r>
          </a:p>
          <a:p>
            <a:endParaRPr lang="en-US" sz="2000" b="1" dirty="0"/>
          </a:p>
          <a:p>
            <a:r>
              <a:rPr lang="en-US" sz="2000" b="1" dirty="0"/>
              <a:t>State Space Search</a:t>
            </a:r>
          </a:p>
          <a:p>
            <a:pPr lvl="1"/>
            <a:r>
              <a:rPr lang="en-US" sz="1800" dirty="0"/>
              <a:t>No. of state in which problem can be solved</a:t>
            </a:r>
          </a:p>
          <a:p>
            <a:pPr lvl="1"/>
            <a:r>
              <a:rPr lang="en-US" sz="2000" b="1" dirty="0"/>
              <a:t>Precise</a:t>
            </a:r>
            <a:r>
              <a:rPr lang="en-US" sz="1800" b="1" dirty="0"/>
              <a:t> </a:t>
            </a:r>
            <a:r>
              <a:rPr lang="en-US" sz="1800" dirty="0"/>
              <a:t>(How to represent the problem precisely)</a:t>
            </a:r>
          </a:p>
          <a:p>
            <a:pPr lvl="1"/>
            <a:r>
              <a:rPr lang="en-US" sz="2000" b="1" dirty="0"/>
              <a:t>Analyze</a:t>
            </a:r>
            <a:r>
              <a:rPr lang="en-US" sz="1800" dirty="0"/>
              <a:t> ( Can analyze the problem )</a:t>
            </a:r>
          </a:p>
          <a:p>
            <a:pPr lvl="1"/>
            <a:endParaRPr lang="en-US" sz="18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000" dirty="0"/>
              <a:t>State space search helps us clearly define a problem, allowing the agent to understand the situation and decide which actions to take to reach its goal.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6C42-D3B6-3467-5582-594D5B1F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B17A-9BC8-B121-BA31-60BA462C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What is Problem Solving by Searching?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6FF0D-3F09-F24C-8113-E494C41B5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76134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/>
              <a:t>Problem Formulation: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Problem formulation means </a:t>
            </a:r>
            <a:r>
              <a:rPr lang="en-US" sz="1800" b="1" dirty="0"/>
              <a:t>defining a problem clearly</a:t>
            </a:r>
            <a:r>
              <a:rPr lang="en-US" sz="1800" dirty="0"/>
              <a:t> so that an intelligent agent knows </a:t>
            </a:r>
            <a:r>
              <a:rPr lang="en-US" sz="1800" b="1" dirty="0"/>
              <a:t>what the goal is, where to start, and what actions it can take</a:t>
            </a:r>
            <a:r>
              <a:rPr lang="en-US" sz="1800" dirty="0"/>
              <a:t> to reach that goal.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endParaRPr lang="en-US" sz="1600" b="1" dirty="0"/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lang="en-US" sz="1600" dirty="0"/>
              <a:t>•</a:t>
            </a:r>
            <a:r>
              <a:rPr sz="1600" dirty="0"/>
              <a:t> </a:t>
            </a:r>
            <a:r>
              <a:rPr sz="1800" b="1" dirty="0"/>
              <a:t>State</a:t>
            </a:r>
            <a:r>
              <a:rPr sz="1800" dirty="0"/>
              <a:t> – </a:t>
            </a:r>
            <a:r>
              <a:rPr lang="en-US" sz="1800" dirty="0"/>
              <a:t>Start and Goal</a:t>
            </a:r>
            <a:endParaRPr sz="1800" dirty="0"/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sz="1800" dirty="0"/>
              <a:t>• </a:t>
            </a:r>
            <a:r>
              <a:rPr sz="1800" b="1" dirty="0"/>
              <a:t>Actions</a:t>
            </a:r>
            <a:r>
              <a:rPr sz="1800" dirty="0"/>
              <a:t> – possible moves</a:t>
            </a:r>
            <a:r>
              <a:rPr lang="en-US" sz="1800" dirty="0"/>
              <a:t> | Set of actions | All possible actions</a:t>
            </a:r>
            <a:endParaRPr sz="1800" dirty="0"/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sz="1800" dirty="0"/>
              <a:t>• </a:t>
            </a:r>
            <a:r>
              <a:rPr lang="en-US" sz="1800" b="1" dirty="0"/>
              <a:t>Transition</a:t>
            </a:r>
            <a:r>
              <a:rPr lang="en-US" sz="1800" dirty="0"/>
              <a:t> Model</a:t>
            </a:r>
            <a:r>
              <a:rPr sz="1800" dirty="0"/>
              <a:t> – result of</a:t>
            </a:r>
            <a:r>
              <a:rPr lang="en-US" sz="1800" dirty="0"/>
              <a:t> an</a:t>
            </a:r>
            <a:r>
              <a:rPr sz="1800" dirty="0"/>
              <a:t> action</a:t>
            </a:r>
            <a:endParaRPr lang="en-US" sz="1800" dirty="0"/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• </a:t>
            </a:r>
            <a:r>
              <a:rPr lang="en-US" sz="1800" b="1" dirty="0"/>
              <a:t>Goal Test</a:t>
            </a:r>
            <a:r>
              <a:rPr lang="en-US" sz="1800" dirty="0"/>
              <a:t> – checks if goal reached</a:t>
            </a:r>
          </a:p>
          <a:p>
            <a:pPr marL="400050" lvl="1" indent="0">
              <a:buNone/>
              <a:defRPr sz="1800">
                <a:solidFill>
                  <a:srgbClr val="000000"/>
                </a:solidFill>
              </a:defRPr>
            </a:pPr>
            <a:r>
              <a:rPr sz="1800" dirty="0"/>
              <a:t>• </a:t>
            </a:r>
            <a:r>
              <a:rPr sz="1800" b="1" dirty="0"/>
              <a:t>Path Cost</a:t>
            </a:r>
            <a:r>
              <a:rPr sz="1800" dirty="0"/>
              <a:t> – </a:t>
            </a:r>
            <a:r>
              <a:rPr lang="en-US" sz="1800" dirty="0"/>
              <a:t>cost of reaching the goal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958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Uninformed 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Searching Without Information 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Searching without information 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no prior knowledge of goal location</a:t>
            </a:r>
            <a:endParaRPr lang="en-US" sz="18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More time consumption and high chances of optimal solution</a:t>
            </a:r>
            <a:endParaRPr sz="18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Explores state space systematically.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Includes: </a:t>
            </a:r>
            <a:endParaRPr lang="en-US" sz="2000"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BFS</a:t>
            </a:r>
            <a:r>
              <a:rPr lang="en-US" sz="1800" dirty="0"/>
              <a:t> (Breadth-First Search)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UCS (Uniform-Cost Search)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1800" dirty="0"/>
              <a:t>DFS (Depth-First Search)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DLS</a:t>
            </a:r>
            <a:r>
              <a:rPr lang="en-US" sz="1800" dirty="0"/>
              <a:t> (Depth-Limited Search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800" dirty="0"/>
              <a:t>IDS</a:t>
            </a:r>
            <a:r>
              <a:rPr lang="en-US" sz="1800" dirty="0"/>
              <a:t> (Iterative deepening DFS)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E59727-5546-79E0-CF84-B82C0B370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86" r="15913"/>
          <a:stretch>
            <a:fillRect/>
          </a:stretch>
        </p:blipFill>
        <p:spPr>
          <a:xfrm>
            <a:off x="4916129" y="3234815"/>
            <a:ext cx="2939846" cy="2930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E0EE-E0D1-86DE-062E-705F9316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6A6B-20A1-E340-4246-B5385653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Breadth-First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515B5-A9C5-704B-7D81-414E6925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60900" cy="4025899"/>
          </a:xfrm>
        </p:spPr>
        <p:txBody>
          <a:bodyPr wrap="square">
            <a:normAutofit/>
          </a:bodyPr>
          <a:lstStyle/>
          <a:p>
            <a:r>
              <a:rPr lang="en-US" sz="2000" dirty="0"/>
              <a:t>Uniformed search technique</a:t>
            </a:r>
            <a:endParaRPr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Expands shallowest nodes first using a FIFO queue.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Complete</a:t>
            </a:r>
            <a:r>
              <a:rPr lang="en-US" sz="2000" dirty="0"/>
              <a:t>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Optimal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Time &amp; Space</a:t>
            </a:r>
            <a:r>
              <a:rPr lang="en-US" sz="2000" dirty="0"/>
              <a:t> complexity</a:t>
            </a:r>
            <a:r>
              <a:rPr sz="2000" dirty="0"/>
              <a:t>: O(</a:t>
            </a:r>
            <a:r>
              <a:rPr sz="2000" dirty="0" err="1"/>
              <a:t>b^d</a:t>
            </a:r>
            <a:r>
              <a:rPr sz="2000" dirty="0"/>
              <a:t>)</a:t>
            </a: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sz="2000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000" dirty="0"/>
              <a:t>AI Example: Chatbot exploring shortest conversation paths to reach desired user intent.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312D77-D8FD-C014-1CC3-F5210F535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19" y="1791723"/>
            <a:ext cx="3214281" cy="364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3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Breadth-First Search?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3498"/>
            <a:ext cx="8229600" cy="1045368"/>
          </a:xfrm>
        </p:spPr>
        <p:txBody>
          <a:bodyPr wrap="square">
            <a:normAutofit/>
          </a:bodyPr>
          <a:lstStyle/>
          <a:p>
            <a:r>
              <a:rPr lang="en-US" sz="2000" dirty="0"/>
              <a:t>BFS explores neighbor nodes first, before moving to the next level of neighbors. It explores "wide" before it explores "deep."</a:t>
            </a:r>
            <a:endParaRPr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AEE2A-ED2A-7852-BC42-BC241C450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95" y="2133190"/>
            <a:ext cx="3214281" cy="364285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6F0855-DAF4-C3AC-B54B-0BA6FEB8E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728208"/>
              </p:ext>
            </p:extLst>
          </p:nvPr>
        </p:nvGraphicFramePr>
        <p:xfrm>
          <a:off x="196850" y="214344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">
                  <a:extLst>
                    <a:ext uri="{9D8B030D-6E8A-4147-A177-3AD203B41FA5}">
                      <a16:colId xmlns:a16="http://schemas.microsoft.com/office/drawing/2014/main" val="2935391036"/>
                    </a:ext>
                  </a:extLst>
                </a:gridCol>
                <a:gridCol w="1631950">
                  <a:extLst>
                    <a:ext uri="{9D8B030D-6E8A-4147-A177-3AD203B41FA5}">
                      <a16:colId xmlns:a16="http://schemas.microsoft.com/office/drawing/2014/main" val="13016602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5449454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361425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94677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Current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Visited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275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786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Uniform-Cost Search (UCS)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67084" cy="4682613"/>
          </a:xfrm>
        </p:spPr>
        <p:txBody>
          <a:bodyPr wrap="square">
            <a:normAutofit lnSpcReduction="10000"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UCS is an uninformed search algorithm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By default, uses a BFS method </a:t>
            </a:r>
            <a:r>
              <a:rPr lang="en-US" b="1" dirty="0"/>
              <a:t>(uses a weighted graph)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Find the least cost path from a start node to a goal node in a weighted graph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Guarantees optimal solution if step cost are non-negative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Explore the nodes with the lowest cumulative cost first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Uses a priority queue to manage nodes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19131-9675-2609-6FF1-59431FAD0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839" y="1570704"/>
            <a:ext cx="3627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F9C1-AD7A-CC6B-8327-902638A1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F391-3B44-9527-EE4E-7E915C80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Uniform-Cost Search (UCS)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FC78D2-0F8C-8E13-3B81-5DEBCE7F5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463" y="1263650"/>
            <a:ext cx="2727537" cy="24066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5FFE34-C2C8-B947-38DF-640629E50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03539"/>
              </p:ext>
            </p:extLst>
          </p:nvPr>
        </p:nvGraphicFramePr>
        <p:xfrm>
          <a:off x="290406" y="1421448"/>
          <a:ext cx="6307244" cy="40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494">
                  <a:extLst>
                    <a:ext uri="{9D8B030D-6E8A-4147-A177-3AD203B41FA5}">
                      <a16:colId xmlns:a16="http://schemas.microsoft.com/office/drawing/2014/main" val="377869816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315767784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80174934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1008644739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1111051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Current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Visited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[A(1), B(4)]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Push (A,B)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963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[B(4), C(4), D(6)]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[S, 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Push (C,D) Pop 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987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[C(4), D(6), M(5)]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[S, A, 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Push (M) Pop (B)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430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[D(6), M(5), E(9)]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[S, A, B, 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Push (E) Pop (C)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5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[D(6), E(9)]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[S, A, B, C, 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Pop (M)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568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[E(9), F(10), G(8)]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[S, A, B, C, M, 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Push (F,G) Pop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25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[E(9), F(10)]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[S, A, B, C, M, D, 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Pop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09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[F(10)]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[S, A, B, C, M, D, G, 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Pop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83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[S, A, B, C, M, D, G, E, F]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Pop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876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10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641</Words>
  <Application>Microsoft Office PowerPoint</Application>
  <PresentationFormat>On-screen Show (4:3)</PresentationFormat>
  <Paragraphs>115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Lecture # 3</vt:lpstr>
      <vt:lpstr>What is Problem Solving by Searching?</vt:lpstr>
      <vt:lpstr>What is Problem Solving by Searching?</vt:lpstr>
      <vt:lpstr>Uninformed Search Strategies</vt:lpstr>
      <vt:lpstr>Breadth-First Search (BFS)</vt:lpstr>
      <vt:lpstr>What is Breadth-First Search?</vt:lpstr>
      <vt:lpstr>Uniform-Cost Search (UCS)</vt:lpstr>
      <vt:lpstr>Uniform-Cost Search (UCS)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35</cp:revision>
  <dcterms:created xsi:type="dcterms:W3CDTF">2013-01-27T09:14:16Z</dcterms:created>
  <dcterms:modified xsi:type="dcterms:W3CDTF">2026-04-07T13:08:46Z</dcterms:modified>
  <cp:category/>
</cp:coreProperties>
</file>