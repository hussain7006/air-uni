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7" r:id="rId4"/>
    <p:sldId id="286" r:id="rId5"/>
    <p:sldId id="287" r:id="rId6"/>
    <p:sldId id="288" r:id="rId7"/>
    <p:sldId id="282" r:id="rId8"/>
    <p:sldId id="283" r:id="rId9"/>
    <p:sldId id="284" r:id="rId10"/>
    <p:sldId id="285" r:id="rId11"/>
    <p:sldId id="271" r:id="rId12"/>
    <p:sldId id="268" r:id="rId13"/>
    <p:sldId id="269" r:id="rId14"/>
    <p:sldId id="289" r:id="rId15"/>
    <p:sldId id="264" r:id="rId16"/>
    <p:sldId id="270" r:id="rId17"/>
    <p:sldId id="290" r:id="rId18"/>
    <p:sldId id="291" r:id="rId19"/>
    <p:sldId id="26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38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298575"/>
          </a:xfrm>
        </p:spPr>
        <p:txBody>
          <a:bodyPr/>
          <a:lstStyle/>
          <a:p>
            <a:r>
              <a:rPr lang="en-US" dirty="0"/>
              <a:t>Lecture # 4</a:t>
            </a:r>
            <a:endParaRPr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EDFA82B-49AC-34CF-6241-B403267B1D01}"/>
              </a:ext>
            </a:extLst>
          </p:cNvPr>
          <p:cNvSpPr txBox="1">
            <a:spLocks/>
          </p:cNvSpPr>
          <p:nvPr/>
        </p:nvSpPr>
        <p:spPr>
          <a:xfrm>
            <a:off x="685800" y="3039909"/>
            <a:ext cx="7772400" cy="1298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Solving by Searching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Depth-First Search (DFS)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wrap="square"/>
              <a:lstStyle/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Uniformed Search Technique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It explores the search space without any extra knowledge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Stack (LIFO)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The most recently added node is explored first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Deepest Node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Always expands the deepest unexplored node in the search tree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complete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It may fail to find a solution if the search goes infinitely deep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Non optimal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It does not guarantee the shortest or best solution path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Time Complexity</a:t>
                </a:r>
                <a:endParaRPr lang="en-US" b="1" dirty="0"/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can take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ar-AE" sz="1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time, where </a:t>
                </a:r>
                <a:r>
                  <a:rPr lang="en-US" sz="1800" i="1" dirty="0"/>
                  <a:t>b</a:t>
                </a:r>
                <a:r>
                  <a:rPr lang="en-US" sz="1800" dirty="0"/>
                  <a:t> is branching factor and </a:t>
                </a:r>
                <a:r>
                  <a:rPr lang="en-US" sz="1800" i="1" dirty="0"/>
                  <a:t>d</a:t>
                </a:r>
                <a:r>
                  <a:rPr lang="en-US" sz="1800" dirty="0"/>
                  <a:t> is maximum depth</a:t>
                </a:r>
                <a:endParaRPr lang="en-US" dirty="0"/>
              </a:p>
              <a:p>
                <a:pPr marL="0" indent="0">
                  <a:buNone/>
                  <a:defRPr sz="180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E5B74-7D21-D7A0-2A55-67A98FFD5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8BFCD-5700-ADB3-C743-B33D465F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Depth-First Search (DFS)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1E09AC-F849-A8D6-9A0E-FD2DDF858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1" y="1565122"/>
            <a:ext cx="3601310" cy="2594128"/>
          </a:xfrm>
        </p:spPr>
      </p:pic>
    </p:spTree>
    <p:extLst>
      <p:ext uri="{BB962C8B-B14F-4D97-AF65-F5344CB8AC3E}">
        <p14:creationId xmlns:p14="http://schemas.microsoft.com/office/powerpoint/2010/main" val="256451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edge_A_B"/>
          <p:cNvCxnSpPr/>
          <p:nvPr/>
        </p:nvCxnSpPr>
        <p:spPr>
          <a:xfrm flipH="1">
            <a:off x="2527300" y="1384300"/>
            <a:ext cx="2057400" cy="15494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dge_A_C"/>
          <p:cNvCxnSpPr/>
          <p:nvPr/>
        </p:nvCxnSpPr>
        <p:spPr>
          <a:xfrm>
            <a:off x="4559300" y="1384300"/>
            <a:ext cx="2057400" cy="15494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dge_B_D"/>
          <p:cNvCxnSpPr/>
          <p:nvPr/>
        </p:nvCxnSpPr>
        <p:spPr>
          <a:xfrm flipH="1">
            <a:off x="1447800" y="2908300"/>
            <a:ext cx="1104900" cy="16764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dge_B_E"/>
          <p:cNvCxnSpPr/>
          <p:nvPr/>
        </p:nvCxnSpPr>
        <p:spPr>
          <a:xfrm>
            <a:off x="2527300" y="2908300"/>
            <a:ext cx="1104900" cy="16764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dge_C_F"/>
          <p:cNvCxnSpPr/>
          <p:nvPr/>
        </p:nvCxnSpPr>
        <p:spPr>
          <a:xfrm flipH="1">
            <a:off x="5765800" y="2908300"/>
            <a:ext cx="850900" cy="16764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dge_C_G"/>
          <p:cNvCxnSpPr/>
          <p:nvPr/>
        </p:nvCxnSpPr>
        <p:spPr>
          <a:xfrm>
            <a:off x="6591300" y="2908300"/>
            <a:ext cx="1358900" cy="16764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node_A"/>
          <p:cNvSpPr>
            <a:spLocks noGrp="1"/>
          </p:cNvSpPr>
          <p:nvPr/>
        </p:nvSpPr>
        <p:spPr>
          <a:xfrm>
            <a:off x="4191000" y="1016000"/>
            <a:ext cx="762000" cy="762000"/>
          </a:xfrm>
          <a:prstGeom prst="ellipse">
            <a:avLst/>
          </a:prstGeom>
          <a:solidFill>
            <a:srgbClr val="FF6B00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7" name="node_B"/>
          <p:cNvSpPr>
            <a:spLocks noGrp="1"/>
          </p:cNvSpPr>
          <p:nvPr/>
        </p:nvSpPr>
        <p:spPr>
          <a:xfrm>
            <a:off x="2159000" y="2540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08" name="node_C"/>
          <p:cNvSpPr>
            <a:spLocks noGrp="1"/>
          </p:cNvSpPr>
          <p:nvPr/>
        </p:nvSpPr>
        <p:spPr>
          <a:xfrm>
            <a:off x="6223000" y="2540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09" name="node_D"/>
          <p:cNvSpPr>
            <a:spLocks noGrp="1"/>
          </p:cNvSpPr>
          <p:nvPr/>
        </p:nvSpPr>
        <p:spPr>
          <a:xfrm>
            <a:off x="1079500" y="4191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10" name="node_E"/>
          <p:cNvSpPr>
            <a:spLocks noGrp="1"/>
          </p:cNvSpPr>
          <p:nvPr/>
        </p:nvSpPr>
        <p:spPr>
          <a:xfrm>
            <a:off x="3238500" y="4191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111" name="node_F"/>
          <p:cNvSpPr>
            <a:spLocks noGrp="1"/>
          </p:cNvSpPr>
          <p:nvPr/>
        </p:nvSpPr>
        <p:spPr>
          <a:xfrm>
            <a:off x="5397500" y="4191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112" name="node_G"/>
          <p:cNvSpPr>
            <a:spLocks noGrp="1"/>
          </p:cNvSpPr>
          <p:nvPr/>
        </p:nvSpPr>
        <p:spPr>
          <a:xfrm>
            <a:off x="7556500" y="4191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G</a:t>
            </a:r>
          </a:p>
        </p:txBody>
      </p:sp>
      <p:sp>
        <p:nvSpPr>
          <p:cNvPr id="113" name="title"/>
          <p:cNvSpPr>
            <a:spLocks noGrp="1"/>
          </p:cNvSpPr>
          <p:nvPr/>
        </p:nvSpPr>
        <p:spPr>
          <a:xfrm>
            <a:off x="0" y="0"/>
            <a:ext cx="9144000" cy="698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lIns="127000" rIns="12700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DFS Traversal  —  Step 1 of 7: Visit A</a:t>
            </a:r>
          </a:p>
        </p:txBody>
      </p:sp>
      <p:sp>
        <p:nvSpPr>
          <p:cNvPr id="114" name="info"/>
          <p:cNvSpPr>
            <a:spLocks noGrp="1"/>
          </p:cNvSpPr>
          <p:nvPr/>
        </p:nvSpPr>
        <p:spPr>
          <a:xfrm>
            <a:off x="254000" y="5778500"/>
            <a:ext cx="8636000" cy="863600"/>
          </a:xfrm>
          <a:prstGeom prst="roundRect">
            <a:avLst>
              <a:gd name="adj" fmla="val 15000"/>
            </a:avLst>
          </a:prstGeom>
          <a:solidFill>
            <a:srgbClr val="EFF5FB"/>
          </a:solidFill>
          <a:ln w="19050">
            <a:solidFill>
              <a:srgbClr val="1F4E79"/>
            </a:solidFill>
          </a:ln>
        </p:spPr>
        <p:txBody>
          <a:bodyPr lIns="152400" rIns="152400" anchor="ctr"/>
          <a:lstStyle/>
          <a:p>
            <a:pPr algn="ctr"/>
            <a:r>
              <a:rPr lang="en-US" sz="1500" b="1" dirty="0">
                <a:solidFill>
                  <a:srgbClr val="1F4E79"/>
                </a:solidFill>
              </a:rPr>
              <a:t>Stack (LIFO): [ B, C ]     |     Visited: A</a:t>
            </a:r>
          </a:p>
        </p:txBody>
      </p:sp>
      <p:sp>
        <p:nvSpPr>
          <p:cNvPr id="115" name="legend"/>
          <p:cNvSpPr>
            <a:spLocks noGrp="1"/>
          </p:cNvSpPr>
          <p:nvPr/>
        </p:nvSpPr>
        <p:spPr>
          <a:xfrm>
            <a:off x="7048500" y="787400"/>
            <a:ext cx="1879600" cy="1143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BBBBBB"/>
            </a:solidFill>
          </a:ln>
        </p:spPr>
        <p:txBody>
          <a:bodyPr lIns="101600" tIns="50800" rIns="76200" bIns="50800" anchor="ctr"/>
          <a:lstStyle/>
          <a:p>
            <a:r>
              <a:rPr lang="en-US" sz="1000" b="1" dirty="0">
                <a:solidFill>
                  <a:srgbClr val="FF6B00"/>
                </a:solidFill>
              </a:rPr>
              <a:t>⬤ Current</a:t>
            </a:r>
          </a:p>
          <a:p>
            <a:r>
              <a:rPr lang="en-US" sz="1000" b="1" dirty="0">
                <a:solidFill>
                  <a:srgbClr val="2E7D32"/>
                </a:solidFill>
              </a:rPr>
              <a:t>⬤ Visited</a:t>
            </a:r>
          </a:p>
          <a:p>
            <a:r>
              <a:rPr lang="en-US" sz="1000" dirty="0">
                <a:solidFill>
                  <a:srgbClr val="666666"/>
                </a:solidFill>
              </a:rPr>
              <a:t>○ Unvisited</a:t>
            </a:r>
          </a:p>
        </p:txBody>
      </p:sp>
    </p:spTree>
    <p:extLst>
      <p:ext uri="{BB962C8B-B14F-4D97-AF65-F5344CB8AC3E}">
        <p14:creationId xmlns:p14="http://schemas.microsoft.com/office/powerpoint/2010/main" val="2657115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e_A_B"/>
          <p:cNvCxnSpPr/>
          <p:nvPr/>
        </p:nvCxnSpPr>
        <p:spPr>
          <a:xfrm flipH="1">
            <a:off x="2540000" y="1397000"/>
            <a:ext cx="2032000" cy="15240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_A_C"/>
          <p:cNvCxnSpPr/>
          <p:nvPr/>
        </p:nvCxnSpPr>
        <p:spPr>
          <a:xfrm>
            <a:off x="4572000" y="1397000"/>
            <a:ext cx="2032000" cy="1524000"/>
          </a:xfrm>
          <a:prstGeom prst="line">
            <a:avLst/>
          </a:prstGeom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_B_D"/>
          <p:cNvCxnSpPr/>
          <p:nvPr/>
        </p:nvCxnSpPr>
        <p:spPr>
          <a:xfrm flipH="1">
            <a:off x="1460500" y="2921000"/>
            <a:ext cx="1079500" cy="16510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_B_E"/>
          <p:cNvCxnSpPr/>
          <p:nvPr/>
        </p:nvCxnSpPr>
        <p:spPr>
          <a:xfrm>
            <a:off x="2540000" y="2921000"/>
            <a:ext cx="1079500" cy="16510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_C_F"/>
          <p:cNvCxnSpPr/>
          <p:nvPr/>
        </p:nvCxnSpPr>
        <p:spPr>
          <a:xfrm flipH="1">
            <a:off x="5778500" y="2921000"/>
            <a:ext cx="825500" cy="16510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_C_G"/>
          <p:cNvCxnSpPr/>
          <p:nvPr/>
        </p:nvCxnSpPr>
        <p:spPr>
          <a:xfrm>
            <a:off x="6604000" y="2921000"/>
            <a:ext cx="1333500" cy="16510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node_A"/>
          <p:cNvSpPr>
            <a:spLocks noGrp="1"/>
          </p:cNvSpPr>
          <p:nvPr/>
        </p:nvSpPr>
        <p:spPr>
          <a:xfrm>
            <a:off x="4191000" y="1016000"/>
            <a:ext cx="762000" cy="762000"/>
          </a:xfrm>
          <a:prstGeom prst="ellipse">
            <a:avLst/>
          </a:prstGeom>
          <a:solidFill>
            <a:srgbClr val="2E7D32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7" name="node_B"/>
          <p:cNvSpPr>
            <a:spLocks noGrp="1"/>
          </p:cNvSpPr>
          <p:nvPr/>
        </p:nvSpPr>
        <p:spPr>
          <a:xfrm>
            <a:off x="2159000" y="2540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08" name="node_C"/>
          <p:cNvSpPr>
            <a:spLocks noGrp="1"/>
          </p:cNvSpPr>
          <p:nvPr/>
        </p:nvSpPr>
        <p:spPr>
          <a:xfrm>
            <a:off x="6223000" y="2540000"/>
            <a:ext cx="762000" cy="762000"/>
          </a:xfrm>
          <a:prstGeom prst="ellipse">
            <a:avLst/>
          </a:prstGeom>
          <a:solidFill>
            <a:srgbClr val="FF6B00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9" name="node_D"/>
          <p:cNvSpPr>
            <a:spLocks noGrp="1"/>
          </p:cNvSpPr>
          <p:nvPr/>
        </p:nvSpPr>
        <p:spPr>
          <a:xfrm>
            <a:off x="1079500" y="4191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10" name="node_E"/>
          <p:cNvSpPr>
            <a:spLocks noGrp="1"/>
          </p:cNvSpPr>
          <p:nvPr/>
        </p:nvSpPr>
        <p:spPr>
          <a:xfrm>
            <a:off x="3238500" y="4191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111" name="node_F"/>
          <p:cNvSpPr>
            <a:spLocks noGrp="1"/>
          </p:cNvSpPr>
          <p:nvPr/>
        </p:nvSpPr>
        <p:spPr>
          <a:xfrm>
            <a:off x="5397500" y="4191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112" name="node_G"/>
          <p:cNvSpPr>
            <a:spLocks noGrp="1"/>
          </p:cNvSpPr>
          <p:nvPr/>
        </p:nvSpPr>
        <p:spPr>
          <a:xfrm>
            <a:off x="7556500" y="4191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G</a:t>
            </a:r>
          </a:p>
        </p:txBody>
      </p:sp>
      <p:sp>
        <p:nvSpPr>
          <p:cNvPr id="113" name="title"/>
          <p:cNvSpPr>
            <a:spLocks noGrp="1"/>
          </p:cNvSpPr>
          <p:nvPr/>
        </p:nvSpPr>
        <p:spPr>
          <a:xfrm>
            <a:off x="0" y="0"/>
            <a:ext cx="9144000" cy="698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lIns="127000" rIns="12700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DFS Traversal  —  Step 2 of 7: Visit C</a:t>
            </a:r>
          </a:p>
        </p:txBody>
      </p:sp>
      <p:sp>
        <p:nvSpPr>
          <p:cNvPr id="114" name="info"/>
          <p:cNvSpPr>
            <a:spLocks noGrp="1"/>
          </p:cNvSpPr>
          <p:nvPr/>
        </p:nvSpPr>
        <p:spPr>
          <a:xfrm>
            <a:off x="254000" y="5778500"/>
            <a:ext cx="8636000" cy="863600"/>
          </a:xfrm>
          <a:prstGeom prst="roundRect">
            <a:avLst>
              <a:gd name="adj" fmla="val 15000"/>
            </a:avLst>
          </a:prstGeom>
          <a:solidFill>
            <a:srgbClr val="EFF5FB"/>
          </a:solidFill>
          <a:ln w="19050">
            <a:solidFill>
              <a:srgbClr val="1F4E79"/>
            </a:solidFill>
          </a:ln>
        </p:spPr>
        <p:txBody>
          <a:bodyPr lIns="152400" rIns="152400" anchor="ctr"/>
          <a:lstStyle/>
          <a:p>
            <a:pPr algn="ctr"/>
            <a:r>
              <a:rPr lang="en-US" sz="1500" b="1" dirty="0">
                <a:solidFill>
                  <a:srgbClr val="1F4E79"/>
                </a:solidFill>
              </a:rPr>
              <a:t>Stack (LIFO): [ B, G, F ]     |     Visited: A, C</a:t>
            </a:r>
          </a:p>
        </p:txBody>
      </p:sp>
      <p:sp>
        <p:nvSpPr>
          <p:cNvPr id="115" name="legend"/>
          <p:cNvSpPr>
            <a:spLocks noGrp="1"/>
          </p:cNvSpPr>
          <p:nvPr/>
        </p:nvSpPr>
        <p:spPr>
          <a:xfrm>
            <a:off x="7048500" y="787400"/>
            <a:ext cx="1879600" cy="1143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BBBBBB"/>
            </a:solidFill>
          </a:ln>
        </p:spPr>
        <p:txBody>
          <a:bodyPr lIns="101600" tIns="50800" rIns="76200" bIns="50800" anchor="ctr"/>
          <a:lstStyle/>
          <a:p>
            <a:r>
              <a:rPr lang="en-US" sz="1000" b="1" dirty="0">
                <a:solidFill>
                  <a:srgbClr val="FF6B00"/>
                </a:solidFill>
              </a:rPr>
              <a:t>⬤ Current</a:t>
            </a:r>
          </a:p>
          <a:p>
            <a:r>
              <a:rPr lang="en-US" sz="1000" b="1" dirty="0">
                <a:solidFill>
                  <a:srgbClr val="2E7D32"/>
                </a:solidFill>
              </a:rPr>
              <a:t>⬤ Visited</a:t>
            </a:r>
          </a:p>
          <a:p>
            <a:r>
              <a:rPr lang="en-US" sz="1000" dirty="0">
                <a:solidFill>
                  <a:srgbClr val="444444"/>
                </a:solidFill>
              </a:rPr>
              <a:t>○ Unvisited</a:t>
            </a:r>
          </a:p>
        </p:txBody>
      </p:sp>
    </p:spTree>
    <p:extLst>
      <p:ext uri="{BB962C8B-B14F-4D97-AF65-F5344CB8AC3E}">
        <p14:creationId xmlns:p14="http://schemas.microsoft.com/office/powerpoint/2010/main" val="169892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e_A_B"/>
          <p:cNvCxnSpPr/>
          <p:nvPr/>
        </p:nvCxnSpPr>
        <p:spPr>
          <a:xfrm flipH="1">
            <a:off x="2540000" y="1397000"/>
            <a:ext cx="2032000" cy="15240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_A_C"/>
          <p:cNvCxnSpPr/>
          <p:nvPr/>
        </p:nvCxnSpPr>
        <p:spPr>
          <a:xfrm>
            <a:off x="4572000" y="1397000"/>
            <a:ext cx="2032000" cy="1524000"/>
          </a:xfrm>
          <a:prstGeom prst="line">
            <a:avLst/>
          </a:prstGeom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_B_D"/>
          <p:cNvCxnSpPr/>
          <p:nvPr/>
        </p:nvCxnSpPr>
        <p:spPr>
          <a:xfrm flipH="1">
            <a:off x="1460500" y="2921000"/>
            <a:ext cx="1079500" cy="16510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_B_E"/>
          <p:cNvCxnSpPr/>
          <p:nvPr/>
        </p:nvCxnSpPr>
        <p:spPr>
          <a:xfrm>
            <a:off x="2540000" y="2921000"/>
            <a:ext cx="1079500" cy="16510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_C_F"/>
          <p:cNvCxnSpPr/>
          <p:nvPr/>
        </p:nvCxnSpPr>
        <p:spPr>
          <a:xfrm flipH="1">
            <a:off x="5778500" y="2921000"/>
            <a:ext cx="825500" cy="1651000"/>
          </a:xfrm>
          <a:prstGeom prst="line">
            <a:avLst/>
          </a:prstGeom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_C_G"/>
          <p:cNvCxnSpPr/>
          <p:nvPr/>
        </p:nvCxnSpPr>
        <p:spPr>
          <a:xfrm>
            <a:off x="6604000" y="2921000"/>
            <a:ext cx="1333500" cy="165100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node_A"/>
          <p:cNvSpPr>
            <a:spLocks noGrp="1"/>
          </p:cNvSpPr>
          <p:nvPr/>
        </p:nvSpPr>
        <p:spPr>
          <a:xfrm>
            <a:off x="4191000" y="1016000"/>
            <a:ext cx="762000" cy="762000"/>
          </a:xfrm>
          <a:prstGeom prst="ellipse">
            <a:avLst/>
          </a:prstGeom>
          <a:solidFill>
            <a:srgbClr val="2E7D32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7" name="node_B"/>
          <p:cNvSpPr>
            <a:spLocks noGrp="1"/>
          </p:cNvSpPr>
          <p:nvPr/>
        </p:nvSpPr>
        <p:spPr>
          <a:xfrm>
            <a:off x="2159000" y="2540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08" name="node_C"/>
          <p:cNvSpPr>
            <a:spLocks noGrp="1"/>
          </p:cNvSpPr>
          <p:nvPr/>
        </p:nvSpPr>
        <p:spPr>
          <a:xfrm>
            <a:off x="6223000" y="2540000"/>
            <a:ext cx="762000" cy="762000"/>
          </a:xfrm>
          <a:prstGeom prst="ellipse">
            <a:avLst/>
          </a:prstGeom>
          <a:solidFill>
            <a:srgbClr val="2E7D32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9" name="node_D"/>
          <p:cNvSpPr>
            <a:spLocks noGrp="1"/>
          </p:cNvSpPr>
          <p:nvPr/>
        </p:nvSpPr>
        <p:spPr>
          <a:xfrm>
            <a:off x="1079500" y="4191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10" name="node_E"/>
          <p:cNvSpPr>
            <a:spLocks noGrp="1"/>
          </p:cNvSpPr>
          <p:nvPr/>
        </p:nvSpPr>
        <p:spPr>
          <a:xfrm>
            <a:off x="3238500" y="4191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111" name="node_F"/>
          <p:cNvSpPr>
            <a:spLocks noGrp="1"/>
          </p:cNvSpPr>
          <p:nvPr/>
        </p:nvSpPr>
        <p:spPr>
          <a:xfrm>
            <a:off x="5397500" y="4191000"/>
            <a:ext cx="762000" cy="762000"/>
          </a:xfrm>
          <a:prstGeom prst="ellipse">
            <a:avLst/>
          </a:prstGeom>
          <a:solidFill>
            <a:srgbClr val="FF6B00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12" name="node_G"/>
          <p:cNvSpPr>
            <a:spLocks noGrp="1"/>
          </p:cNvSpPr>
          <p:nvPr/>
        </p:nvSpPr>
        <p:spPr>
          <a:xfrm>
            <a:off x="7556500" y="4191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22222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G</a:t>
            </a:r>
          </a:p>
        </p:txBody>
      </p:sp>
      <p:sp>
        <p:nvSpPr>
          <p:cNvPr id="113" name="title"/>
          <p:cNvSpPr>
            <a:spLocks noGrp="1"/>
          </p:cNvSpPr>
          <p:nvPr/>
        </p:nvSpPr>
        <p:spPr>
          <a:xfrm>
            <a:off x="0" y="0"/>
            <a:ext cx="9144000" cy="698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lIns="127000" rIns="12700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DFS Traversal  —  Step 3 of 7: Visit F</a:t>
            </a:r>
          </a:p>
        </p:txBody>
      </p:sp>
      <p:sp>
        <p:nvSpPr>
          <p:cNvPr id="114" name="info"/>
          <p:cNvSpPr>
            <a:spLocks noGrp="1"/>
          </p:cNvSpPr>
          <p:nvPr/>
        </p:nvSpPr>
        <p:spPr>
          <a:xfrm>
            <a:off x="254000" y="5778500"/>
            <a:ext cx="8636000" cy="863600"/>
          </a:xfrm>
          <a:prstGeom prst="roundRect">
            <a:avLst>
              <a:gd name="adj" fmla="val 15000"/>
            </a:avLst>
          </a:prstGeom>
          <a:solidFill>
            <a:srgbClr val="EFF5FB"/>
          </a:solidFill>
          <a:ln w="19050">
            <a:solidFill>
              <a:srgbClr val="1F4E79"/>
            </a:solidFill>
          </a:ln>
        </p:spPr>
        <p:txBody>
          <a:bodyPr lIns="152400" rIns="152400" anchor="ctr"/>
          <a:lstStyle/>
          <a:p>
            <a:pPr algn="ctr"/>
            <a:r>
              <a:rPr lang="en-US" sz="1500" b="1" dirty="0">
                <a:solidFill>
                  <a:srgbClr val="1F4E79"/>
                </a:solidFill>
              </a:rPr>
              <a:t>Stack (LIFO): [ B, G ]     |     Visited: A, C, F</a:t>
            </a:r>
          </a:p>
        </p:txBody>
      </p:sp>
      <p:sp>
        <p:nvSpPr>
          <p:cNvPr id="115" name="legend"/>
          <p:cNvSpPr>
            <a:spLocks noGrp="1"/>
          </p:cNvSpPr>
          <p:nvPr/>
        </p:nvSpPr>
        <p:spPr>
          <a:xfrm>
            <a:off x="7048500" y="787400"/>
            <a:ext cx="1879600" cy="1143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BBBBBB"/>
            </a:solidFill>
          </a:ln>
        </p:spPr>
        <p:txBody>
          <a:bodyPr lIns="101600" tIns="50800" rIns="76200" bIns="50800" anchor="ctr"/>
          <a:lstStyle/>
          <a:p>
            <a:r>
              <a:rPr lang="en-US" sz="1000" b="1" dirty="0">
                <a:solidFill>
                  <a:srgbClr val="FF6B00"/>
                </a:solidFill>
              </a:rPr>
              <a:t>⬤ Current</a:t>
            </a:r>
          </a:p>
          <a:p>
            <a:r>
              <a:rPr lang="en-US" sz="1000" b="1" dirty="0">
                <a:solidFill>
                  <a:srgbClr val="2E7D32"/>
                </a:solidFill>
              </a:rPr>
              <a:t>⬤ Visited</a:t>
            </a:r>
          </a:p>
          <a:p>
            <a:r>
              <a:rPr lang="en-US" sz="1000" dirty="0">
                <a:solidFill>
                  <a:srgbClr val="444444"/>
                </a:solidFill>
              </a:rPr>
              <a:t>○ Unvisited</a:t>
            </a:r>
          </a:p>
        </p:txBody>
      </p:sp>
    </p:spTree>
    <p:extLst>
      <p:ext uri="{BB962C8B-B14F-4D97-AF65-F5344CB8AC3E}">
        <p14:creationId xmlns:p14="http://schemas.microsoft.com/office/powerpoint/2010/main" val="144362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e_A_B"/>
          <p:cNvSpPr>
            <a:spLocks noGrp="1"/>
          </p:cNvSpPr>
          <p:nvPr/>
        </p:nvSpPr>
        <p:spPr>
          <a:xfrm flipH="1">
            <a:off x="2878341" y="2016009"/>
            <a:ext cx="1396148" cy="968980"/>
          </a:xfrm>
          <a:prstGeom prst="line">
            <a:avLst/>
          </a:prstGeom>
          <a:noFill/>
          <a:ln w="25400">
            <a:solidFill>
              <a:srgbClr val="5555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e_A_C"/>
          <p:cNvSpPr>
            <a:spLocks noGrp="1"/>
          </p:cNvSpPr>
          <p:nvPr/>
        </p:nvSpPr>
        <p:spPr>
          <a:xfrm>
            <a:off x="4869511" y="2016009"/>
            <a:ext cx="1309978" cy="1047982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e_B_D"/>
          <p:cNvSpPr>
            <a:spLocks noGrp="1"/>
          </p:cNvSpPr>
          <p:nvPr/>
        </p:nvSpPr>
        <p:spPr>
          <a:xfrm flipH="1">
            <a:off x="1692680" y="3555023"/>
            <a:ext cx="701269" cy="889977"/>
          </a:xfrm>
          <a:prstGeom prst="line">
            <a:avLst/>
          </a:prstGeom>
          <a:noFill/>
          <a:ln w="25400">
            <a:solidFill>
              <a:srgbClr val="5555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e_B_E"/>
          <p:cNvSpPr>
            <a:spLocks noGrp="1"/>
          </p:cNvSpPr>
          <p:nvPr/>
        </p:nvSpPr>
        <p:spPr>
          <a:xfrm>
            <a:off x="2878341" y="3619011"/>
            <a:ext cx="593318" cy="889978"/>
          </a:xfrm>
          <a:prstGeom prst="line">
            <a:avLst/>
          </a:prstGeom>
          <a:noFill/>
          <a:ln w="25400">
            <a:solidFill>
              <a:srgbClr val="5555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e_C_F"/>
          <p:cNvSpPr>
            <a:spLocks noGrp="1"/>
          </p:cNvSpPr>
          <p:nvPr/>
        </p:nvSpPr>
        <p:spPr>
          <a:xfrm flipH="1">
            <a:off x="5502682" y="3568700"/>
            <a:ext cx="761999" cy="940289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e_C_G"/>
          <p:cNvSpPr>
            <a:spLocks noGrp="1"/>
          </p:cNvSpPr>
          <p:nvPr/>
        </p:nvSpPr>
        <p:spPr>
          <a:xfrm>
            <a:off x="6688341" y="3619011"/>
            <a:ext cx="593318" cy="889978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n_A"/>
          <p:cNvSpPr>
            <a:spLocks noGrp="1"/>
          </p:cNvSpPr>
          <p:nvPr/>
        </p:nvSpPr>
        <p:spPr>
          <a:xfrm>
            <a:off x="4191000" y="1397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7" name="n_B"/>
          <p:cNvSpPr>
            <a:spLocks noGrp="1"/>
          </p:cNvSpPr>
          <p:nvPr/>
        </p:nvSpPr>
        <p:spPr>
          <a:xfrm>
            <a:off x="2286000" y="2921000"/>
            <a:ext cx="762000" cy="762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08" name="n_C"/>
          <p:cNvSpPr>
            <a:spLocks noGrp="1"/>
          </p:cNvSpPr>
          <p:nvPr/>
        </p:nvSpPr>
        <p:spPr>
          <a:xfrm>
            <a:off x="6096000" y="2921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9" name="n_D"/>
          <p:cNvSpPr>
            <a:spLocks noGrp="1"/>
          </p:cNvSpPr>
          <p:nvPr/>
        </p:nvSpPr>
        <p:spPr>
          <a:xfrm>
            <a:off x="1270000" y="4445000"/>
            <a:ext cx="762000" cy="762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10" name="n_E"/>
          <p:cNvSpPr>
            <a:spLocks noGrp="1"/>
          </p:cNvSpPr>
          <p:nvPr/>
        </p:nvSpPr>
        <p:spPr>
          <a:xfrm>
            <a:off x="3302000" y="4445000"/>
            <a:ext cx="762000" cy="762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111" name="n_F"/>
          <p:cNvSpPr>
            <a:spLocks noGrp="1"/>
          </p:cNvSpPr>
          <p:nvPr/>
        </p:nvSpPr>
        <p:spPr>
          <a:xfrm>
            <a:off x="5080000" y="4445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12" name="n_G"/>
          <p:cNvSpPr>
            <a:spLocks noGrp="1"/>
          </p:cNvSpPr>
          <p:nvPr/>
        </p:nvSpPr>
        <p:spPr>
          <a:xfrm>
            <a:off x="7112000" y="4445000"/>
            <a:ext cx="762000" cy="762000"/>
          </a:xfrm>
          <a:prstGeom prst="ellipse">
            <a:avLst/>
          </a:prstGeom>
          <a:solidFill>
            <a:srgbClr val="FF6B00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13" name="title"/>
          <p:cNvSpPr>
            <a:spLocks noGrp="1"/>
          </p:cNvSpPr>
          <p:nvPr/>
        </p:nvSpPr>
        <p:spPr>
          <a:xfrm>
            <a:off x="254000" y="127000"/>
            <a:ext cx="8636000" cy="635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1F4E79"/>
                </a:solidFill>
              </a:rPr>
              <a:t>DFS Traversal — Step 4: Visit G</a:t>
            </a:r>
          </a:p>
        </p:txBody>
      </p:sp>
      <p:sp>
        <p:nvSpPr>
          <p:cNvPr id="114" name="info"/>
          <p:cNvSpPr>
            <a:spLocks noGrp="1"/>
          </p:cNvSpPr>
          <p:nvPr/>
        </p:nvSpPr>
        <p:spPr>
          <a:xfrm>
            <a:off x="254000" y="5715000"/>
            <a:ext cx="8636000" cy="889000"/>
          </a:xfrm>
          <a:prstGeom prst="roundRect">
            <a:avLst>
              <a:gd name="adj" fmla="val 20000"/>
            </a:avLst>
          </a:prstGeom>
          <a:solidFill>
            <a:srgbClr val="EFF5FB"/>
          </a:solidFill>
          <a:ln w="19050">
            <a:solidFill>
              <a:srgbClr val="1F4E79"/>
            </a:solidFill>
          </a:ln>
        </p:spPr>
        <p:txBody>
          <a:bodyPr lIns="127000" rIns="127000" anchor="ctr"/>
          <a:lstStyle/>
          <a:p>
            <a:pPr algn="ctr"/>
            <a:r>
              <a:rPr lang="en-US" sz="1600" b="1" dirty="0">
                <a:solidFill>
                  <a:srgbClr val="1F4E79"/>
                </a:solidFill>
              </a:rPr>
              <a:t>Stack: [B]   |   Visited: A, C, F, G</a:t>
            </a:r>
          </a:p>
        </p:txBody>
      </p:sp>
      <p:sp>
        <p:nvSpPr>
          <p:cNvPr id="115" name="legend"/>
          <p:cNvSpPr>
            <a:spLocks noGrp="1"/>
          </p:cNvSpPr>
          <p:nvPr/>
        </p:nvSpPr>
        <p:spPr>
          <a:xfrm>
            <a:off x="6731000" y="1651000"/>
            <a:ext cx="2159000" cy="1397000"/>
          </a:xfrm>
          <a:prstGeom prst="rect">
            <a:avLst/>
          </a:prstGeom>
          <a:solidFill>
            <a:srgbClr val="F8F8F8"/>
          </a:solidFill>
          <a:ln w="12700">
            <a:solidFill>
              <a:srgbClr val="AAAAAA"/>
            </a:solidFill>
          </a:ln>
        </p:spPr>
        <p:txBody>
          <a:bodyPr lIns="76200" tIns="76200" rIns="76200" anchor="t"/>
          <a:lstStyle/>
          <a:p>
            <a:r>
              <a:rPr lang="en-US" sz="1100" b="1" dirty="0">
                <a:solidFill>
                  <a:srgbClr val="FF6B00"/>
                </a:solidFill>
              </a:rPr>
              <a:t>● Current</a:t>
            </a:r>
          </a:p>
          <a:p>
            <a:r>
              <a:rPr lang="en-US" sz="1100" b="1" dirty="0">
                <a:solidFill>
                  <a:srgbClr val="2E7D32"/>
                </a:solidFill>
              </a:rPr>
              <a:t>● Visited</a:t>
            </a:r>
          </a:p>
          <a:p>
            <a:r>
              <a:rPr lang="en-US" sz="1100" dirty="0">
                <a:solidFill>
                  <a:srgbClr val="555555"/>
                </a:solidFill>
              </a:rPr>
              <a:t>○ Unvisited</a:t>
            </a:r>
          </a:p>
        </p:txBody>
      </p:sp>
    </p:spTree>
    <p:extLst>
      <p:ext uri="{BB962C8B-B14F-4D97-AF65-F5344CB8AC3E}">
        <p14:creationId xmlns:p14="http://schemas.microsoft.com/office/powerpoint/2010/main" val="968523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e_A_B"/>
          <p:cNvSpPr>
            <a:spLocks noGrp="1"/>
          </p:cNvSpPr>
          <p:nvPr/>
        </p:nvSpPr>
        <p:spPr>
          <a:xfrm flipH="1">
            <a:off x="2878341" y="1968011"/>
            <a:ext cx="1396148" cy="1095980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e_A_C"/>
          <p:cNvSpPr>
            <a:spLocks noGrp="1"/>
          </p:cNvSpPr>
          <p:nvPr/>
        </p:nvSpPr>
        <p:spPr>
          <a:xfrm>
            <a:off x="4869511" y="2016009"/>
            <a:ext cx="1309978" cy="1047982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e_B_D"/>
          <p:cNvSpPr>
            <a:spLocks noGrp="1"/>
          </p:cNvSpPr>
          <p:nvPr/>
        </p:nvSpPr>
        <p:spPr>
          <a:xfrm flipH="1">
            <a:off x="1693660" y="3619011"/>
            <a:ext cx="712990" cy="889978"/>
          </a:xfrm>
          <a:prstGeom prst="line">
            <a:avLst/>
          </a:prstGeom>
          <a:noFill/>
          <a:ln w="25400">
            <a:solidFill>
              <a:srgbClr val="5555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e_B_E"/>
          <p:cNvSpPr>
            <a:spLocks noGrp="1"/>
          </p:cNvSpPr>
          <p:nvPr/>
        </p:nvSpPr>
        <p:spPr>
          <a:xfrm>
            <a:off x="2878341" y="3619011"/>
            <a:ext cx="593318" cy="889978"/>
          </a:xfrm>
          <a:prstGeom prst="line">
            <a:avLst/>
          </a:prstGeom>
          <a:noFill/>
          <a:ln w="25400">
            <a:solidFill>
              <a:srgbClr val="5555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e_C_F"/>
          <p:cNvSpPr>
            <a:spLocks noGrp="1"/>
          </p:cNvSpPr>
          <p:nvPr/>
        </p:nvSpPr>
        <p:spPr>
          <a:xfrm flipH="1">
            <a:off x="5671363" y="3571991"/>
            <a:ext cx="593317" cy="936020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e_C_G"/>
          <p:cNvSpPr>
            <a:spLocks noGrp="1"/>
          </p:cNvSpPr>
          <p:nvPr/>
        </p:nvSpPr>
        <p:spPr>
          <a:xfrm>
            <a:off x="6688341" y="3619011"/>
            <a:ext cx="593318" cy="889978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n_A"/>
          <p:cNvSpPr>
            <a:spLocks noGrp="1"/>
          </p:cNvSpPr>
          <p:nvPr/>
        </p:nvSpPr>
        <p:spPr>
          <a:xfrm>
            <a:off x="4191000" y="1397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7" name="n_B"/>
          <p:cNvSpPr>
            <a:spLocks noGrp="1"/>
          </p:cNvSpPr>
          <p:nvPr/>
        </p:nvSpPr>
        <p:spPr>
          <a:xfrm>
            <a:off x="2286000" y="2921000"/>
            <a:ext cx="762000" cy="762000"/>
          </a:xfrm>
          <a:prstGeom prst="ellipse">
            <a:avLst/>
          </a:prstGeom>
          <a:solidFill>
            <a:srgbClr val="FF6B00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8" name="n_C"/>
          <p:cNvSpPr>
            <a:spLocks noGrp="1"/>
          </p:cNvSpPr>
          <p:nvPr/>
        </p:nvSpPr>
        <p:spPr>
          <a:xfrm>
            <a:off x="6096000" y="2921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9" name="n_D"/>
          <p:cNvSpPr>
            <a:spLocks noGrp="1"/>
          </p:cNvSpPr>
          <p:nvPr/>
        </p:nvSpPr>
        <p:spPr>
          <a:xfrm>
            <a:off x="1270000" y="4445000"/>
            <a:ext cx="762000" cy="762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10" name="n_E"/>
          <p:cNvSpPr>
            <a:spLocks noGrp="1"/>
          </p:cNvSpPr>
          <p:nvPr/>
        </p:nvSpPr>
        <p:spPr>
          <a:xfrm>
            <a:off x="3302000" y="4445000"/>
            <a:ext cx="762000" cy="762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111" name="n_F"/>
          <p:cNvSpPr>
            <a:spLocks noGrp="1"/>
          </p:cNvSpPr>
          <p:nvPr/>
        </p:nvSpPr>
        <p:spPr>
          <a:xfrm>
            <a:off x="5080000" y="4445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12" name="n_G"/>
          <p:cNvSpPr>
            <a:spLocks noGrp="1"/>
          </p:cNvSpPr>
          <p:nvPr/>
        </p:nvSpPr>
        <p:spPr>
          <a:xfrm>
            <a:off x="7112000" y="4445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13" name="title"/>
          <p:cNvSpPr>
            <a:spLocks noGrp="1"/>
          </p:cNvSpPr>
          <p:nvPr/>
        </p:nvSpPr>
        <p:spPr>
          <a:xfrm>
            <a:off x="254000" y="127000"/>
            <a:ext cx="8636000" cy="635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1F4E79"/>
                </a:solidFill>
              </a:rPr>
              <a:t>DFS Traversal — Step 5: Visit B</a:t>
            </a:r>
          </a:p>
        </p:txBody>
      </p:sp>
      <p:sp>
        <p:nvSpPr>
          <p:cNvPr id="114" name="info"/>
          <p:cNvSpPr>
            <a:spLocks noGrp="1"/>
          </p:cNvSpPr>
          <p:nvPr/>
        </p:nvSpPr>
        <p:spPr>
          <a:xfrm>
            <a:off x="254000" y="5715000"/>
            <a:ext cx="8636000" cy="889000"/>
          </a:xfrm>
          <a:prstGeom prst="roundRect">
            <a:avLst>
              <a:gd name="adj" fmla="val 20000"/>
            </a:avLst>
          </a:prstGeom>
          <a:solidFill>
            <a:srgbClr val="EFF5FB"/>
          </a:solidFill>
          <a:ln w="19050">
            <a:solidFill>
              <a:srgbClr val="1F4E79"/>
            </a:solidFill>
          </a:ln>
        </p:spPr>
        <p:txBody>
          <a:bodyPr lIns="127000" rIns="127000" anchor="ctr"/>
          <a:lstStyle/>
          <a:p>
            <a:pPr algn="ctr"/>
            <a:r>
              <a:rPr lang="en-US" sz="1600" b="1" dirty="0">
                <a:solidFill>
                  <a:srgbClr val="1F4E79"/>
                </a:solidFill>
              </a:rPr>
              <a:t>Stack: [D, E]   |   Visited: A, C, F, G, B</a:t>
            </a:r>
          </a:p>
        </p:txBody>
      </p:sp>
      <p:sp>
        <p:nvSpPr>
          <p:cNvPr id="115" name="legend"/>
          <p:cNvSpPr>
            <a:spLocks noGrp="1"/>
          </p:cNvSpPr>
          <p:nvPr/>
        </p:nvSpPr>
        <p:spPr>
          <a:xfrm>
            <a:off x="6774510" y="1651000"/>
            <a:ext cx="2115489" cy="1327150"/>
          </a:xfrm>
          <a:prstGeom prst="rect">
            <a:avLst/>
          </a:prstGeom>
          <a:solidFill>
            <a:srgbClr val="F8F8F8"/>
          </a:solidFill>
          <a:ln w="12700">
            <a:solidFill>
              <a:srgbClr val="AAAAAA"/>
            </a:solidFill>
          </a:ln>
        </p:spPr>
        <p:txBody>
          <a:bodyPr lIns="76200" tIns="76200" rIns="76200" anchor="t"/>
          <a:lstStyle/>
          <a:p>
            <a:r>
              <a:rPr lang="en-US" sz="1100" b="1" dirty="0">
                <a:solidFill>
                  <a:srgbClr val="FF6B00"/>
                </a:solidFill>
              </a:rPr>
              <a:t>● Current</a:t>
            </a:r>
          </a:p>
          <a:p>
            <a:r>
              <a:rPr lang="en-US" sz="1100" b="1" dirty="0">
                <a:solidFill>
                  <a:srgbClr val="2E7D32"/>
                </a:solidFill>
              </a:rPr>
              <a:t>● Visited</a:t>
            </a:r>
          </a:p>
          <a:p>
            <a:r>
              <a:rPr lang="en-US" sz="1100" dirty="0">
                <a:solidFill>
                  <a:srgbClr val="555555"/>
                </a:solidFill>
              </a:rPr>
              <a:t>○ Unvisited</a:t>
            </a:r>
          </a:p>
        </p:txBody>
      </p:sp>
    </p:spTree>
    <p:extLst>
      <p:ext uri="{BB962C8B-B14F-4D97-AF65-F5344CB8AC3E}">
        <p14:creationId xmlns:p14="http://schemas.microsoft.com/office/powerpoint/2010/main" val="3296460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_A_C"/>
          <p:cNvSpPr>
            <a:spLocks noGrp="1"/>
          </p:cNvSpPr>
          <p:nvPr/>
        </p:nvSpPr>
        <p:spPr>
          <a:xfrm>
            <a:off x="4869511" y="2016009"/>
            <a:ext cx="1309978" cy="1047982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e_B_E"/>
          <p:cNvSpPr>
            <a:spLocks noGrp="1"/>
          </p:cNvSpPr>
          <p:nvPr/>
        </p:nvSpPr>
        <p:spPr>
          <a:xfrm>
            <a:off x="2878341" y="3619011"/>
            <a:ext cx="593318" cy="889978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e_C_G"/>
          <p:cNvSpPr>
            <a:spLocks noGrp="1"/>
          </p:cNvSpPr>
          <p:nvPr/>
        </p:nvSpPr>
        <p:spPr>
          <a:xfrm>
            <a:off x="6688341" y="3619011"/>
            <a:ext cx="593318" cy="889978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n_A"/>
          <p:cNvSpPr>
            <a:spLocks noGrp="1"/>
          </p:cNvSpPr>
          <p:nvPr/>
        </p:nvSpPr>
        <p:spPr>
          <a:xfrm>
            <a:off x="4191000" y="1397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7" name="n_B"/>
          <p:cNvSpPr>
            <a:spLocks noGrp="1"/>
          </p:cNvSpPr>
          <p:nvPr/>
        </p:nvSpPr>
        <p:spPr>
          <a:xfrm>
            <a:off x="2286000" y="2921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8" name="n_C"/>
          <p:cNvSpPr>
            <a:spLocks noGrp="1"/>
          </p:cNvSpPr>
          <p:nvPr/>
        </p:nvSpPr>
        <p:spPr>
          <a:xfrm>
            <a:off x="6096000" y="2921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9" name="n_D"/>
          <p:cNvSpPr>
            <a:spLocks noGrp="1"/>
          </p:cNvSpPr>
          <p:nvPr/>
        </p:nvSpPr>
        <p:spPr>
          <a:xfrm>
            <a:off x="1270000" y="4445000"/>
            <a:ext cx="762000" cy="762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10" name="n_E"/>
          <p:cNvSpPr>
            <a:spLocks noGrp="1"/>
          </p:cNvSpPr>
          <p:nvPr/>
        </p:nvSpPr>
        <p:spPr>
          <a:xfrm>
            <a:off x="3302000" y="4445000"/>
            <a:ext cx="762000" cy="762000"/>
          </a:xfrm>
          <a:prstGeom prst="ellipse">
            <a:avLst/>
          </a:prstGeom>
          <a:solidFill>
            <a:srgbClr val="FF6B00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11" name="n_F"/>
          <p:cNvSpPr>
            <a:spLocks noGrp="1"/>
          </p:cNvSpPr>
          <p:nvPr/>
        </p:nvSpPr>
        <p:spPr>
          <a:xfrm>
            <a:off x="5080000" y="4445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12" name="n_G"/>
          <p:cNvSpPr>
            <a:spLocks noGrp="1"/>
          </p:cNvSpPr>
          <p:nvPr/>
        </p:nvSpPr>
        <p:spPr>
          <a:xfrm>
            <a:off x="7112000" y="4445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13" name="title"/>
          <p:cNvSpPr>
            <a:spLocks noGrp="1"/>
          </p:cNvSpPr>
          <p:nvPr/>
        </p:nvSpPr>
        <p:spPr>
          <a:xfrm>
            <a:off x="254000" y="127000"/>
            <a:ext cx="8636000" cy="635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1F4E79"/>
                </a:solidFill>
              </a:rPr>
              <a:t>DFS Traversal — Step 6: Visit E</a:t>
            </a:r>
          </a:p>
        </p:txBody>
      </p:sp>
      <p:sp>
        <p:nvSpPr>
          <p:cNvPr id="114" name="info"/>
          <p:cNvSpPr>
            <a:spLocks noGrp="1"/>
          </p:cNvSpPr>
          <p:nvPr/>
        </p:nvSpPr>
        <p:spPr>
          <a:xfrm>
            <a:off x="254000" y="5715000"/>
            <a:ext cx="8636000" cy="889000"/>
          </a:xfrm>
          <a:prstGeom prst="roundRect">
            <a:avLst>
              <a:gd name="adj" fmla="val 20000"/>
            </a:avLst>
          </a:prstGeom>
          <a:solidFill>
            <a:srgbClr val="EFF5FB"/>
          </a:solidFill>
          <a:ln w="19050">
            <a:solidFill>
              <a:srgbClr val="1F4E79"/>
            </a:solidFill>
          </a:ln>
        </p:spPr>
        <p:txBody>
          <a:bodyPr lIns="127000" rIns="127000" anchor="ctr"/>
          <a:lstStyle/>
          <a:p>
            <a:pPr algn="ctr"/>
            <a:r>
              <a:rPr lang="en-US" sz="1600" b="1" dirty="0">
                <a:solidFill>
                  <a:srgbClr val="1F4E79"/>
                </a:solidFill>
              </a:rPr>
              <a:t>Stack: [D]   |   Visited: A, C, F, G, B, E</a:t>
            </a:r>
          </a:p>
        </p:txBody>
      </p:sp>
      <p:sp>
        <p:nvSpPr>
          <p:cNvPr id="115" name="legend"/>
          <p:cNvSpPr>
            <a:spLocks noGrp="1"/>
          </p:cNvSpPr>
          <p:nvPr/>
        </p:nvSpPr>
        <p:spPr>
          <a:xfrm>
            <a:off x="6731000" y="1651000"/>
            <a:ext cx="2159000" cy="1397000"/>
          </a:xfrm>
          <a:prstGeom prst="rect">
            <a:avLst/>
          </a:prstGeom>
          <a:solidFill>
            <a:srgbClr val="F8F8F8"/>
          </a:solidFill>
          <a:ln w="12700">
            <a:solidFill>
              <a:srgbClr val="AAAAAA"/>
            </a:solidFill>
          </a:ln>
        </p:spPr>
        <p:txBody>
          <a:bodyPr lIns="76200" tIns="76200" rIns="76200" anchor="t"/>
          <a:lstStyle/>
          <a:p>
            <a:r>
              <a:rPr lang="en-US" sz="1100" b="1" dirty="0">
                <a:solidFill>
                  <a:srgbClr val="FF6B00"/>
                </a:solidFill>
              </a:rPr>
              <a:t>● Current</a:t>
            </a:r>
          </a:p>
          <a:p>
            <a:r>
              <a:rPr lang="en-US" sz="1100" b="1" dirty="0">
                <a:solidFill>
                  <a:srgbClr val="2E7D32"/>
                </a:solidFill>
              </a:rPr>
              <a:t>● Visited</a:t>
            </a:r>
          </a:p>
          <a:p>
            <a:r>
              <a:rPr lang="en-US" sz="1100" dirty="0">
                <a:solidFill>
                  <a:srgbClr val="555555"/>
                </a:solidFill>
              </a:rPr>
              <a:t>○ Unvisited</a:t>
            </a:r>
          </a:p>
        </p:txBody>
      </p:sp>
      <p:sp>
        <p:nvSpPr>
          <p:cNvPr id="2" name="e_A_B">
            <a:extLst>
              <a:ext uri="{FF2B5EF4-FFF2-40B4-BE49-F238E27FC236}">
                <a16:creationId xmlns:a16="http://schemas.microsoft.com/office/drawing/2014/main" id="{6806BE74-E4B3-20B9-24BE-CDFFF159708C}"/>
              </a:ext>
            </a:extLst>
          </p:cNvPr>
          <p:cNvSpPr>
            <a:spLocks noGrp="1"/>
          </p:cNvSpPr>
          <p:nvPr/>
        </p:nvSpPr>
        <p:spPr>
          <a:xfrm flipH="1">
            <a:off x="2878341" y="1968011"/>
            <a:ext cx="1396148" cy="1095980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e_B_D">
            <a:extLst>
              <a:ext uri="{FF2B5EF4-FFF2-40B4-BE49-F238E27FC236}">
                <a16:creationId xmlns:a16="http://schemas.microsoft.com/office/drawing/2014/main" id="{84DCD731-33DD-E14E-21E5-E72540E1D109}"/>
              </a:ext>
            </a:extLst>
          </p:cNvPr>
          <p:cNvSpPr>
            <a:spLocks noGrp="1"/>
          </p:cNvSpPr>
          <p:nvPr/>
        </p:nvSpPr>
        <p:spPr>
          <a:xfrm flipH="1">
            <a:off x="1746250" y="3619011"/>
            <a:ext cx="660400" cy="825989"/>
          </a:xfrm>
          <a:prstGeom prst="line">
            <a:avLst/>
          </a:prstGeom>
          <a:noFill/>
          <a:ln w="25400">
            <a:solidFill>
              <a:srgbClr val="5555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e_C_F">
            <a:extLst>
              <a:ext uri="{FF2B5EF4-FFF2-40B4-BE49-F238E27FC236}">
                <a16:creationId xmlns:a16="http://schemas.microsoft.com/office/drawing/2014/main" id="{9436BFF9-A3AF-E62C-5097-DF1CCB87430D}"/>
              </a:ext>
            </a:extLst>
          </p:cNvPr>
          <p:cNvSpPr>
            <a:spLocks noGrp="1"/>
          </p:cNvSpPr>
          <p:nvPr/>
        </p:nvSpPr>
        <p:spPr>
          <a:xfrm flipH="1">
            <a:off x="5671363" y="3571991"/>
            <a:ext cx="593317" cy="936020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0976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_A_C"/>
          <p:cNvSpPr>
            <a:spLocks noGrp="1"/>
          </p:cNvSpPr>
          <p:nvPr/>
        </p:nvSpPr>
        <p:spPr>
          <a:xfrm>
            <a:off x="4869511" y="2016009"/>
            <a:ext cx="1309978" cy="1047982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e_B_D"/>
          <p:cNvSpPr>
            <a:spLocks noGrp="1"/>
          </p:cNvSpPr>
          <p:nvPr/>
        </p:nvSpPr>
        <p:spPr>
          <a:xfrm flipH="1">
            <a:off x="1781583" y="3571991"/>
            <a:ext cx="593317" cy="889978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e_B_E"/>
          <p:cNvSpPr>
            <a:spLocks noGrp="1"/>
          </p:cNvSpPr>
          <p:nvPr/>
        </p:nvSpPr>
        <p:spPr>
          <a:xfrm>
            <a:off x="2878341" y="3619011"/>
            <a:ext cx="593318" cy="889978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e_C_G"/>
          <p:cNvSpPr>
            <a:spLocks noGrp="1"/>
          </p:cNvSpPr>
          <p:nvPr/>
        </p:nvSpPr>
        <p:spPr>
          <a:xfrm>
            <a:off x="6688341" y="3619011"/>
            <a:ext cx="593318" cy="889978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n_A"/>
          <p:cNvSpPr>
            <a:spLocks noGrp="1"/>
          </p:cNvSpPr>
          <p:nvPr/>
        </p:nvSpPr>
        <p:spPr>
          <a:xfrm>
            <a:off x="4191000" y="1397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7" name="n_B"/>
          <p:cNvSpPr>
            <a:spLocks noGrp="1"/>
          </p:cNvSpPr>
          <p:nvPr/>
        </p:nvSpPr>
        <p:spPr>
          <a:xfrm>
            <a:off x="2286000" y="2921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8" name="n_C"/>
          <p:cNvSpPr>
            <a:spLocks noGrp="1"/>
          </p:cNvSpPr>
          <p:nvPr/>
        </p:nvSpPr>
        <p:spPr>
          <a:xfrm>
            <a:off x="6096000" y="2921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9" name="n_D"/>
          <p:cNvSpPr>
            <a:spLocks noGrp="1"/>
          </p:cNvSpPr>
          <p:nvPr/>
        </p:nvSpPr>
        <p:spPr>
          <a:xfrm>
            <a:off x="1270000" y="4445000"/>
            <a:ext cx="762000" cy="762000"/>
          </a:xfrm>
          <a:prstGeom prst="ellipse">
            <a:avLst/>
          </a:prstGeom>
          <a:solidFill>
            <a:srgbClr val="FF6B00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10" name="n_E"/>
          <p:cNvSpPr>
            <a:spLocks noGrp="1"/>
          </p:cNvSpPr>
          <p:nvPr/>
        </p:nvSpPr>
        <p:spPr>
          <a:xfrm>
            <a:off x="3302000" y="4445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11" name="n_F"/>
          <p:cNvSpPr>
            <a:spLocks noGrp="1"/>
          </p:cNvSpPr>
          <p:nvPr/>
        </p:nvSpPr>
        <p:spPr>
          <a:xfrm>
            <a:off x="5080000" y="4445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12" name="n_G"/>
          <p:cNvSpPr>
            <a:spLocks noGrp="1"/>
          </p:cNvSpPr>
          <p:nvPr/>
        </p:nvSpPr>
        <p:spPr>
          <a:xfrm>
            <a:off x="7112000" y="4445000"/>
            <a:ext cx="762000" cy="7620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1A1A1A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13" name="title"/>
          <p:cNvSpPr>
            <a:spLocks noGrp="1"/>
          </p:cNvSpPr>
          <p:nvPr/>
        </p:nvSpPr>
        <p:spPr>
          <a:xfrm>
            <a:off x="254000" y="127000"/>
            <a:ext cx="8636000" cy="635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1F4E79"/>
                </a:solidFill>
              </a:rPr>
              <a:t>DFS Traversal — Step 7: Visit D  ✓ Complete!</a:t>
            </a:r>
          </a:p>
        </p:txBody>
      </p:sp>
      <p:sp>
        <p:nvSpPr>
          <p:cNvPr id="114" name="info"/>
          <p:cNvSpPr>
            <a:spLocks noGrp="1"/>
          </p:cNvSpPr>
          <p:nvPr/>
        </p:nvSpPr>
        <p:spPr>
          <a:xfrm>
            <a:off x="254000" y="5588000"/>
            <a:ext cx="8636000" cy="10795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txBody>
          <a:bodyPr lIns="127000" rIns="127000" anchor="ctr"/>
          <a:lstStyle/>
          <a:p>
            <a:pPr algn="ctr"/>
            <a:r>
              <a:rPr lang="en-US" sz="1600" b="1" dirty="0">
                <a:solidFill>
                  <a:srgbClr val="1B5E20"/>
                </a:solidFill>
              </a:rPr>
              <a:t>Stack: [ empty ]   |   DFS Order: A → C → F → G → B → E → D</a:t>
            </a:r>
          </a:p>
        </p:txBody>
      </p:sp>
      <p:sp>
        <p:nvSpPr>
          <p:cNvPr id="115" name="legend"/>
          <p:cNvSpPr>
            <a:spLocks noGrp="1"/>
          </p:cNvSpPr>
          <p:nvPr/>
        </p:nvSpPr>
        <p:spPr>
          <a:xfrm>
            <a:off x="6731000" y="1651000"/>
            <a:ext cx="2159000" cy="1397000"/>
          </a:xfrm>
          <a:prstGeom prst="rect">
            <a:avLst/>
          </a:prstGeom>
          <a:solidFill>
            <a:srgbClr val="F8F8F8"/>
          </a:solidFill>
          <a:ln w="12700">
            <a:solidFill>
              <a:srgbClr val="AAAAAA"/>
            </a:solidFill>
          </a:ln>
        </p:spPr>
        <p:txBody>
          <a:bodyPr lIns="76200" tIns="76200" rIns="76200" anchor="t"/>
          <a:lstStyle/>
          <a:p>
            <a:r>
              <a:rPr lang="en-US" sz="1100" b="1" dirty="0">
                <a:solidFill>
                  <a:srgbClr val="FF6B00"/>
                </a:solidFill>
              </a:rPr>
              <a:t>● Current</a:t>
            </a:r>
          </a:p>
          <a:p>
            <a:r>
              <a:rPr lang="en-US" sz="1100" b="1" dirty="0">
                <a:solidFill>
                  <a:srgbClr val="2E7D32"/>
                </a:solidFill>
              </a:rPr>
              <a:t>● Visited</a:t>
            </a:r>
          </a:p>
          <a:p>
            <a:r>
              <a:rPr lang="en-US" sz="1100" dirty="0">
                <a:solidFill>
                  <a:srgbClr val="555555"/>
                </a:solidFill>
              </a:rPr>
              <a:t>○ Unvisited</a:t>
            </a:r>
          </a:p>
        </p:txBody>
      </p:sp>
      <p:sp>
        <p:nvSpPr>
          <p:cNvPr id="2" name="e_A_B">
            <a:extLst>
              <a:ext uri="{FF2B5EF4-FFF2-40B4-BE49-F238E27FC236}">
                <a16:creationId xmlns:a16="http://schemas.microsoft.com/office/drawing/2014/main" id="{53D918DD-CE70-AE3F-87FF-76752D7D9914}"/>
              </a:ext>
            </a:extLst>
          </p:cNvPr>
          <p:cNvSpPr>
            <a:spLocks noGrp="1"/>
          </p:cNvSpPr>
          <p:nvPr/>
        </p:nvSpPr>
        <p:spPr>
          <a:xfrm flipH="1">
            <a:off x="2878341" y="1968011"/>
            <a:ext cx="1396148" cy="1095980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e_C_F">
            <a:extLst>
              <a:ext uri="{FF2B5EF4-FFF2-40B4-BE49-F238E27FC236}">
                <a16:creationId xmlns:a16="http://schemas.microsoft.com/office/drawing/2014/main" id="{BFCF1EE1-69CC-CAEE-A674-9A861BBED06C}"/>
              </a:ext>
            </a:extLst>
          </p:cNvPr>
          <p:cNvSpPr>
            <a:spLocks noGrp="1"/>
          </p:cNvSpPr>
          <p:nvPr/>
        </p:nvSpPr>
        <p:spPr>
          <a:xfrm flipH="1">
            <a:off x="5671363" y="3571991"/>
            <a:ext cx="593317" cy="936020"/>
          </a:xfrm>
          <a:prstGeom prst="line">
            <a:avLst/>
          </a:prstGeom>
          <a:noFill/>
          <a:ln w="38100">
            <a:solidFill>
              <a:srgbClr val="2E7D32"/>
            </a:solidFill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4306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2855F-817E-230F-94E4-D696409F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25500"/>
          </a:xfrm>
        </p:spPr>
        <p:txBody>
          <a:bodyPr>
            <a:normAutofit/>
          </a:bodyPr>
          <a:lstStyle/>
          <a:p>
            <a:r>
              <a:rPr lang="en-US" sz="2800" b="1"/>
              <a:t>DFS Problem — Step-by-Step Solution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9BB05A-DD70-4FEE-8908-2265BA998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996559"/>
              </p:ext>
            </p:extLst>
          </p:nvPr>
        </p:nvGraphicFramePr>
        <p:xfrm>
          <a:off x="381000" y="952500"/>
          <a:ext cx="8382000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51265094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978637727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27401296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41124194"/>
                    </a:ext>
                  </a:extLst>
                </a:gridCol>
              </a:tblGrid>
              <a:tr h="541956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Current Node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Stack (LIFO)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Visited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525833"/>
                  </a:ext>
                </a:extLst>
              </a:tr>
              <a:tr h="684576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1F4E79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B,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0D3063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95704"/>
                  </a:ext>
                </a:extLst>
              </a:tr>
              <a:tr h="684576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1F4E79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B, G, F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0D3063"/>
                          </a:solidFill>
                        </a:rPr>
                        <a:t>A, C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572429"/>
                  </a:ext>
                </a:extLst>
              </a:tr>
              <a:tr h="684576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F4E79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B, 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0D3063"/>
                          </a:solidFill>
                        </a:rPr>
                        <a:t>A, C, 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579081"/>
                  </a:ext>
                </a:extLst>
              </a:tr>
              <a:tr h="684576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4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1F4E79"/>
                          </a:solidFill>
                        </a:rPr>
                        <a:t>G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B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0D3063"/>
                          </a:solidFill>
                        </a:rPr>
                        <a:t>A, C, F, G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561839"/>
                  </a:ext>
                </a:extLst>
              </a:tr>
              <a:tr h="684576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1F4E79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D, 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0D3063"/>
                          </a:solidFill>
                        </a:rPr>
                        <a:t>A, C, F, G,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763575"/>
                  </a:ext>
                </a:extLst>
              </a:tr>
              <a:tr h="684576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6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1F4E79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0D3063"/>
                          </a:solidFill>
                        </a:rPr>
                        <a:t>A, C, F, G, B, E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263280"/>
                  </a:ext>
                </a:extLst>
              </a:tr>
              <a:tr h="684588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1F4E79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rgbClr val="0D3063"/>
                          </a:solidFill>
                        </a:rPr>
                        <a:t>A, C, F, G, B, E, 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895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F8674A-8541-4584-863C-2D56A55E5FA5}"/>
              </a:ext>
            </a:extLst>
          </p:cNvPr>
          <p:cNvSpPr txBox="1"/>
          <p:nvPr/>
        </p:nvSpPr>
        <p:spPr>
          <a:xfrm>
            <a:off x="381000" y="6350000"/>
            <a:ext cx="838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222222"/>
                </a:solidFill>
              </a:rPr>
              <a:t>Graph: A→B,C  |  B→D,E  |  C→F,G     DFS uses Stack (LIFO) — explores deepest node first</a:t>
            </a:r>
          </a:p>
        </p:txBody>
      </p:sp>
    </p:spTree>
    <p:extLst>
      <p:ext uri="{BB962C8B-B14F-4D97-AF65-F5344CB8AC3E}">
        <p14:creationId xmlns:p14="http://schemas.microsoft.com/office/powerpoint/2010/main" val="2627298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C5EE6-566F-4B09-4A8D-A7FC4AF1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5C94-5025-0C8B-2ED2-38EE84677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Depth-Limited Search (DLS)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A33AD9-5FB5-E6C2-E868-8A0062207A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wrap="square"/>
              <a:lstStyle/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Depth Limitation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It stops exploring once it reaches a fixed depth you set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Stack (LIFO)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The most recently added node is explored first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complete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It can find a solution only if the solution lies within the depth limit you chose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Time Complexity</a:t>
                </a:r>
                <a:endParaRPr lang="en-US" b="1" dirty="0"/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can take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time, where </a:t>
                </a:r>
                <a:r>
                  <a:rPr lang="en-US" sz="1800" i="1" dirty="0"/>
                  <a:t>b</a:t>
                </a:r>
                <a:r>
                  <a:rPr lang="en-US" sz="1800" dirty="0"/>
                  <a:t> is branching factor and </a:t>
                </a:r>
                <a:r>
                  <a:rPr lang="en-US" sz="1800" i="1" dirty="0"/>
                  <a:t>l</a:t>
                </a:r>
                <a:r>
                  <a:rPr lang="en-US" sz="1800" dirty="0"/>
                  <a:t> is depth limit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It takes time based on how many nodes it has to explore before reaching the depth limit.</a:t>
                </a:r>
                <a:endParaRPr lang="en-US" dirty="0"/>
              </a:p>
              <a:p>
                <a:pPr marL="0" indent="0">
                  <a:buNone/>
                  <a:defRPr sz="180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A33AD9-5FB5-E6C2-E868-8A0062207A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3704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30B8-FC85-AA61-A20A-1CF128B1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0A44-FFED-6D62-8302-D869718B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Depth-Limited Search (DLS)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AB61DA-3B5F-F004-AB91-A32BD6EC4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1" y="1664052"/>
            <a:ext cx="4435677" cy="318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01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5C5BD5-5B0D-4A44-8DCA-DF6BD54D51F0}"/>
              </a:ext>
            </a:extLst>
          </p:cNvPr>
          <p:cNvSpPr txBox="1"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Depth-Limited Search (DLS) — Solution  |  Depth Limit = 2  |  Goal = 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11E6AB-5972-4E8A-AA43-2B9F788C2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693953"/>
              </p:ext>
            </p:extLst>
          </p:nvPr>
        </p:nvGraphicFramePr>
        <p:xfrm>
          <a:off x="190500" y="736600"/>
          <a:ext cx="8763000" cy="5229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18231805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0831434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40994099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01803099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1107132717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88181122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Node Popped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Depth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Stack (top→bottom)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Visited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0557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/>
                        <a:t>A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Expand → push B, C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B, C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A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82120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/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Expand → push D, 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D, E,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A,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08450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3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/>
                        <a:t>D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E65100"/>
                          </a:solidFill>
                        </a:rPr>
                        <a:t>At limit — no expand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E, C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A, B, D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84271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4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/>
                        <a:t>E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2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E65100"/>
                          </a:solidFill>
                        </a:rPr>
                        <a:t>At limit — no expand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C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/>
                        <a:t>A, B, D, E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87561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5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/>
                        <a:t>C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Expand → push H, I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H, I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A, B, D, E, C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522420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6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H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E65100"/>
                          </a:solidFill>
                        </a:rPr>
                        <a:t>At limit — no expand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I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A, B, D, E, C, H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4008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rgbClr val="E65100"/>
                          </a:solidFill>
                        </a:rPr>
                        <a:t>At limit — no expand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B5E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ysClr val="windowText" lastClr="000000"/>
                          </a:solidFill>
                        </a:rPr>
                        <a:t>A, B, D, E, C, H, I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36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873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Iterative Deepening Search (IDS)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2000" dirty="0"/>
              <a:t>Combines </a:t>
            </a:r>
            <a:r>
              <a:rPr lang="en-US" sz="2000" b="1" dirty="0"/>
              <a:t>DFS and BFS</a:t>
            </a:r>
            <a:r>
              <a:rPr lang="en-US" sz="2000" dirty="0"/>
              <a:t> advantages. (complete, space efficient)</a:t>
            </a:r>
          </a:p>
          <a:p>
            <a:endParaRPr lang="en-US" sz="2000" dirty="0"/>
          </a:p>
          <a:p>
            <a:r>
              <a:rPr lang="en-US" sz="2000" dirty="0"/>
              <a:t>Searches to a limited depth, increasing the limit with each iteration</a:t>
            </a:r>
          </a:p>
          <a:p>
            <a:endParaRPr lang="en-US" sz="2000" dirty="0"/>
          </a:p>
          <a:p>
            <a:r>
              <a:rPr lang="en-US" sz="2000" dirty="0"/>
              <a:t>Ensure both completeness and optimality</a:t>
            </a:r>
          </a:p>
          <a:p>
            <a:endParaRPr lang="en-US" sz="2000" dirty="0"/>
          </a:p>
          <a:p>
            <a:r>
              <a:rPr lang="en-US" sz="2000" dirty="0"/>
              <a:t>Ensure exploration of all nodes at each depth before going deeper</a:t>
            </a:r>
            <a:endParaRPr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5E531-33A8-81CB-5E29-6814BB1F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84C9-A594-E963-A965-CA303F7BC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Iterative Deepening Search (IDS)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F5CBA-6B59-867E-8394-9F36D9562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1" y="1664052"/>
            <a:ext cx="4435677" cy="318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54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A6634D-78B9-4E1D-AA91-89D77BA5E4A3}"/>
              </a:ext>
            </a:extLst>
          </p:cNvPr>
          <p:cNvSpPr txBox="1"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</a:rPr>
              <a:t>Iterative Deepening Search (IDS) — Solution  |  Goal = 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2CC893-4260-4260-B3FE-76591E030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560016"/>
              </p:ext>
            </p:extLst>
          </p:nvPr>
        </p:nvGraphicFramePr>
        <p:xfrm>
          <a:off x="190500" y="1447802"/>
          <a:ext cx="8763000" cy="3749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48476114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88022623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492499840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2111152"/>
                    </a:ext>
                  </a:extLst>
                </a:gridCol>
              </a:tblGrid>
              <a:tr h="661103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Iteration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Depth Limit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Nodes Explored (order)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561072"/>
                  </a:ext>
                </a:extLst>
              </a:tr>
              <a:tr h="693725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B71C1C"/>
                          </a:solidFill>
                        </a:rPr>
                        <a:t>Goal not found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642"/>
                  </a:ext>
                </a:extLst>
              </a:tr>
              <a:tr h="693725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A → B →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B71C1C"/>
                          </a:solidFill>
                        </a:rPr>
                        <a:t>Goal not found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9597521"/>
                  </a:ext>
                </a:extLst>
              </a:tr>
              <a:tr h="69372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5E2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5E2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B5E20"/>
                          </a:solidFill>
                        </a:rPr>
                        <a:t>A → B → D → E → C → H → 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rgbClr val="B71C1C"/>
                          </a:solidFill>
                        </a:rPr>
                        <a:t>Goal not found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575121"/>
                  </a:ext>
                </a:extLst>
              </a:tr>
              <a:tr h="100739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5E2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5E2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1B5E20"/>
                          </a:solidFill>
                        </a:rPr>
                        <a:t>A → B → D → F →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1B5E20"/>
                          </a:solidFill>
                        </a:rPr>
                        <a:t>✓ GOAL FOUND (G at depth 2)</a:t>
                      </a:r>
                    </a:p>
                    <a:p>
                      <a:pPr algn="l"/>
                      <a:endParaRPr lang="en-US" sz="1300" b="1" dirty="0">
                        <a:solidFill>
                          <a:srgbClr val="1B5E2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00743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BDAE69B-718C-46C1-B551-48F97A7204FE}"/>
              </a:ext>
            </a:extLst>
          </p:cNvPr>
          <p:cNvSpPr txBox="1"/>
          <p:nvPr/>
        </p:nvSpPr>
        <p:spPr>
          <a:xfrm>
            <a:off x="190500" y="6477000"/>
            <a:ext cx="876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IDS re-runs DFS from scratch at each deeper limit — combines DFS space efficiency + BFS completeness</a:t>
            </a:r>
          </a:p>
        </p:txBody>
      </p:sp>
    </p:spTree>
    <p:extLst>
      <p:ext uri="{BB962C8B-B14F-4D97-AF65-F5344CB8AC3E}">
        <p14:creationId xmlns:p14="http://schemas.microsoft.com/office/powerpoint/2010/main" val="1580065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6099AB-3559-E3CD-AA50-DF2526E76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025175"/>
              </p:ext>
            </p:extLst>
          </p:nvPr>
        </p:nvGraphicFramePr>
        <p:xfrm>
          <a:off x="520701" y="228600"/>
          <a:ext cx="8083550" cy="58356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{3C2FFA5D-87B4-456A-9821-1D502468CF0F}</a:tableStyleId>
              </a:tblPr>
              <a:tblGrid>
                <a:gridCol w="1616710">
                  <a:extLst>
                    <a:ext uri="{9D8B030D-6E8A-4147-A177-3AD203B41FA5}">
                      <a16:colId xmlns:a16="http://schemas.microsoft.com/office/drawing/2014/main" val="82099787"/>
                    </a:ext>
                  </a:extLst>
                </a:gridCol>
                <a:gridCol w="1616710">
                  <a:extLst>
                    <a:ext uri="{9D8B030D-6E8A-4147-A177-3AD203B41FA5}">
                      <a16:colId xmlns:a16="http://schemas.microsoft.com/office/drawing/2014/main" val="804770850"/>
                    </a:ext>
                  </a:extLst>
                </a:gridCol>
                <a:gridCol w="1616710">
                  <a:extLst>
                    <a:ext uri="{9D8B030D-6E8A-4147-A177-3AD203B41FA5}">
                      <a16:colId xmlns:a16="http://schemas.microsoft.com/office/drawing/2014/main" val="3341648195"/>
                    </a:ext>
                  </a:extLst>
                </a:gridCol>
                <a:gridCol w="1616710">
                  <a:extLst>
                    <a:ext uri="{9D8B030D-6E8A-4147-A177-3AD203B41FA5}">
                      <a16:colId xmlns:a16="http://schemas.microsoft.com/office/drawing/2014/main" val="1115866770"/>
                    </a:ext>
                  </a:extLst>
                </a:gridCol>
                <a:gridCol w="1616710">
                  <a:extLst>
                    <a:ext uri="{9D8B030D-6E8A-4147-A177-3AD203B41FA5}">
                      <a16:colId xmlns:a16="http://schemas.microsoft.com/office/drawing/2014/main" val="3885965591"/>
                    </a:ext>
                  </a:extLst>
                </a:gridCol>
              </a:tblGrid>
              <a:tr h="47011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Algorithm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Time Complexity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Space Complexity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Complete?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Optimal?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439772"/>
                  </a:ext>
                </a:extLst>
              </a:tr>
              <a:tr h="143819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BFS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(Breadth-First)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O(b ^ d)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O(b ^ d)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Yes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(on finite graphs)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113438"/>
                  </a:ext>
                </a:extLst>
              </a:tr>
              <a:tr h="124457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DFS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 (Depth-First)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O(b ^ m)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O(b * m)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No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(may loop)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No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89879"/>
                  </a:ext>
                </a:extLst>
              </a:tr>
              <a:tr h="143819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DLS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 (Depth-Limited)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O(b ^ l)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O(b * l)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No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(fails if d &gt; l)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No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097817"/>
                  </a:ext>
                </a:extLst>
              </a:tr>
              <a:tr h="124457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IDS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 (Iterative Deepening)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O(b ^ d)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O(b * d)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Yes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1104" marR="34253" marT="45671" marB="45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5252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725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Summary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3291E5-F31A-AA0F-9DC6-DD5D5F0EB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067301"/>
              </p:ext>
            </p:extLst>
          </p:nvPr>
        </p:nvGraphicFramePr>
        <p:xfrm>
          <a:off x="339213" y="1901646"/>
          <a:ext cx="8229600" cy="2743200"/>
        </p:xfrm>
        <a:graphic>
          <a:graphicData uri="http://schemas.openxmlformats.org/drawingml/2006/table">
            <a:tbl>
              <a:tblPr/>
              <a:tblGrid>
                <a:gridCol w="1519084">
                  <a:extLst>
                    <a:ext uri="{9D8B030D-6E8A-4147-A177-3AD203B41FA5}">
                      <a16:colId xmlns:a16="http://schemas.microsoft.com/office/drawing/2014/main" val="307013742"/>
                    </a:ext>
                  </a:extLst>
                </a:gridCol>
                <a:gridCol w="3392129">
                  <a:extLst>
                    <a:ext uri="{9D8B030D-6E8A-4147-A177-3AD203B41FA5}">
                      <a16:colId xmlns:a16="http://schemas.microsoft.com/office/drawing/2014/main" val="2769406044"/>
                    </a:ext>
                  </a:extLst>
                </a:gridCol>
                <a:gridCol w="3318387">
                  <a:extLst>
                    <a:ext uri="{9D8B030D-6E8A-4147-A177-3AD203B41FA5}">
                      <a16:colId xmlns:a16="http://schemas.microsoft.com/office/drawing/2014/main" val="1300870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 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 Disadvantage /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782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BFS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Complete, optimal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943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Finds least-cost 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computational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33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DFS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Space efficient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optimal, may get stuck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272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Prevents infinite loops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May miss solution beyond depth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977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Combines BFS &amp; DFS advantages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Repeated search → slightly more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173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9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6793B1-009D-4CA3-8D6E-A53C11945235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20fad29-3f50-41cd-bf4f-ecff5fc9c72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1378</TotalTime>
  <Words>1034</Words>
  <Application>Microsoft Office PowerPoint</Application>
  <PresentationFormat>On-screen Show (4:3)</PresentationFormat>
  <Paragraphs>269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Google Sans Text</vt:lpstr>
      <vt:lpstr>Office Theme</vt:lpstr>
      <vt:lpstr>Lecture # 4</vt:lpstr>
      <vt:lpstr>Depth-First Search (DFS)</vt:lpstr>
      <vt:lpstr>Depth-First Search (DFS)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DFS Problem — Step-by-Step Solution</vt:lpstr>
      <vt:lpstr>Depth-Limited Search (DLS)</vt:lpstr>
      <vt:lpstr>Depth-Limited Search (DLS)</vt:lpstr>
      <vt:lpstr>PowerPoint Presentation</vt:lpstr>
      <vt:lpstr>Iterative Deepening Search (IDS)</vt:lpstr>
      <vt:lpstr>Iterative Deepening Search (IDS)</vt:lpstr>
      <vt:lpstr>PowerPoint Presentation</vt:lpstr>
      <vt:lpstr>PowerPoint Presentation</vt:lpstr>
      <vt:lpstr>Comparison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Hussain</cp:lastModifiedBy>
  <cp:revision>50</cp:revision>
  <dcterms:created xsi:type="dcterms:W3CDTF">2013-01-27T09:14:16Z</dcterms:created>
  <dcterms:modified xsi:type="dcterms:W3CDTF">2026-04-08T09:47:29Z</dcterms:modified>
  <cp:category/>
</cp:coreProperties>
</file>