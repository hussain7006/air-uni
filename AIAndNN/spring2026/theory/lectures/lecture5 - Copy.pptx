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74" r:id="rId5"/>
    <p:sldId id="258" r:id="rId6"/>
    <p:sldId id="260" r:id="rId7"/>
    <p:sldId id="276" r:id="rId8"/>
    <p:sldId id="275" r:id="rId9"/>
    <p:sldId id="262" r:id="rId10"/>
    <p:sldId id="277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Informed Search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Informed 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2000" b="1" dirty="0"/>
              <a:t>Informed search</a:t>
            </a:r>
          </a:p>
          <a:p>
            <a:pPr lvl="1"/>
            <a:r>
              <a:rPr lang="en-US" sz="1800" dirty="0"/>
              <a:t>Informed search algorithms use problem specific knowledge called a </a:t>
            </a:r>
            <a:r>
              <a:rPr lang="en-US" sz="1800" b="1" dirty="0"/>
              <a:t>heuristic, </a:t>
            </a:r>
            <a:r>
              <a:rPr lang="en-US" sz="1800" dirty="0"/>
              <a:t>to find the solution faster.</a:t>
            </a:r>
          </a:p>
          <a:p>
            <a:endParaRPr lang="en-US" sz="1800" dirty="0"/>
          </a:p>
          <a:p>
            <a:r>
              <a:rPr sz="2000" b="1" dirty="0"/>
              <a:t>Heuristic</a:t>
            </a:r>
            <a:r>
              <a:rPr sz="2000" dirty="0"/>
              <a:t> </a:t>
            </a:r>
            <a:endParaRPr lang="en-US" sz="2000" dirty="0"/>
          </a:p>
          <a:p>
            <a:pPr lvl="1"/>
            <a:r>
              <a:rPr lang="en-US" sz="1800" dirty="0"/>
              <a:t>A </a:t>
            </a:r>
            <a:r>
              <a:rPr lang="en-US" sz="1800" b="1" dirty="0"/>
              <a:t>heuristic</a:t>
            </a:r>
            <a:r>
              <a:rPr lang="en-US" sz="1800" dirty="0"/>
              <a:t> is just a </a:t>
            </a:r>
            <a:r>
              <a:rPr lang="en-US" sz="1800" b="1" dirty="0"/>
              <a:t>guess</a:t>
            </a:r>
            <a:r>
              <a:rPr lang="en-US" sz="1800" dirty="0"/>
              <a:t> of how close we are to the goal from the current point.</a:t>
            </a:r>
            <a:br>
              <a:rPr lang="en-US" sz="1800" dirty="0"/>
            </a:br>
            <a:r>
              <a:rPr lang="en-US" sz="1800" dirty="0"/>
              <a:t>It helps the algorithm choose </a:t>
            </a:r>
            <a:r>
              <a:rPr lang="en-US" sz="1800" b="1" dirty="0"/>
              <a:t>which path looks better</a:t>
            </a:r>
            <a:r>
              <a:rPr lang="en-US" sz="1800" dirty="0"/>
              <a:t> to explore next, instead of checking every possible path.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In general, it generates good solution, sometime optimal and sometime quite optimal, uses less memory, less time</a:t>
            </a:r>
          </a:p>
          <a:p>
            <a:pPr lvl="1"/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4C81F-08D8-4907-C90C-7720527F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DA00-8504-6129-0FC6-D3EE2DA6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heuristic function?</a:t>
            </a:r>
            <a:endParaRPr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D742AFA-F1E7-B99E-E353-F73DD8F57C5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97280" y="2002366"/>
            <a:ext cx="6949440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h() &gt;= 0 for all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h(n)  close to 0 means n is close to the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h(n) very large means the goal is far from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if n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goal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node, then h(n)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Example of a heuristic function in pathfinding: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Euclidean distance</a:t>
            </a:r>
            <a:r>
              <a:rPr lang="en-US" dirty="0"/>
              <a:t> (straight-line distance between two points).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9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7F86-62A1-FC5C-619C-C50AF0DD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A22DEC-E7E7-6687-72E2-05586F1C1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45" y="538316"/>
            <a:ext cx="8172709" cy="578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0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Informed Search?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607" y="2062317"/>
            <a:ext cx="7280786" cy="2283542"/>
          </a:xfrm>
        </p:spPr>
        <p:txBody>
          <a:bodyPr>
            <a:normAutofit/>
          </a:bodyPr>
          <a:lstStyle/>
          <a:p>
            <a:r>
              <a:rPr lang="en-US" sz="1800" b="1" dirty="0"/>
              <a:t>Efficiency:</a:t>
            </a:r>
            <a:r>
              <a:rPr lang="en-US" sz="1800" dirty="0"/>
              <a:t> Solves problems much faster than blind search.</a:t>
            </a:r>
          </a:p>
          <a:p>
            <a:endParaRPr lang="en-US" sz="1800" dirty="0"/>
          </a:p>
          <a:p>
            <a:r>
              <a:rPr lang="en-US" sz="1800" b="1" dirty="0"/>
              <a:t>Direction:</a:t>
            </a:r>
            <a:r>
              <a:rPr lang="en-US" sz="1800" dirty="0"/>
              <a:t> Uses "hints" to move towards the goal, rather than wandering.</a:t>
            </a:r>
          </a:p>
          <a:p>
            <a:endParaRPr lang="en-US" sz="1800" dirty="0"/>
          </a:p>
          <a:p>
            <a:r>
              <a:rPr lang="en-US" sz="1800" b="1" dirty="0"/>
              <a:t>Resource Saving:</a:t>
            </a:r>
            <a:r>
              <a:rPr lang="en-US" sz="1800" dirty="0"/>
              <a:t> Uses less memory and computing power by ignoring bad paths.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Greedy Best-First Search (GBFS)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748" y="1600200"/>
            <a:ext cx="7910052" cy="4525963"/>
          </a:xfrm>
        </p:spPr>
        <p:txBody>
          <a:bodyPr/>
          <a:lstStyle/>
          <a:p>
            <a:endParaRPr lang="en-US" sz="1800" b="1" dirty="0"/>
          </a:p>
          <a:p>
            <a:r>
              <a:rPr lang="en-US" sz="1800" b="1" dirty="0"/>
              <a:t>Greedy best-first search</a:t>
            </a:r>
            <a:r>
              <a:rPr lang="en-US" sz="1800" dirty="0"/>
              <a:t> tries to expand the node that is closest to the goal because it is likely to lead to a solution quickly. </a:t>
            </a:r>
            <a:r>
              <a:rPr sz="1800" dirty="0"/>
              <a:t>Fast but not optimal.</a:t>
            </a:r>
            <a:endParaRPr lang="en-US" sz="1800" dirty="0"/>
          </a:p>
          <a:p>
            <a:r>
              <a:rPr lang="en-US" altLang="en-US" sz="1800" dirty="0"/>
              <a:t>It evaluates nodes by using just the heuristic function</a:t>
            </a:r>
          </a:p>
          <a:p>
            <a:endParaRPr lang="en-US" altLang="en-US" sz="1800" dirty="0">
              <a:latin typeface="Google Sans Text"/>
            </a:endParaRPr>
          </a:p>
          <a:p>
            <a:r>
              <a:rPr lang="en-US" altLang="en-US" sz="2000" b="1" dirty="0"/>
              <a:t>Pros</a:t>
            </a:r>
          </a:p>
          <a:p>
            <a:pPr lvl="1"/>
            <a:r>
              <a:rPr lang="en-US" sz="1800" dirty="0"/>
              <a:t>Uses a heuristic → </a:t>
            </a:r>
            <a:r>
              <a:rPr lang="en-US" sz="1800" b="1" dirty="0"/>
              <a:t>fast and efficient</a:t>
            </a:r>
            <a:r>
              <a:rPr lang="en-US" sz="1800" dirty="0"/>
              <a:t> in many cases</a:t>
            </a:r>
          </a:p>
          <a:p>
            <a:pPr lvl="1"/>
            <a:r>
              <a:rPr lang="en-US" sz="1800" dirty="0"/>
              <a:t>Often explores </a:t>
            </a:r>
            <a:r>
              <a:rPr lang="en-US" sz="1800" b="1" dirty="0"/>
              <a:t>fewer nodes</a:t>
            </a:r>
            <a:r>
              <a:rPr lang="en-US" sz="1800" dirty="0"/>
              <a:t> than BFS/DFS</a:t>
            </a:r>
          </a:p>
          <a:p>
            <a:pPr lvl="1"/>
            <a:r>
              <a:rPr lang="en-US" sz="1800" dirty="0"/>
              <a:t>Works well when heuristic gives good estimates</a:t>
            </a:r>
            <a:endParaRPr lang="en-US" altLang="en-US" sz="1400" dirty="0">
              <a:latin typeface="Google Sans Text"/>
            </a:endParaRPr>
          </a:p>
          <a:p>
            <a:r>
              <a:rPr lang="en-US" altLang="en-US" sz="2000" b="1" dirty="0"/>
              <a:t>Cons</a:t>
            </a:r>
            <a:endParaRPr lang="en-US" altLang="en-US" sz="1800" b="1" dirty="0"/>
          </a:p>
          <a:p>
            <a:pPr lvl="1"/>
            <a:r>
              <a:rPr lang="en-US" sz="1800" b="1" dirty="0"/>
              <a:t>Not optimal</a:t>
            </a:r>
            <a:r>
              <a:rPr lang="en-US" sz="1800" dirty="0"/>
              <a:t> → may NOT find the best/shortest path</a:t>
            </a:r>
          </a:p>
          <a:p>
            <a:pPr lvl="1"/>
            <a:r>
              <a:rPr lang="en-US" sz="1800" b="1" dirty="0"/>
              <a:t>Not complete</a:t>
            </a:r>
            <a:r>
              <a:rPr lang="en-US" sz="1800" dirty="0"/>
              <a:t> → can get stuck in loops if not handled</a:t>
            </a:r>
          </a:p>
          <a:p>
            <a:pPr marL="0" indent="0">
              <a:buNone/>
            </a:pPr>
            <a:endParaRPr lang="en-US" sz="1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75CD093-80E0-FF71-DB91-750380689E1A}"/>
              </a:ext>
            </a:extLst>
          </p:cNvPr>
          <p:cNvSpPr/>
          <p:nvPr/>
        </p:nvSpPr>
        <p:spPr>
          <a:xfrm>
            <a:off x="963561" y="737419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818B-0A1C-7BEC-C013-FB8E16BADAB3}"/>
              </a:ext>
            </a:extLst>
          </p:cNvPr>
          <p:cNvSpPr txBox="1"/>
          <p:nvPr/>
        </p:nvSpPr>
        <p:spPr>
          <a:xfrm>
            <a:off x="713571" y="416280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471290-6832-38D4-809E-7FB4E4D76CF7}"/>
              </a:ext>
            </a:extLst>
          </p:cNvPr>
          <p:cNvCxnSpPr>
            <a:stCxn id="4" idx="6"/>
          </p:cNvCxnSpPr>
          <p:nvPr/>
        </p:nvCxnSpPr>
        <p:spPr>
          <a:xfrm>
            <a:off x="1179871" y="850490"/>
            <a:ext cx="707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42E4E1-9A36-F7D6-74E7-338924E153B9}"/>
              </a:ext>
            </a:extLst>
          </p:cNvPr>
          <p:cNvSpPr/>
          <p:nvPr/>
        </p:nvSpPr>
        <p:spPr>
          <a:xfrm>
            <a:off x="1887794" y="737419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02D71C-8CE3-6962-6753-1ACC6F8E4609}"/>
              </a:ext>
            </a:extLst>
          </p:cNvPr>
          <p:cNvSpPr txBox="1"/>
          <p:nvPr/>
        </p:nvSpPr>
        <p:spPr>
          <a:xfrm>
            <a:off x="2025447" y="4270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1EA2AD-B7CA-1D82-DA16-BC25CF3227A2}"/>
              </a:ext>
            </a:extLst>
          </p:cNvPr>
          <p:cNvSpPr txBox="1"/>
          <p:nvPr/>
        </p:nvSpPr>
        <p:spPr>
          <a:xfrm>
            <a:off x="1352670" y="4270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A4C2B8-DF95-BBFA-D70A-89E340C12023}"/>
              </a:ext>
            </a:extLst>
          </p:cNvPr>
          <p:cNvCxnSpPr>
            <a:cxnSpLocks/>
            <a:stCxn id="4" idx="4"/>
            <a:endCxn id="18" idx="0"/>
          </p:cNvCxnSpPr>
          <p:nvPr/>
        </p:nvCxnSpPr>
        <p:spPr>
          <a:xfrm>
            <a:off x="1071716" y="963561"/>
            <a:ext cx="167970" cy="95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2980C2-B426-4DD6-5191-9B517E58F321}"/>
              </a:ext>
            </a:extLst>
          </p:cNvPr>
          <p:cNvSpPr txBox="1"/>
          <p:nvPr/>
        </p:nvSpPr>
        <p:spPr>
          <a:xfrm>
            <a:off x="846018" y="1810429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B45823A-6EC1-AA7F-E67A-7A6951D32E01}"/>
              </a:ext>
            </a:extLst>
          </p:cNvPr>
          <p:cNvSpPr/>
          <p:nvPr/>
        </p:nvSpPr>
        <p:spPr>
          <a:xfrm>
            <a:off x="1131531" y="1919524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F10815-FDBB-54D1-FC96-394F45AA52FB}"/>
              </a:ext>
            </a:extLst>
          </p:cNvPr>
          <p:cNvSpPr txBox="1"/>
          <p:nvPr/>
        </p:nvSpPr>
        <p:spPr>
          <a:xfrm>
            <a:off x="762255" y="1391603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440D51-1578-7E2D-4AB6-EC4E1ED4CCA0}"/>
              </a:ext>
            </a:extLst>
          </p:cNvPr>
          <p:cNvCxnSpPr>
            <a:stCxn id="4" idx="5"/>
          </p:cNvCxnSpPr>
          <p:nvPr/>
        </p:nvCxnSpPr>
        <p:spPr>
          <a:xfrm>
            <a:off x="1148193" y="930443"/>
            <a:ext cx="739601" cy="80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EF5E14-4448-4DBF-87BA-EC2B850BA2F6}"/>
              </a:ext>
            </a:extLst>
          </p:cNvPr>
          <p:cNvSpPr txBox="1"/>
          <p:nvPr/>
        </p:nvSpPr>
        <p:spPr>
          <a:xfrm>
            <a:off x="1429124" y="989403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14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CAADC705-AE0E-DE52-D9BB-12C0A7F14E5B}"/>
              </a:ext>
            </a:extLst>
          </p:cNvPr>
          <p:cNvSpPr/>
          <p:nvPr/>
        </p:nvSpPr>
        <p:spPr>
          <a:xfrm>
            <a:off x="1858297" y="1722857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A4F7B1-2DD3-F606-B56D-F6A78DD18F32}"/>
              </a:ext>
            </a:extLst>
          </p:cNvPr>
          <p:cNvCxnSpPr>
            <a:cxnSpLocks/>
            <a:stCxn id="8" idx="5"/>
            <a:endCxn id="28" idx="1"/>
          </p:cNvCxnSpPr>
          <p:nvPr/>
        </p:nvCxnSpPr>
        <p:spPr>
          <a:xfrm>
            <a:off x="2072426" y="930443"/>
            <a:ext cx="1156105" cy="516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60BEFB1E-4B57-2F09-3A7D-1F01D1048A92}"/>
              </a:ext>
            </a:extLst>
          </p:cNvPr>
          <p:cNvSpPr/>
          <p:nvPr/>
        </p:nvSpPr>
        <p:spPr>
          <a:xfrm>
            <a:off x="3196853" y="1413831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9EE59B-C9DD-D44E-5F2C-584B1DBE1B87}"/>
              </a:ext>
            </a:extLst>
          </p:cNvPr>
          <p:cNvCxnSpPr>
            <a:stCxn id="23" idx="6"/>
            <a:endCxn id="28" idx="3"/>
          </p:cNvCxnSpPr>
          <p:nvPr/>
        </p:nvCxnSpPr>
        <p:spPr>
          <a:xfrm flipV="1">
            <a:off x="2074607" y="1606855"/>
            <a:ext cx="1153924" cy="229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D2808A2-5578-E3D5-B4C8-83B54AD0609F}"/>
              </a:ext>
            </a:extLst>
          </p:cNvPr>
          <p:cNvSpPr txBox="1"/>
          <p:nvPr/>
        </p:nvSpPr>
        <p:spPr>
          <a:xfrm>
            <a:off x="2644877" y="850490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33F0A8-708B-8E99-A690-A367BE2645FC}"/>
              </a:ext>
            </a:extLst>
          </p:cNvPr>
          <p:cNvSpPr txBox="1"/>
          <p:nvPr/>
        </p:nvSpPr>
        <p:spPr>
          <a:xfrm>
            <a:off x="2348825" y="1358735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9F90B7-7A25-C7E8-46D6-37F13669107E}"/>
              </a:ext>
            </a:extLst>
          </p:cNvPr>
          <p:cNvSpPr txBox="1"/>
          <p:nvPr/>
        </p:nvSpPr>
        <p:spPr>
          <a:xfrm>
            <a:off x="1517993" y="16365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7B51A3-CA6E-63B6-1111-9F761B651DED}"/>
              </a:ext>
            </a:extLst>
          </p:cNvPr>
          <p:cNvSpPr txBox="1"/>
          <p:nvPr/>
        </p:nvSpPr>
        <p:spPr>
          <a:xfrm>
            <a:off x="3433919" y="1229165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E27373-967B-5938-9027-661A31AC3161}"/>
              </a:ext>
            </a:extLst>
          </p:cNvPr>
          <p:cNvCxnSpPr>
            <a:cxnSpLocks/>
            <a:stCxn id="18" idx="4"/>
            <a:endCxn id="41" idx="2"/>
          </p:cNvCxnSpPr>
          <p:nvPr/>
        </p:nvCxnSpPr>
        <p:spPr>
          <a:xfrm>
            <a:off x="1239686" y="2145666"/>
            <a:ext cx="648108" cy="1057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D05D14FC-9E9E-13C7-989D-6D3E80595AB8}"/>
              </a:ext>
            </a:extLst>
          </p:cNvPr>
          <p:cNvSpPr/>
          <p:nvPr/>
        </p:nvSpPr>
        <p:spPr>
          <a:xfrm>
            <a:off x="1887794" y="3090132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924C920-E48E-87A4-613E-5A12D3678640}"/>
              </a:ext>
            </a:extLst>
          </p:cNvPr>
          <p:cNvCxnSpPr>
            <a:stCxn id="23" idx="4"/>
            <a:endCxn id="41" idx="7"/>
          </p:cNvCxnSpPr>
          <p:nvPr/>
        </p:nvCxnSpPr>
        <p:spPr>
          <a:xfrm>
            <a:off x="1966452" y="1948999"/>
            <a:ext cx="105974" cy="1174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493DB9C-B2FE-5A9E-260E-99CC52E33369}"/>
              </a:ext>
            </a:extLst>
          </p:cNvPr>
          <p:cNvSpPr txBox="1"/>
          <p:nvPr/>
        </p:nvSpPr>
        <p:spPr>
          <a:xfrm>
            <a:off x="1821426" y="3293939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A6CCE1-5FBC-32A9-9C5A-A93B8AE6B90D}"/>
              </a:ext>
            </a:extLst>
          </p:cNvPr>
          <p:cNvSpPr txBox="1"/>
          <p:nvPr/>
        </p:nvSpPr>
        <p:spPr>
          <a:xfrm>
            <a:off x="1168489" y="2756539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D92E20-B3E8-FB15-DFFB-4244316E8FF8}"/>
              </a:ext>
            </a:extLst>
          </p:cNvPr>
          <p:cNvSpPr txBox="1"/>
          <p:nvPr/>
        </p:nvSpPr>
        <p:spPr>
          <a:xfrm>
            <a:off x="1993746" y="2200050"/>
            <a:ext cx="30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56ED9FC0-447A-16F4-D42C-14E4DC230302}"/>
              </a:ext>
            </a:extLst>
          </p:cNvPr>
          <p:cNvSpPr/>
          <p:nvPr/>
        </p:nvSpPr>
        <p:spPr>
          <a:xfrm>
            <a:off x="3333691" y="2897108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8ECC8EA-C42B-7F6F-3FE5-446F96D720A0}"/>
              </a:ext>
            </a:extLst>
          </p:cNvPr>
          <p:cNvCxnSpPr>
            <a:stCxn id="41" idx="5"/>
            <a:endCxn id="48" idx="3"/>
          </p:cNvCxnSpPr>
          <p:nvPr/>
        </p:nvCxnSpPr>
        <p:spPr>
          <a:xfrm flipV="1">
            <a:off x="2072426" y="3090132"/>
            <a:ext cx="1292943" cy="193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7B3C563-060F-F8A0-E04F-115C1BC1C6D0}"/>
              </a:ext>
            </a:extLst>
          </p:cNvPr>
          <p:cNvSpPr txBox="1"/>
          <p:nvPr/>
        </p:nvSpPr>
        <p:spPr>
          <a:xfrm>
            <a:off x="3367827" y="3131608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C78704-007B-BEE5-75FF-026DC3DB2C16}"/>
              </a:ext>
            </a:extLst>
          </p:cNvPr>
          <p:cNvSpPr txBox="1"/>
          <p:nvPr/>
        </p:nvSpPr>
        <p:spPr>
          <a:xfrm>
            <a:off x="2514548" y="2817312"/>
            <a:ext cx="30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55406229-CF2B-9268-C223-1F4140E0EFB9}"/>
              </a:ext>
            </a:extLst>
          </p:cNvPr>
          <p:cNvSpPr/>
          <p:nvPr/>
        </p:nvSpPr>
        <p:spPr>
          <a:xfrm>
            <a:off x="4321555" y="2339652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9FEF58-8C41-32CC-CCCA-A7F08E9C016F}"/>
              </a:ext>
            </a:extLst>
          </p:cNvPr>
          <p:cNvCxnSpPr>
            <a:stCxn id="48" idx="6"/>
            <a:endCxn id="55" idx="3"/>
          </p:cNvCxnSpPr>
          <p:nvPr/>
        </p:nvCxnSpPr>
        <p:spPr>
          <a:xfrm flipV="1">
            <a:off x="3550001" y="2532676"/>
            <a:ext cx="803232" cy="47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D26DA71-0166-CBCB-1F2E-F7BFDAF5C933}"/>
              </a:ext>
            </a:extLst>
          </p:cNvPr>
          <p:cNvCxnSpPr>
            <a:stCxn id="28" idx="5"/>
            <a:endCxn id="55" idx="0"/>
          </p:cNvCxnSpPr>
          <p:nvPr/>
        </p:nvCxnSpPr>
        <p:spPr>
          <a:xfrm>
            <a:off x="3381485" y="1606855"/>
            <a:ext cx="1048225" cy="732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B93FBDB-5AAA-C55E-C890-D7717BE2F658}"/>
              </a:ext>
            </a:extLst>
          </p:cNvPr>
          <p:cNvSpPr txBox="1"/>
          <p:nvPr/>
        </p:nvSpPr>
        <p:spPr>
          <a:xfrm>
            <a:off x="3900949" y="1659865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E00146-AC71-CE36-8E68-BD154AD31232}"/>
              </a:ext>
            </a:extLst>
          </p:cNvPr>
          <p:cNvSpPr txBox="1"/>
          <p:nvPr/>
        </p:nvSpPr>
        <p:spPr>
          <a:xfrm>
            <a:off x="3516300" y="2367870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801C0E-CD2A-F067-9ABE-AAE8A319027A}"/>
              </a:ext>
            </a:extLst>
          </p:cNvPr>
          <p:cNvSpPr txBox="1"/>
          <p:nvPr/>
        </p:nvSpPr>
        <p:spPr>
          <a:xfrm>
            <a:off x="4606137" y="2381128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0DB2F5FD-3551-3AE7-F60D-D91AC8314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539063"/>
              </p:ext>
            </p:extLst>
          </p:nvPr>
        </p:nvGraphicFramePr>
        <p:xfrm>
          <a:off x="6662027" y="962824"/>
          <a:ext cx="199674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73">
                  <a:extLst>
                    <a:ext uri="{9D8B030D-6E8A-4147-A177-3AD203B41FA5}">
                      <a16:colId xmlns:a16="http://schemas.microsoft.com/office/drawing/2014/main" val="1731288751"/>
                    </a:ext>
                  </a:extLst>
                </a:gridCol>
                <a:gridCol w="998373">
                  <a:extLst>
                    <a:ext uri="{9D8B030D-6E8A-4147-A177-3AD203B41FA5}">
                      <a16:colId xmlns:a16="http://schemas.microsoft.com/office/drawing/2014/main" val="3368027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95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77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3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6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54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32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2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036819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7D3D808A-7D73-BA1C-4256-AA0AFAC44586}"/>
              </a:ext>
            </a:extLst>
          </p:cNvPr>
          <p:cNvSpPr txBox="1"/>
          <p:nvPr/>
        </p:nvSpPr>
        <p:spPr>
          <a:xfrm>
            <a:off x="6528620" y="561111"/>
            <a:ext cx="217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Straight line distance</a:t>
            </a:r>
          </a:p>
        </p:txBody>
      </p:sp>
    </p:spTree>
    <p:extLst>
      <p:ext uri="{BB962C8B-B14F-4D97-AF65-F5344CB8AC3E}">
        <p14:creationId xmlns:p14="http://schemas.microsoft.com/office/powerpoint/2010/main" val="421525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8044C1A-0F3C-D413-E74A-B10C738CA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A*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A* search is an informed search algorithm that combines the advantages </a:t>
            </a:r>
          </a:p>
          <a:p>
            <a:r>
              <a:rPr lang="en-US" sz="2000" dirty="0"/>
              <a:t>of both Uniform Cost Search and Greedy Best-First-Search.</a:t>
            </a:r>
          </a:p>
          <a:p>
            <a:endParaRPr lang="en-US" sz="2000" dirty="0"/>
          </a:p>
          <a:p>
            <a:r>
              <a:rPr sz="2000" dirty="0"/>
              <a:t>A* uses f(n)=g(n)+h(n).</a:t>
            </a:r>
            <a:endParaRPr lang="en-US" sz="2000" dirty="0"/>
          </a:p>
          <a:p>
            <a:pPr lvl="1"/>
            <a:r>
              <a:rPr lang="en-US" sz="1600" dirty="0"/>
              <a:t>actual cost + estimated cost.</a:t>
            </a:r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Optimal if heuristic is admissible.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1939-67D9-927A-3468-36C5BFD9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3698662-B59A-F9B7-5B6F-80F49907936A}"/>
              </a:ext>
            </a:extLst>
          </p:cNvPr>
          <p:cNvSpPr/>
          <p:nvPr/>
        </p:nvSpPr>
        <p:spPr>
          <a:xfrm>
            <a:off x="146444" y="1702178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54F0A73-1A46-AF7C-8001-03438225445A}"/>
              </a:ext>
            </a:extLst>
          </p:cNvPr>
          <p:cNvSpPr/>
          <p:nvPr/>
        </p:nvSpPr>
        <p:spPr>
          <a:xfrm>
            <a:off x="1901502" y="551805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B3C62C-A0F0-BCA5-E2CF-79F827CA4AB0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515707" y="895892"/>
            <a:ext cx="1449151" cy="865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9496A41-81BD-E42B-929F-1E9CFA8E51AD}"/>
              </a:ext>
            </a:extLst>
          </p:cNvPr>
          <p:cNvSpPr/>
          <p:nvPr/>
        </p:nvSpPr>
        <p:spPr>
          <a:xfrm>
            <a:off x="1346255" y="2105301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1A1278-3F10-7105-383D-6E7500F9F3FB}"/>
              </a:ext>
            </a:extLst>
          </p:cNvPr>
          <p:cNvCxnSpPr>
            <a:cxnSpLocks/>
            <a:stCxn id="8" idx="5"/>
            <a:endCxn id="12" idx="2"/>
          </p:cNvCxnSpPr>
          <p:nvPr/>
        </p:nvCxnSpPr>
        <p:spPr>
          <a:xfrm>
            <a:off x="515707" y="2046265"/>
            <a:ext cx="830548" cy="260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23CEA111-4E1F-782B-CFFC-C0E5CE2DEA87}"/>
              </a:ext>
            </a:extLst>
          </p:cNvPr>
          <p:cNvSpPr/>
          <p:nvPr/>
        </p:nvSpPr>
        <p:spPr>
          <a:xfrm>
            <a:off x="3101592" y="2105301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8381A0-1D0C-1F0D-0555-C382A597427F}"/>
              </a:ext>
            </a:extLst>
          </p:cNvPr>
          <p:cNvCxnSpPr>
            <a:cxnSpLocks/>
            <a:stCxn id="12" idx="6"/>
            <a:endCxn id="17" idx="2"/>
          </p:cNvCxnSpPr>
          <p:nvPr/>
        </p:nvCxnSpPr>
        <p:spPr>
          <a:xfrm>
            <a:off x="1778874" y="2306863"/>
            <a:ext cx="13227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3DD1047-3CE3-FF7D-D136-D128DC7A277C}"/>
              </a:ext>
            </a:extLst>
          </p:cNvPr>
          <p:cNvSpPr/>
          <p:nvPr/>
        </p:nvSpPr>
        <p:spPr>
          <a:xfrm>
            <a:off x="2270765" y="3516272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52412C-D28F-9153-4CE6-EF4CF6771091}"/>
              </a:ext>
            </a:extLst>
          </p:cNvPr>
          <p:cNvCxnSpPr>
            <a:cxnSpLocks/>
            <a:stCxn id="12" idx="4"/>
            <a:endCxn id="21" idx="1"/>
          </p:cNvCxnSpPr>
          <p:nvPr/>
        </p:nvCxnSpPr>
        <p:spPr>
          <a:xfrm>
            <a:off x="1562565" y="2508424"/>
            <a:ext cx="771556" cy="106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D0C1DBAE-F89B-9936-92D6-FA7B5A2607FC}"/>
              </a:ext>
            </a:extLst>
          </p:cNvPr>
          <p:cNvSpPr/>
          <p:nvPr/>
        </p:nvSpPr>
        <p:spPr>
          <a:xfrm>
            <a:off x="4797657" y="1500616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6F6BE8-7483-3463-D1AA-382BBC8CB6DA}"/>
              </a:ext>
            </a:extLst>
          </p:cNvPr>
          <p:cNvCxnSpPr>
            <a:cxnSpLocks/>
            <a:stCxn id="17" idx="6"/>
            <a:endCxn id="25" idx="3"/>
          </p:cNvCxnSpPr>
          <p:nvPr/>
        </p:nvCxnSpPr>
        <p:spPr>
          <a:xfrm flipV="1">
            <a:off x="3534211" y="1844703"/>
            <a:ext cx="1326802" cy="462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FDC29BC-B0FB-F39E-6F3D-AC62E52E7CCE}"/>
              </a:ext>
            </a:extLst>
          </p:cNvPr>
          <p:cNvSpPr/>
          <p:nvPr/>
        </p:nvSpPr>
        <p:spPr>
          <a:xfrm>
            <a:off x="3350653" y="551805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2925CD3-3316-6959-EEB2-7F1AD7E11D53}"/>
              </a:ext>
            </a:extLst>
          </p:cNvPr>
          <p:cNvCxnSpPr>
            <a:cxnSpLocks/>
            <a:stCxn id="9" idx="6"/>
            <a:endCxn id="29" idx="2"/>
          </p:cNvCxnSpPr>
          <p:nvPr/>
        </p:nvCxnSpPr>
        <p:spPr>
          <a:xfrm>
            <a:off x="2334121" y="753367"/>
            <a:ext cx="1016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4FA89F-0425-FAE5-DA77-DCC87132C8C9}"/>
              </a:ext>
            </a:extLst>
          </p:cNvPr>
          <p:cNvCxnSpPr>
            <a:cxnSpLocks/>
            <a:stCxn id="9" idx="5"/>
            <a:endCxn id="17" idx="1"/>
          </p:cNvCxnSpPr>
          <p:nvPr/>
        </p:nvCxnSpPr>
        <p:spPr>
          <a:xfrm>
            <a:off x="2270765" y="895892"/>
            <a:ext cx="894183" cy="1268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945592-95C8-2282-1CD5-693BB1866BD6}"/>
              </a:ext>
            </a:extLst>
          </p:cNvPr>
          <p:cNvCxnSpPr>
            <a:cxnSpLocks/>
            <a:stCxn id="29" idx="6"/>
            <a:endCxn id="25" idx="0"/>
          </p:cNvCxnSpPr>
          <p:nvPr/>
        </p:nvCxnSpPr>
        <p:spPr>
          <a:xfrm>
            <a:off x="3783272" y="753367"/>
            <a:ext cx="1230695" cy="747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04196B3-2536-2689-B2E2-312B5BAE2699}"/>
              </a:ext>
            </a:extLst>
          </p:cNvPr>
          <p:cNvCxnSpPr>
            <a:cxnSpLocks/>
            <a:stCxn id="21" idx="7"/>
            <a:endCxn id="17" idx="4"/>
          </p:cNvCxnSpPr>
          <p:nvPr/>
        </p:nvCxnSpPr>
        <p:spPr>
          <a:xfrm flipV="1">
            <a:off x="2640028" y="2508424"/>
            <a:ext cx="677874" cy="106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359DC2B-AC94-C055-E55D-AE14E3058EDF}"/>
              </a:ext>
            </a:extLst>
          </p:cNvPr>
          <p:cNvSpPr txBox="1"/>
          <p:nvPr/>
        </p:nvSpPr>
        <p:spPr>
          <a:xfrm>
            <a:off x="780138" y="9936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E03D0C-4E9B-16D4-7404-AFD85BA13C49}"/>
              </a:ext>
            </a:extLst>
          </p:cNvPr>
          <p:cNvSpPr txBox="1"/>
          <p:nvPr/>
        </p:nvSpPr>
        <p:spPr>
          <a:xfrm>
            <a:off x="826149" y="17950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3B0B53-30E0-DE2A-F00E-8152D2C4AF53}"/>
              </a:ext>
            </a:extLst>
          </p:cNvPr>
          <p:cNvSpPr txBox="1"/>
          <p:nvPr/>
        </p:nvSpPr>
        <p:spPr>
          <a:xfrm>
            <a:off x="2039393" y="28749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72E380-8174-F4BE-0B75-0B7F44AE8E37}"/>
              </a:ext>
            </a:extLst>
          </p:cNvPr>
          <p:cNvSpPr txBox="1"/>
          <p:nvPr/>
        </p:nvSpPr>
        <p:spPr>
          <a:xfrm>
            <a:off x="2175037" y="23406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1A96C1-EB5B-4B6A-BBBE-D959127BABDA}"/>
              </a:ext>
            </a:extLst>
          </p:cNvPr>
          <p:cNvSpPr txBox="1"/>
          <p:nvPr/>
        </p:nvSpPr>
        <p:spPr>
          <a:xfrm>
            <a:off x="3016216" y="3004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DFE7E2-4D1B-F96C-B9B5-6C5DE273D8C6}"/>
              </a:ext>
            </a:extLst>
          </p:cNvPr>
          <p:cNvSpPr txBox="1"/>
          <p:nvPr/>
        </p:nvSpPr>
        <p:spPr>
          <a:xfrm>
            <a:off x="4179264" y="207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9FF795-4ED7-FF02-D74B-CBD7FABED598}"/>
              </a:ext>
            </a:extLst>
          </p:cNvPr>
          <p:cNvSpPr txBox="1"/>
          <p:nvPr/>
        </p:nvSpPr>
        <p:spPr>
          <a:xfrm>
            <a:off x="4399935" y="74844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CDC0AD-3905-98D4-A15E-CE103F831CF8}"/>
              </a:ext>
            </a:extLst>
          </p:cNvPr>
          <p:cNvSpPr txBox="1"/>
          <p:nvPr/>
        </p:nvSpPr>
        <p:spPr>
          <a:xfrm>
            <a:off x="2647782" y="3453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D9DA14-0176-C7EB-AF91-69A1F611FD8D}"/>
              </a:ext>
            </a:extLst>
          </p:cNvPr>
          <p:cNvSpPr txBox="1"/>
          <p:nvPr/>
        </p:nvSpPr>
        <p:spPr>
          <a:xfrm>
            <a:off x="2233546" y="1315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117F2B-598B-13BF-1881-AC044AF431B3}"/>
              </a:ext>
            </a:extLst>
          </p:cNvPr>
          <p:cNvSpPr txBox="1"/>
          <p:nvPr/>
        </p:nvSpPr>
        <p:spPr>
          <a:xfrm>
            <a:off x="152104" y="21390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604C5D-B471-EB0D-2E51-8BEB3124A0DC}"/>
              </a:ext>
            </a:extLst>
          </p:cNvPr>
          <p:cNvSpPr txBox="1"/>
          <p:nvPr/>
        </p:nvSpPr>
        <p:spPr>
          <a:xfrm>
            <a:off x="1183556" y="24662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A8B0CE-4061-03EF-90C9-643556721A31}"/>
              </a:ext>
            </a:extLst>
          </p:cNvPr>
          <p:cNvSpPr txBox="1"/>
          <p:nvPr/>
        </p:nvSpPr>
        <p:spPr>
          <a:xfrm>
            <a:off x="2299152" y="40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CF8CAA-AC6F-1A37-E39A-72167160E6D5}"/>
              </a:ext>
            </a:extLst>
          </p:cNvPr>
          <p:cNvSpPr txBox="1"/>
          <p:nvPr/>
        </p:nvSpPr>
        <p:spPr>
          <a:xfrm>
            <a:off x="3425501" y="24401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9FD791-40AF-7CD2-668D-CBBD6D9E859B}"/>
              </a:ext>
            </a:extLst>
          </p:cNvPr>
          <p:cNvSpPr txBox="1"/>
          <p:nvPr/>
        </p:nvSpPr>
        <p:spPr>
          <a:xfrm>
            <a:off x="3373015" y="100563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BC56BC-2593-5890-3C8E-427B6EFF0998}"/>
              </a:ext>
            </a:extLst>
          </p:cNvPr>
          <p:cNvSpPr txBox="1"/>
          <p:nvPr/>
        </p:nvSpPr>
        <p:spPr>
          <a:xfrm>
            <a:off x="1905861" y="140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B937FB-DC8D-4144-5AF7-13F91F3F2815}"/>
              </a:ext>
            </a:extLst>
          </p:cNvPr>
          <p:cNvSpPr txBox="1"/>
          <p:nvPr/>
        </p:nvSpPr>
        <p:spPr>
          <a:xfrm>
            <a:off x="361456" y="4463305"/>
            <a:ext cx="195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f(n) = g(n) + h(n)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47D889E-E639-9481-2ED5-7ACAB669E99E}"/>
              </a:ext>
            </a:extLst>
          </p:cNvPr>
          <p:cNvCxnSpPr>
            <a:cxnSpLocks/>
          </p:cNvCxnSpPr>
          <p:nvPr/>
        </p:nvCxnSpPr>
        <p:spPr>
          <a:xfrm>
            <a:off x="1262525" y="4832637"/>
            <a:ext cx="0" cy="38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71A51E1-31B6-E014-E806-8DC189EFABFE}"/>
              </a:ext>
            </a:extLst>
          </p:cNvPr>
          <p:cNvSpPr txBox="1"/>
          <p:nvPr/>
        </p:nvSpPr>
        <p:spPr>
          <a:xfrm>
            <a:off x="361456" y="5321384"/>
            <a:ext cx="1010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Exact cost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0A9404D-1B6E-BD87-AD8C-3A53969F355A}"/>
              </a:ext>
            </a:extLst>
          </p:cNvPr>
          <p:cNvCxnSpPr>
            <a:cxnSpLocks/>
          </p:cNvCxnSpPr>
          <p:nvPr/>
        </p:nvCxnSpPr>
        <p:spPr>
          <a:xfrm>
            <a:off x="1900582" y="4832637"/>
            <a:ext cx="0" cy="38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D14CE7-5332-B638-1C04-B1A7C6444E75}"/>
              </a:ext>
            </a:extLst>
          </p:cNvPr>
          <p:cNvSpPr txBox="1"/>
          <p:nvPr/>
        </p:nvSpPr>
        <p:spPr>
          <a:xfrm>
            <a:off x="1566927" y="5304507"/>
            <a:ext cx="13052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heuristic cost</a:t>
            </a:r>
          </a:p>
        </p:txBody>
      </p:sp>
    </p:spTree>
    <p:extLst>
      <p:ext uri="{BB962C8B-B14F-4D97-AF65-F5344CB8AC3E}">
        <p14:creationId xmlns:p14="http://schemas.microsoft.com/office/powerpoint/2010/main" val="316035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A*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Complete</a:t>
            </a:r>
            <a:endParaRPr lang="en-US" sz="2000" dirty="0"/>
          </a:p>
          <a:p>
            <a:pPr lvl="1"/>
            <a:r>
              <a:rPr lang="en-US" sz="1600" dirty="0"/>
              <a:t>A* is complete if the search space is finite and the heuristic function is admissible (never overestimates the actual cost)</a:t>
            </a:r>
          </a:p>
          <a:p>
            <a:endParaRPr lang="en-US" sz="2000" dirty="0"/>
          </a:p>
          <a:p>
            <a:r>
              <a:rPr lang="en-US" sz="2000" dirty="0"/>
              <a:t>Optimality</a:t>
            </a:r>
          </a:p>
          <a:p>
            <a:pPr lvl="1"/>
            <a:r>
              <a:rPr lang="en-US" sz="1600" dirty="0"/>
              <a:t>A* search is optimal if the heuristic function is admissible and consistent 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Search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a single current solution.</a:t>
            </a:r>
          </a:p>
          <a:p>
            <a:r>
              <a:t>Used in very large search spaces.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 Search?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memory usage.</a:t>
            </a:r>
          </a:p>
          <a:p>
            <a:r>
              <a:t>Good for optimization.</a:t>
            </a:r>
          </a:p>
          <a:p>
            <a:r>
              <a:t>Examples: UI layout tuning, ML parameter tuning.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Local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Hill Climbing</a:t>
            </a:r>
          </a:p>
          <a:p>
            <a:r>
              <a:t>Simulated Annealing</a:t>
            </a:r>
          </a:p>
          <a:p>
            <a:r>
              <a:t>Genetic Algorithms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Hill Climbing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auto-layout optimizer adjusting spacing to improve layout.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Simulated Annealing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scheduler tries many random task schedules early, refined later.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Genetic Algorithm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generating optimized test cases using mutation &amp; crossover.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Greedy: Fast, not optimal.</a:t>
            </a:r>
          </a:p>
          <a:p>
            <a:r>
              <a:t>A*: Optimal &amp; complete.</a:t>
            </a:r>
          </a:p>
          <a:p>
            <a:r>
              <a:t>Local search: Good for optimization.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Heuristics guide informed search.</a:t>
            </a:r>
          </a:p>
          <a:p>
            <a:r>
              <a:t>Greedy = fast.</a:t>
            </a:r>
          </a:p>
          <a:p>
            <a:r>
              <a:t>A* = optimal.</a:t>
            </a:r>
          </a:p>
          <a:p>
            <a:r>
              <a:t>Local = optimization-focused.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811</TotalTime>
  <Words>600</Words>
  <Application>Microsoft Office PowerPoint</Application>
  <PresentationFormat>On-screen Show (4:3)</PresentationFormat>
  <Paragraphs>142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Google Sans Text</vt:lpstr>
      <vt:lpstr>Office Theme</vt:lpstr>
      <vt:lpstr>Informed Search Strategies</vt:lpstr>
      <vt:lpstr>Informed Search Strategies</vt:lpstr>
      <vt:lpstr>What is heuristic function?</vt:lpstr>
      <vt:lpstr>PowerPoint Presentation</vt:lpstr>
      <vt:lpstr>Why Informed Search?</vt:lpstr>
      <vt:lpstr>Greedy Best-First Search (GBFS)</vt:lpstr>
      <vt:lpstr>PowerPoint Presentation</vt:lpstr>
      <vt:lpstr>PowerPoint Presentation</vt:lpstr>
      <vt:lpstr>A* Search</vt:lpstr>
      <vt:lpstr>PowerPoint Presentation</vt:lpstr>
      <vt:lpstr>Why A* Is Powerful</vt:lpstr>
      <vt:lpstr>Local Search Algorithms</vt:lpstr>
      <vt:lpstr>Why Local Search?</vt:lpstr>
      <vt:lpstr>Types of Local Search</vt:lpstr>
      <vt:lpstr>Hill Climbing Example</vt:lpstr>
      <vt:lpstr>Simulated Annealing Example</vt:lpstr>
      <vt:lpstr>Genetic Algorithm Example</vt:lpstr>
      <vt:lpstr>Comparison Table</vt:lpstr>
      <vt:lpstr>Recap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19</cp:revision>
  <dcterms:created xsi:type="dcterms:W3CDTF">2013-01-27T09:14:16Z</dcterms:created>
  <dcterms:modified xsi:type="dcterms:W3CDTF">2025-12-05T05:29:27Z</dcterms:modified>
  <cp:category/>
</cp:coreProperties>
</file>