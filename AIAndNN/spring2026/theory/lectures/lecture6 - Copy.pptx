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92" r:id="rId4"/>
    <p:sldId id="258" r:id="rId5"/>
    <p:sldId id="260" r:id="rId6"/>
    <p:sldId id="294" r:id="rId7"/>
    <p:sldId id="259" r:id="rId8"/>
    <p:sldId id="261" r:id="rId9"/>
    <p:sldId id="262" r:id="rId10"/>
    <p:sldId id="295" r:id="rId11"/>
    <p:sldId id="263" r:id="rId12"/>
    <p:sldId id="296" r:id="rId13"/>
    <p:sldId id="264" r:id="rId14"/>
    <p:sldId id="265" r:id="rId15"/>
    <p:sldId id="266" r:id="rId16"/>
    <p:sldId id="267" r:id="rId17"/>
    <p:sldId id="268" r:id="rId18"/>
    <p:sldId id="269" r:id="rId19"/>
    <p:sldId id="270" r:id="rId20"/>
    <p:sldId id="271" r:id="rId21"/>
    <p:sldId id="272" r:id="rId22"/>
    <p:sldId id="273" r:id="rId23"/>
    <p:sldId id="274" r:id="rId24"/>
    <p:sldId id="278" r:id="rId25"/>
    <p:sldId id="279" r:id="rId26"/>
    <p:sldId id="280" r:id="rId27"/>
    <p:sldId id="281"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A5460-0223-4DAF-A138-9183965676CE}" type="datetimeFigureOut">
              <a:rPr lang="en-US" smtClean="0"/>
              <a:t>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D17024-63D9-4887-B91B-F9DC8F91D749}" type="slidenum">
              <a:rPr lang="en-US" smtClean="0"/>
              <a:t>‹#›</a:t>
            </a:fld>
            <a:endParaRPr lang="en-US"/>
          </a:p>
        </p:txBody>
      </p:sp>
    </p:spTree>
    <p:extLst>
      <p:ext uri="{BB962C8B-B14F-4D97-AF65-F5344CB8AC3E}">
        <p14:creationId xmlns:p14="http://schemas.microsoft.com/office/powerpoint/2010/main" val="2853436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D17024-63D9-4887-B91B-F9DC8F91D749}" type="slidenum">
              <a:rPr lang="en-US" smtClean="0"/>
              <a:t>4</a:t>
            </a:fld>
            <a:endParaRPr lang="en-US"/>
          </a:p>
        </p:txBody>
      </p:sp>
    </p:spTree>
    <p:extLst>
      <p:ext uri="{BB962C8B-B14F-4D97-AF65-F5344CB8AC3E}">
        <p14:creationId xmlns:p14="http://schemas.microsoft.com/office/powerpoint/2010/main" val="1188164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fif"/></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Lecture # 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Introduction to Machine Learning</a:t>
            </a:r>
          </a:p>
        </p:txBody>
      </p:sp>
      <p:pic>
        <p:nvPicPr>
          <p:cNvPr id="9" name="Picture 8">
            <a:extLst>
              <a:ext uri="{FF2B5EF4-FFF2-40B4-BE49-F238E27FC236}">
                <a16:creationId xmlns:a16="http://schemas.microsoft.com/office/drawing/2014/main" id="{BFDB3140-BD08-9D17-A138-49062317120F}"/>
              </a:ext>
            </a:extLst>
          </p:cNvPr>
          <p:cNvPicPr>
            <a:picLocks noChangeAspect="1"/>
          </p:cNvPicPr>
          <p:nvPr/>
        </p:nvPicPr>
        <p:blipFill>
          <a:blip r:embed="rId2"/>
          <a:stretch>
            <a:fillRect/>
          </a:stretch>
        </p:blipFill>
        <p:spPr>
          <a:xfrm>
            <a:off x="1995487" y="1417638"/>
            <a:ext cx="5153026" cy="50631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7B23-99F5-81AD-9BD3-1F8ABED54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E9F38-099F-375B-5CA9-93462956AE5C}"/>
              </a:ext>
            </a:extLst>
          </p:cNvPr>
          <p:cNvSpPr>
            <a:spLocks noGrp="1"/>
          </p:cNvSpPr>
          <p:nvPr>
            <p:ph type="title"/>
          </p:nvPr>
        </p:nvSpPr>
        <p:spPr/>
        <p:txBody>
          <a:bodyPr>
            <a:normAutofit/>
          </a:bodyPr>
          <a:lstStyle/>
          <a:p>
            <a:r>
              <a:rPr dirty="0"/>
              <a:t>Introduction to Machine Learning</a:t>
            </a:r>
          </a:p>
        </p:txBody>
      </p:sp>
      <p:sp>
        <p:nvSpPr>
          <p:cNvPr id="3" name="Content Placeholder 2">
            <a:extLst>
              <a:ext uri="{FF2B5EF4-FFF2-40B4-BE49-F238E27FC236}">
                <a16:creationId xmlns:a16="http://schemas.microsoft.com/office/drawing/2014/main" id="{121AFE90-35D4-474E-9775-62EC91018A78}"/>
              </a:ext>
            </a:extLst>
          </p:cNvPr>
          <p:cNvSpPr>
            <a:spLocks noGrp="1"/>
          </p:cNvSpPr>
          <p:nvPr>
            <p:ph idx="1"/>
          </p:nvPr>
        </p:nvSpPr>
        <p:spPr>
          <a:xfrm>
            <a:off x="457200" y="1600200"/>
            <a:ext cx="5181599" cy="4525963"/>
          </a:xfrm>
        </p:spPr>
        <p:txBody>
          <a:bodyPr wrap="square"/>
          <a:lstStyle/>
          <a:p>
            <a:pPr marL="0" indent="0" algn="just">
              <a:buNone/>
              <a:defRPr sz="1800">
                <a:latin typeface="Calibri"/>
              </a:defRPr>
            </a:pPr>
            <a:r>
              <a:rPr sz="2000" dirty="0"/>
              <a:t>• </a:t>
            </a:r>
            <a:r>
              <a:rPr lang="en-US" sz="2000" dirty="0"/>
              <a:t>Machine Learning (ML) is a field of Artificial Intelligence that enables computers to learn from data without being explicitly programmed.</a:t>
            </a:r>
          </a:p>
          <a:p>
            <a:pPr marL="0" indent="0" algn="just">
              <a:buNone/>
              <a:defRPr sz="1800">
                <a:latin typeface="Calibri"/>
              </a:defRPr>
            </a:pPr>
            <a:endParaRPr sz="2000" dirty="0"/>
          </a:p>
          <a:p>
            <a:pPr marL="0" indent="0" algn="just">
              <a:buNone/>
              <a:defRPr sz="1800">
                <a:latin typeface="Calibri"/>
              </a:defRPr>
            </a:pPr>
            <a:r>
              <a:rPr sz="2000" dirty="0"/>
              <a:t>• </a:t>
            </a:r>
            <a:r>
              <a:rPr lang="en-US" sz="2000" dirty="0"/>
              <a:t>Instead of writing rules, the system finds patterns from data and makes decisions.</a:t>
            </a:r>
          </a:p>
          <a:p>
            <a:pPr marL="0" indent="0" algn="just">
              <a:buNone/>
              <a:defRPr sz="1800">
                <a:latin typeface="Calibri"/>
              </a:defRPr>
            </a:pPr>
            <a:endParaRPr sz="2000" dirty="0"/>
          </a:p>
          <a:p>
            <a:pPr marL="0" indent="0">
              <a:buNone/>
              <a:defRPr sz="1800">
                <a:latin typeface="Calibri"/>
              </a:defRPr>
            </a:pPr>
            <a:r>
              <a:rPr sz="2000" dirty="0"/>
              <a:t>• </a:t>
            </a:r>
            <a:r>
              <a:rPr lang="en-US" sz="2000" dirty="0"/>
              <a:t>The more data it learns from, the better its performance becomes.</a:t>
            </a:r>
          </a:p>
          <a:p>
            <a:pPr marL="0" indent="0">
              <a:buNone/>
              <a:defRPr sz="1800">
                <a:latin typeface="Calibri"/>
              </a:defRPr>
            </a:pPr>
            <a:endParaRPr dirty="0"/>
          </a:p>
        </p:txBody>
      </p:sp>
      <p:pic>
        <p:nvPicPr>
          <p:cNvPr id="5" name="Picture 4">
            <a:extLst>
              <a:ext uri="{FF2B5EF4-FFF2-40B4-BE49-F238E27FC236}">
                <a16:creationId xmlns:a16="http://schemas.microsoft.com/office/drawing/2014/main" id="{066DACDB-C793-C51B-2187-8DF2D61964DB}"/>
              </a:ext>
            </a:extLst>
          </p:cNvPr>
          <p:cNvPicPr>
            <a:picLocks noChangeAspect="1"/>
          </p:cNvPicPr>
          <p:nvPr/>
        </p:nvPicPr>
        <p:blipFill>
          <a:blip r:embed="rId2"/>
          <a:stretch>
            <a:fillRect/>
          </a:stretch>
        </p:blipFill>
        <p:spPr>
          <a:xfrm>
            <a:off x="6000749" y="1666875"/>
            <a:ext cx="2552699" cy="2552699"/>
          </a:xfrm>
          <a:prstGeom prst="rect">
            <a:avLst/>
          </a:prstGeom>
        </p:spPr>
      </p:pic>
    </p:spTree>
    <p:extLst>
      <p:ext uri="{BB962C8B-B14F-4D97-AF65-F5344CB8AC3E}">
        <p14:creationId xmlns:p14="http://schemas.microsoft.com/office/powerpoint/2010/main" val="1848459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Machine Learning?</a:t>
            </a:r>
          </a:p>
        </p:txBody>
      </p:sp>
      <p:sp>
        <p:nvSpPr>
          <p:cNvPr id="3" name="Content Placeholder 2"/>
          <p:cNvSpPr>
            <a:spLocks noGrp="1"/>
          </p:cNvSpPr>
          <p:nvPr>
            <p:ph idx="1"/>
          </p:nvPr>
        </p:nvSpPr>
        <p:spPr>
          <a:xfrm>
            <a:off x="457200" y="1600200"/>
            <a:ext cx="8229600" cy="4525963"/>
          </a:xfrm>
        </p:spPr>
        <p:txBody>
          <a:bodyPr wrap="square">
            <a:normAutofit/>
          </a:bodyPr>
          <a:lstStyle/>
          <a:p>
            <a:pPr marL="0" indent="0" algn="just">
              <a:buNone/>
              <a:defRPr sz="1800">
                <a:latin typeface="Calibri"/>
              </a:defRPr>
            </a:pPr>
            <a:r>
              <a:rPr sz="2000" dirty="0"/>
              <a:t>• Machine Learning is teaching computers to learn from data</a:t>
            </a:r>
          </a:p>
          <a:p>
            <a:pPr marL="0" indent="0" algn="just">
              <a:buNone/>
              <a:defRPr sz="1800">
                <a:latin typeface="Calibri"/>
              </a:defRPr>
            </a:pPr>
            <a:r>
              <a:rPr sz="2000" dirty="0"/>
              <a:t>• Instead of programming every rule, we let the computer find patterns</a:t>
            </a:r>
          </a:p>
          <a:p>
            <a:pPr algn="just">
              <a:defRPr sz="1800">
                <a:latin typeface="Calibri"/>
              </a:defRPr>
            </a:pPr>
            <a:endParaRPr sz="2000" dirty="0"/>
          </a:p>
          <a:p>
            <a:pPr marL="0" indent="0" algn="just">
              <a:buNone/>
              <a:defRPr sz="1800">
                <a:latin typeface="Calibri"/>
              </a:defRPr>
            </a:pPr>
            <a:r>
              <a:rPr sz="2000" b="1" dirty="0"/>
              <a:t>Think of it like this:</a:t>
            </a:r>
          </a:p>
          <a:p>
            <a:pPr marL="0" indent="0" algn="just">
              <a:buNone/>
              <a:defRPr sz="1800">
                <a:latin typeface="Calibri"/>
              </a:defRPr>
            </a:pPr>
            <a:r>
              <a:rPr sz="2000" dirty="0"/>
              <a:t>• Traditional: You teach a child every single rule</a:t>
            </a:r>
          </a:p>
          <a:p>
            <a:pPr marL="0" indent="0" algn="just">
              <a:buNone/>
              <a:defRPr sz="1800">
                <a:latin typeface="Calibri"/>
              </a:defRPr>
            </a:pPr>
            <a:r>
              <a:rPr sz="2000" dirty="0"/>
              <a:t>• ML: You show examples and let them figure out the pattern</a:t>
            </a:r>
          </a:p>
          <a:p>
            <a:pPr algn="just">
              <a:defRPr sz="1800">
                <a:latin typeface="Calibri"/>
              </a:defRPr>
            </a:pPr>
            <a:endParaRPr sz="2000" dirty="0"/>
          </a:p>
          <a:p>
            <a:pPr marL="0" indent="0" algn="just">
              <a:buNone/>
              <a:defRPr sz="1800">
                <a:latin typeface="Calibri"/>
              </a:defRPr>
            </a:pPr>
            <a:r>
              <a:rPr sz="2000" dirty="0"/>
              <a:t>Example:</a:t>
            </a:r>
          </a:p>
          <a:p>
            <a:pPr marL="0" indent="0" algn="just">
              <a:buNone/>
              <a:defRPr sz="1800">
                <a:latin typeface="Calibri"/>
              </a:defRPr>
            </a:pPr>
            <a:r>
              <a:rPr sz="2000" dirty="0"/>
              <a:t>• Show 1000 cat photos → Computer learns what a cat looks like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731520"/>
          </a:xfrm>
          <a:prstGeom prst="rect">
            <a:avLst/>
          </a:prstGeom>
          <a:noFill/>
        </p:spPr>
        <p:txBody>
          <a:bodyPr wrap="none">
            <a:spAutoFit/>
          </a:bodyPr>
          <a:lstStyle/>
          <a:p>
            <a:pPr>
              <a:defRPr sz="3200" b="1">
                <a:latin typeface="Calibri"/>
              </a:defRPr>
            </a:pPr>
            <a:r>
              <a:t>Traditional Programming vs Machine Learning</a:t>
            </a:r>
          </a:p>
        </p:txBody>
      </p:sp>
      <p:sp>
        <p:nvSpPr>
          <p:cNvPr id="3" name="TextBox 2"/>
          <p:cNvSpPr txBox="1"/>
          <p:nvPr/>
        </p:nvSpPr>
        <p:spPr>
          <a:xfrm>
            <a:off x="457200" y="1371600"/>
            <a:ext cx="4114800" cy="4401205"/>
          </a:xfrm>
          <a:prstGeom prst="rect">
            <a:avLst/>
          </a:prstGeom>
          <a:noFill/>
        </p:spPr>
        <p:txBody>
          <a:bodyPr wrap="square">
            <a:spAutoFit/>
          </a:bodyPr>
          <a:lstStyle/>
          <a:p>
            <a:pPr>
              <a:defRPr sz="1600">
                <a:latin typeface="Calibri"/>
              </a:defRPr>
            </a:pPr>
            <a:r>
              <a:rPr sz="2000" dirty="0"/>
              <a:t>Traditional Programming:</a:t>
            </a:r>
          </a:p>
          <a:p>
            <a:pPr>
              <a:defRPr sz="1600">
                <a:latin typeface="Calibri"/>
              </a:defRPr>
            </a:pPr>
            <a:endParaRPr sz="2000" dirty="0"/>
          </a:p>
          <a:p>
            <a:pPr>
              <a:defRPr sz="1600">
                <a:latin typeface="Calibri"/>
              </a:defRPr>
            </a:pPr>
            <a:r>
              <a:rPr sz="2000" dirty="0"/>
              <a:t>Input + Rules → Output</a:t>
            </a:r>
          </a:p>
          <a:p>
            <a:pPr>
              <a:defRPr sz="1600">
                <a:latin typeface="Calibri"/>
              </a:defRPr>
            </a:pPr>
            <a:endParaRPr sz="2000" dirty="0"/>
          </a:p>
          <a:p>
            <a:pPr>
              <a:defRPr sz="1600">
                <a:latin typeface="Calibri"/>
              </a:defRPr>
            </a:pPr>
            <a:r>
              <a:rPr sz="2000" dirty="0"/>
              <a:t>Example:</a:t>
            </a:r>
          </a:p>
          <a:p>
            <a:pPr>
              <a:defRPr sz="1600">
                <a:latin typeface="Calibri"/>
              </a:defRPr>
            </a:pPr>
            <a:r>
              <a:rPr sz="2000" dirty="0"/>
              <a:t>• Input: Number</a:t>
            </a:r>
          </a:p>
          <a:p>
            <a:pPr>
              <a:defRPr sz="1600">
                <a:latin typeface="Calibri"/>
              </a:defRPr>
            </a:pPr>
            <a:r>
              <a:rPr sz="2000" dirty="0"/>
              <a:t>• Rule: If number &gt; 0, output 'Positive'</a:t>
            </a:r>
          </a:p>
          <a:p>
            <a:pPr>
              <a:defRPr sz="1600">
                <a:latin typeface="Calibri"/>
              </a:defRPr>
            </a:pPr>
            <a:r>
              <a:rPr sz="2000" dirty="0"/>
              <a:t>• Output: 'Positive' or 'Negative'</a:t>
            </a:r>
          </a:p>
          <a:p>
            <a:pPr>
              <a:defRPr sz="1600">
                <a:latin typeface="Calibri"/>
              </a:defRPr>
            </a:pPr>
            <a:endParaRPr sz="2000" dirty="0"/>
          </a:p>
          <a:p>
            <a:pPr>
              <a:defRPr sz="1600">
                <a:latin typeface="Calibri"/>
              </a:defRPr>
            </a:pPr>
            <a:r>
              <a:rPr sz="2000" dirty="0"/>
              <a:t>Limitations:</a:t>
            </a:r>
          </a:p>
          <a:p>
            <a:pPr>
              <a:defRPr sz="1600">
                <a:latin typeface="Calibri"/>
              </a:defRPr>
            </a:pPr>
            <a:r>
              <a:rPr sz="2000" dirty="0"/>
              <a:t>• Need to write all rules</a:t>
            </a:r>
          </a:p>
          <a:p>
            <a:pPr>
              <a:defRPr sz="1600">
                <a:latin typeface="Calibri"/>
              </a:defRPr>
            </a:pPr>
            <a:r>
              <a:rPr sz="2000" dirty="0"/>
              <a:t>• Can't handle complex patterns</a:t>
            </a:r>
          </a:p>
          <a:p>
            <a:pPr>
              <a:defRPr sz="1600">
                <a:latin typeface="Calibri"/>
              </a:defRPr>
            </a:pPr>
            <a:r>
              <a:rPr sz="2000" dirty="0"/>
              <a:t>• Hard to update</a:t>
            </a:r>
          </a:p>
        </p:txBody>
      </p:sp>
      <p:sp>
        <p:nvSpPr>
          <p:cNvPr id="4" name="TextBox 3"/>
          <p:cNvSpPr txBox="1"/>
          <p:nvPr/>
        </p:nvSpPr>
        <p:spPr>
          <a:xfrm>
            <a:off x="5029200" y="1371600"/>
            <a:ext cx="3819832" cy="4401205"/>
          </a:xfrm>
          <a:prstGeom prst="rect">
            <a:avLst/>
          </a:prstGeom>
          <a:noFill/>
        </p:spPr>
        <p:txBody>
          <a:bodyPr wrap="square">
            <a:spAutoFit/>
          </a:bodyPr>
          <a:lstStyle/>
          <a:p>
            <a:pPr>
              <a:defRPr sz="1600">
                <a:latin typeface="Calibri"/>
              </a:defRPr>
            </a:pPr>
            <a:r>
              <a:rPr sz="2000" dirty="0"/>
              <a:t>Machine Learning:</a:t>
            </a:r>
          </a:p>
          <a:p>
            <a:pPr>
              <a:defRPr sz="1600">
                <a:latin typeface="Calibri"/>
              </a:defRPr>
            </a:pPr>
            <a:endParaRPr sz="2000" dirty="0"/>
          </a:p>
          <a:p>
            <a:pPr>
              <a:defRPr sz="1600">
                <a:latin typeface="Calibri"/>
              </a:defRPr>
            </a:pPr>
            <a:r>
              <a:rPr sz="2000" dirty="0"/>
              <a:t>Input + Output → Rules</a:t>
            </a:r>
          </a:p>
          <a:p>
            <a:pPr>
              <a:defRPr sz="1600">
                <a:latin typeface="Calibri"/>
              </a:defRPr>
            </a:pPr>
            <a:endParaRPr sz="2000" dirty="0"/>
          </a:p>
          <a:p>
            <a:pPr>
              <a:defRPr sz="1600">
                <a:latin typeface="Calibri"/>
              </a:defRPr>
            </a:pPr>
            <a:r>
              <a:rPr sz="2000" dirty="0"/>
              <a:t>Example:</a:t>
            </a:r>
          </a:p>
          <a:p>
            <a:pPr>
              <a:defRPr sz="1600">
                <a:latin typeface="Calibri"/>
              </a:defRPr>
            </a:pPr>
            <a:r>
              <a:rPr sz="2000" dirty="0"/>
              <a:t>• Input: 1000 cat photos</a:t>
            </a:r>
          </a:p>
          <a:p>
            <a:pPr>
              <a:defRPr sz="1600">
                <a:latin typeface="Calibri"/>
              </a:defRPr>
            </a:pPr>
            <a:r>
              <a:rPr sz="2000" dirty="0"/>
              <a:t>• Output: Labels (cat/not cat)</a:t>
            </a:r>
          </a:p>
          <a:p>
            <a:pPr>
              <a:defRPr sz="1600">
                <a:latin typeface="Calibri"/>
              </a:defRPr>
            </a:pPr>
            <a:r>
              <a:rPr sz="2000" dirty="0"/>
              <a:t>• ML finds the rules automatically</a:t>
            </a:r>
          </a:p>
          <a:p>
            <a:pPr>
              <a:defRPr sz="1600">
                <a:latin typeface="Calibri"/>
              </a:defRPr>
            </a:pPr>
            <a:endParaRPr lang="en-US" sz="2000" dirty="0"/>
          </a:p>
          <a:p>
            <a:pPr>
              <a:defRPr sz="1600">
                <a:latin typeface="Calibri"/>
              </a:defRPr>
            </a:pPr>
            <a:endParaRPr sz="2000" dirty="0"/>
          </a:p>
          <a:p>
            <a:pPr>
              <a:defRPr sz="1600">
                <a:latin typeface="Calibri"/>
              </a:defRPr>
            </a:pPr>
            <a:r>
              <a:rPr sz="2000" dirty="0"/>
              <a:t>Advantages:</a:t>
            </a:r>
          </a:p>
          <a:p>
            <a:pPr>
              <a:defRPr sz="1600">
                <a:latin typeface="Calibri"/>
              </a:defRPr>
            </a:pPr>
            <a:r>
              <a:rPr sz="2000" dirty="0"/>
              <a:t>• Learns from examples</a:t>
            </a:r>
          </a:p>
          <a:p>
            <a:pPr>
              <a:defRPr sz="1600">
                <a:latin typeface="Calibri"/>
              </a:defRPr>
            </a:pPr>
            <a:r>
              <a:rPr sz="2000" dirty="0"/>
              <a:t>• Handles complex patterns</a:t>
            </a:r>
          </a:p>
          <a:p>
            <a:pPr>
              <a:defRPr sz="1600">
                <a:latin typeface="Calibri"/>
              </a:defRPr>
            </a:pPr>
            <a:r>
              <a:rPr sz="2000" dirty="0"/>
              <a:t>• Improves with more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14944E-B94C-3AC5-7189-78AF5906EBD1}"/>
              </a:ext>
            </a:extLst>
          </p:cNvPr>
          <p:cNvPicPr>
            <a:picLocks noChangeAspect="1"/>
          </p:cNvPicPr>
          <p:nvPr/>
        </p:nvPicPr>
        <p:blipFill>
          <a:blip r:embed="rId2"/>
          <a:srcRect l="1983" t="3917" r="2689" b="15167"/>
          <a:stretch>
            <a:fillRect/>
          </a:stretch>
        </p:blipFill>
        <p:spPr>
          <a:xfrm>
            <a:off x="1147604" y="2249406"/>
            <a:ext cx="6848791" cy="3099343"/>
          </a:xfrm>
          <a:prstGeom prst="rect">
            <a:avLst/>
          </a:prstGeom>
        </p:spPr>
      </p:pic>
      <p:sp>
        <p:nvSpPr>
          <p:cNvPr id="4" name="Title 3">
            <a:extLst>
              <a:ext uri="{FF2B5EF4-FFF2-40B4-BE49-F238E27FC236}">
                <a16:creationId xmlns:a16="http://schemas.microsoft.com/office/drawing/2014/main" id="{B382F718-D812-7AB1-82AC-238730D43FF9}"/>
              </a:ext>
            </a:extLst>
          </p:cNvPr>
          <p:cNvSpPr>
            <a:spLocks noGrp="1"/>
          </p:cNvSpPr>
          <p:nvPr>
            <p:ph type="ctrTitle"/>
          </p:nvPr>
        </p:nvSpPr>
        <p:spPr>
          <a:xfrm>
            <a:off x="685800" y="321289"/>
            <a:ext cx="7772400" cy="1470025"/>
          </a:xfrm>
        </p:spPr>
        <p:txBody>
          <a:bodyPr>
            <a:normAutofit/>
          </a:bodyPr>
          <a:lstStyle/>
          <a:p>
            <a:r>
              <a:rPr lang="en-US" dirty="0"/>
              <a:t>Traditional Programming Vs ML</a:t>
            </a:r>
          </a:p>
        </p:txBody>
      </p:sp>
    </p:spTree>
    <p:extLst>
      <p:ext uri="{BB962C8B-B14F-4D97-AF65-F5344CB8AC3E}">
        <p14:creationId xmlns:p14="http://schemas.microsoft.com/office/powerpoint/2010/main" val="2054769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Why do we need Machine Learning?</a:t>
            </a:r>
          </a:p>
        </p:txBody>
      </p:sp>
      <p:sp>
        <p:nvSpPr>
          <p:cNvPr id="3" name="Content Placeholder 2"/>
          <p:cNvSpPr>
            <a:spLocks noGrp="1"/>
          </p:cNvSpPr>
          <p:nvPr>
            <p:ph idx="1"/>
          </p:nvPr>
        </p:nvSpPr>
        <p:spPr>
          <a:xfrm>
            <a:off x="457198" y="1628775"/>
            <a:ext cx="6360162" cy="4525963"/>
          </a:xfrm>
        </p:spPr>
        <p:txBody>
          <a:bodyPr wrap="square">
            <a:noAutofit/>
          </a:bodyPr>
          <a:lstStyle/>
          <a:p>
            <a:pPr marL="0" indent="0">
              <a:buNone/>
              <a:defRPr sz="1800">
                <a:latin typeface="Calibri"/>
              </a:defRPr>
            </a:pPr>
            <a:r>
              <a:rPr lang="en-US" sz="1600" b="1" dirty="0"/>
              <a:t>Machine Learning means teaching computers by examples, not by rules.</a:t>
            </a:r>
            <a:endParaRPr sz="1600" b="1" dirty="0"/>
          </a:p>
          <a:p>
            <a:pPr marL="0" indent="0">
              <a:buNone/>
              <a:defRPr sz="1800">
                <a:latin typeface="Calibri"/>
              </a:defRPr>
            </a:pPr>
            <a:r>
              <a:rPr sz="1600" b="1" dirty="0"/>
              <a:t>1. Pattern Recognition</a:t>
            </a:r>
          </a:p>
          <a:p>
            <a:pPr marL="400050" lvl="1" indent="0">
              <a:buNone/>
              <a:defRPr sz="1800">
                <a:latin typeface="Calibri"/>
              </a:defRPr>
            </a:pPr>
            <a:r>
              <a:rPr sz="1600" dirty="0"/>
              <a:t>• Recognizing faces in photos</a:t>
            </a:r>
            <a:endParaRPr lang="en-US" sz="1600" dirty="0"/>
          </a:p>
          <a:p>
            <a:pPr marL="400050" lvl="1" indent="0">
              <a:buNone/>
              <a:defRPr sz="1800">
                <a:latin typeface="Calibri"/>
              </a:defRPr>
            </a:pPr>
            <a:r>
              <a:rPr lang="en-US" sz="1600" dirty="0"/>
              <a:t>• Understanding speech</a:t>
            </a:r>
          </a:p>
          <a:p>
            <a:pPr marL="400050" lvl="1" indent="0">
              <a:buNone/>
              <a:defRPr sz="1800">
                <a:latin typeface="Calibri"/>
              </a:defRPr>
            </a:pPr>
            <a:r>
              <a:rPr lang="en-US" sz="1600" b="1" dirty="0"/>
              <a:t>No fixed rules, so ML learns from examples</a:t>
            </a:r>
          </a:p>
          <a:p>
            <a:pPr marL="400050" lvl="1" indent="0">
              <a:buNone/>
              <a:defRPr sz="1800">
                <a:latin typeface="Calibri"/>
              </a:defRPr>
            </a:pPr>
            <a:endParaRPr sz="1600" dirty="0"/>
          </a:p>
          <a:p>
            <a:pPr marL="0" indent="0">
              <a:buNone/>
              <a:defRPr sz="1800">
                <a:latin typeface="Calibri"/>
              </a:defRPr>
            </a:pPr>
            <a:r>
              <a:rPr sz="1600" b="1" dirty="0"/>
              <a:t>2. Too Many Rules</a:t>
            </a:r>
            <a:endParaRPr lang="en-US" sz="1600" b="1" dirty="0"/>
          </a:p>
          <a:p>
            <a:pPr marL="400050" lvl="1" indent="0">
              <a:buNone/>
              <a:defRPr sz="1800">
                <a:latin typeface="Calibri"/>
              </a:defRPr>
            </a:pPr>
            <a:r>
              <a:rPr lang="en-US" sz="1600" dirty="0"/>
              <a:t>• Email spam: Rules change constantly</a:t>
            </a:r>
          </a:p>
          <a:p>
            <a:pPr marL="400050" lvl="1" indent="0">
              <a:buNone/>
              <a:defRPr sz="1800">
                <a:latin typeface="Calibri"/>
              </a:defRPr>
            </a:pPr>
            <a:r>
              <a:rPr lang="en-US" sz="1600" dirty="0"/>
              <a:t>• Stock market: Millions of factors</a:t>
            </a:r>
          </a:p>
          <a:p>
            <a:pPr marL="400050" lvl="1" indent="0">
              <a:buNone/>
              <a:defRPr sz="1800">
                <a:latin typeface="Calibri"/>
              </a:defRPr>
            </a:pPr>
            <a:r>
              <a:rPr lang="en-US" sz="1600" b="1" dirty="0"/>
              <a:t>Rules change, ML adapts automatically</a:t>
            </a:r>
          </a:p>
          <a:p>
            <a:pPr marL="400050" lvl="1" indent="0">
              <a:buNone/>
              <a:defRPr sz="1800">
                <a:latin typeface="Calibri"/>
              </a:defRPr>
            </a:pPr>
            <a:endParaRPr sz="1600" b="1" dirty="0"/>
          </a:p>
          <a:p>
            <a:pPr marL="0" indent="0">
              <a:buNone/>
              <a:defRPr sz="1800">
                <a:latin typeface="Calibri"/>
              </a:defRPr>
            </a:pPr>
            <a:r>
              <a:rPr sz="1600" b="1" dirty="0"/>
              <a:t>3. Personalization</a:t>
            </a:r>
          </a:p>
          <a:p>
            <a:pPr marL="400050" lvl="1" indent="0">
              <a:buNone/>
              <a:defRPr sz="1800">
                <a:latin typeface="Calibri"/>
              </a:defRPr>
            </a:pPr>
            <a:r>
              <a:rPr sz="1600" dirty="0"/>
              <a:t>• Netflix recommendations</a:t>
            </a:r>
          </a:p>
          <a:p>
            <a:pPr marL="400050" lvl="1" indent="0">
              <a:buNone/>
              <a:defRPr sz="1800">
                <a:latin typeface="Calibri"/>
              </a:defRPr>
            </a:pPr>
            <a:r>
              <a:rPr sz="1600" dirty="0"/>
              <a:t>• YouTube video suggestions</a:t>
            </a:r>
            <a:endParaRPr lang="en-US" sz="1600" dirty="0"/>
          </a:p>
          <a:p>
            <a:pPr marL="400050" lvl="1" indent="0">
              <a:buNone/>
              <a:defRPr sz="1800">
                <a:latin typeface="Calibri"/>
              </a:defRPr>
            </a:pPr>
            <a:r>
              <a:rPr lang="en-US" sz="1600" b="1" dirty="0"/>
              <a:t>Different users get different results</a:t>
            </a:r>
          </a:p>
        </p:txBody>
      </p:sp>
      <p:pic>
        <p:nvPicPr>
          <p:cNvPr id="5" name="Picture 4">
            <a:extLst>
              <a:ext uri="{FF2B5EF4-FFF2-40B4-BE49-F238E27FC236}">
                <a16:creationId xmlns:a16="http://schemas.microsoft.com/office/drawing/2014/main" id="{2206659E-B452-E894-CADB-8CC3EA7E8BCA}"/>
              </a:ext>
            </a:extLst>
          </p:cNvPr>
          <p:cNvPicPr>
            <a:picLocks noChangeAspect="1"/>
          </p:cNvPicPr>
          <p:nvPr/>
        </p:nvPicPr>
        <p:blipFill>
          <a:blip r:embed="rId2"/>
          <a:srcRect b="9695"/>
          <a:stretch>
            <a:fillRect/>
          </a:stretch>
        </p:blipFill>
        <p:spPr>
          <a:xfrm>
            <a:off x="6943490" y="5011738"/>
            <a:ext cx="1317489" cy="1143000"/>
          </a:xfrm>
          <a:prstGeom prst="rect">
            <a:avLst/>
          </a:prstGeom>
        </p:spPr>
      </p:pic>
      <p:pic>
        <p:nvPicPr>
          <p:cNvPr id="7" name="Picture 6">
            <a:extLst>
              <a:ext uri="{FF2B5EF4-FFF2-40B4-BE49-F238E27FC236}">
                <a16:creationId xmlns:a16="http://schemas.microsoft.com/office/drawing/2014/main" id="{258A23A0-548C-3123-A49D-83B2401AC58A}"/>
              </a:ext>
            </a:extLst>
          </p:cNvPr>
          <p:cNvPicPr>
            <a:picLocks noChangeAspect="1"/>
          </p:cNvPicPr>
          <p:nvPr/>
        </p:nvPicPr>
        <p:blipFill>
          <a:blip r:embed="rId3"/>
          <a:srcRect b="6881"/>
          <a:stretch>
            <a:fillRect/>
          </a:stretch>
        </p:blipFill>
        <p:spPr>
          <a:xfrm>
            <a:off x="7072431" y="3429000"/>
            <a:ext cx="1059605" cy="1064342"/>
          </a:xfrm>
          <a:prstGeom prst="rect">
            <a:avLst/>
          </a:prstGeom>
        </p:spPr>
      </p:pic>
      <p:pic>
        <p:nvPicPr>
          <p:cNvPr id="9" name="Picture 8">
            <a:extLst>
              <a:ext uri="{FF2B5EF4-FFF2-40B4-BE49-F238E27FC236}">
                <a16:creationId xmlns:a16="http://schemas.microsoft.com/office/drawing/2014/main" id="{59E038A0-3F0B-FE63-3E4F-7650D917972E}"/>
              </a:ext>
            </a:extLst>
          </p:cNvPr>
          <p:cNvPicPr>
            <a:picLocks noChangeAspect="1"/>
          </p:cNvPicPr>
          <p:nvPr/>
        </p:nvPicPr>
        <p:blipFill>
          <a:blip r:embed="rId4"/>
          <a:srcRect l="17025" t="13339" r="18938" b="22421"/>
          <a:stretch>
            <a:fillRect/>
          </a:stretch>
        </p:blipFill>
        <p:spPr>
          <a:xfrm>
            <a:off x="6943490" y="1573469"/>
            <a:ext cx="1317489" cy="14256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Types of Machine Learning</a:t>
            </a:r>
          </a:p>
        </p:txBody>
      </p:sp>
      <p:sp>
        <p:nvSpPr>
          <p:cNvPr id="3" name="Content Placeholder 2"/>
          <p:cNvSpPr>
            <a:spLocks noGrp="1"/>
          </p:cNvSpPr>
          <p:nvPr>
            <p:ph idx="1"/>
          </p:nvPr>
        </p:nvSpPr>
        <p:spPr>
          <a:xfrm>
            <a:off x="457200" y="1600200"/>
            <a:ext cx="8090105" cy="4525963"/>
          </a:xfrm>
        </p:spPr>
        <p:txBody>
          <a:bodyPr wrap="square">
            <a:normAutofit/>
          </a:bodyPr>
          <a:lstStyle/>
          <a:p>
            <a:pPr marL="0" indent="0">
              <a:buNone/>
              <a:defRPr sz="1800">
                <a:latin typeface="Calibri"/>
              </a:defRPr>
            </a:pPr>
            <a:r>
              <a:rPr dirty="0"/>
              <a:t>1. </a:t>
            </a:r>
            <a:r>
              <a:rPr b="1" dirty="0"/>
              <a:t>Supervised Learning</a:t>
            </a:r>
            <a:endParaRPr lang="en-US" b="1" dirty="0"/>
          </a:p>
          <a:p>
            <a:pPr marL="0" indent="0">
              <a:buNone/>
              <a:defRPr sz="1800">
                <a:latin typeface="Calibri"/>
              </a:defRPr>
            </a:pPr>
            <a:r>
              <a:rPr lang="en-US" sz="1800" dirty="0"/>
              <a:t>It</a:t>
            </a:r>
            <a:r>
              <a:rPr lang="en-US" sz="1800" b="1" dirty="0"/>
              <a:t> </a:t>
            </a:r>
            <a:r>
              <a:rPr lang="en-US" sz="1800" dirty="0"/>
              <a:t>is a type of Machine Learning where the model is trained using labeled data. The model learns the relationship between input and output and then makes predictions on new data. It has two types: classification and regression.</a:t>
            </a:r>
          </a:p>
          <a:p>
            <a:pPr marL="0" indent="0">
              <a:buNone/>
              <a:defRPr sz="1800">
                <a:latin typeface="Calibri"/>
              </a:defRPr>
            </a:pPr>
            <a:endParaRPr b="1" dirty="0"/>
          </a:p>
          <a:p>
            <a:pPr>
              <a:defRPr sz="1800">
                <a:latin typeface="Calibri"/>
              </a:defRPr>
            </a:pPr>
            <a:r>
              <a:rPr dirty="0"/>
              <a:t>Learning with labeled examples</a:t>
            </a:r>
          </a:p>
          <a:p>
            <a:pPr>
              <a:defRPr sz="1800">
                <a:latin typeface="Calibri"/>
              </a:defRPr>
            </a:pPr>
            <a:r>
              <a:rPr dirty="0"/>
              <a:t>Like learning with answer key</a:t>
            </a:r>
          </a:p>
          <a:p>
            <a:pPr>
              <a:defRPr sz="1800">
                <a:latin typeface="Calibri"/>
              </a:defRPr>
            </a:pPr>
            <a:endParaRPr dirty="0"/>
          </a:p>
        </p:txBody>
      </p:sp>
      <p:pic>
        <p:nvPicPr>
          <p:cNvPr id="5" name="Picture 4">
            <a:extLst>
              <a:ext uri="{FF2B5EF4-FFF2-40B4-BE49-F238E27FC236}">
                <a16:creationId xmlns:a16="http://schemas.microsoft.com/office/drawing/2014/main" id="{EF88D1C6-0768-E33E-32EF-DBB0E55A9906}"/>
              </a:ext>
            </a:extLst>
          </p:cNvPr>
          <p:cNvPicPr>
            <a:picLocks noChangeAspect="1"/>
          </p:cNvPicPr>
          <p:nvPr/>
        </p:nvPicPr>
        <p:blipFill>
          <a:blip r:embed="rId2"/>
          <a:stretch>
            <a:fillRect/>
          </a:stretch>
        </p:blipFill>
        <p:spPr>
          <a:xfrm>
            <a:off x="3913238" y="3132362"/>
            <a:ext cx="4997860" cy="29987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Supervised Learning</a:t>
            </a:r>
          </a:p>
        </p:txBody>
      </p:sp>
      <p:sp>
        <p:nvSpPr>
          <p:cNvPr id="3" name="Content Placeholder 2"/>
          <p:cNvSpPr>
            <a:spLocks noGrp="1"/>
          </p:cNvSpPr>
          <p:nvPr>
            <p:ph idx="1"/>
          </p:nvPr>
        </p:nvSpPr>
        <p:spPr>
          <a:xfrm>
            <a:off x="457200" y="1600200"/>
            <a:ext cx="5324168" cy="4525963"/>
          </a:xfrm>
        </p:spPr>
        <p:txBody>
          <a:bodyPr wrap="square">
            <a:normAutofit/>
          </a:bodyPr>
          <a:lstStyle/>
          <a:p>
            <a:pPr marL="0" indent="0">
              <a:buNone/>
              <a:defRPr sz="1800">
                <a:latin typeface="Calibri"/>
              </a:defRPr>
            </a:pPr>
            <a:r>
              <a:rPr dirty="0"/>
              <a:t>• We provide labeled training data</a:t>
            </a:r>
          </a:p>
          <a:p>
            <a:pPr marL="0" indent="0">
              <a:buNone/>
              <a:defRPr sz="1800">
                <a:latin typeface="Calibri"/>
              </a:defRPr>
            </a:pPr>
            <a:r>
              <a:rPr dirty="0"/>
              <a:t>• Model learns the relationship</a:t>
            </a:r>
          </a:p>
          <a:p>
            <a:pPr marL="0" indent="0">
              <a:buNone/>
              <a:defRPr sz="1800">
                <a:latin typeface="Calibri"/>
              </a:defRPr>
            </a:pPr>
            <a:r>
              <a:rPr dirty="0"/>
              <a:t>• Then predicts on new data</a:t>
            </a:r>
          </a:p>
          <a:p>
            <a:pPr>
              <a:defRPr sz="1800">
                <a:latin typeface="Calibri"/>
              </a:defRPr>
            </a:pPr>
            <a:endParaRPr dirty="0"/>
          </a:p>
          <a:p>
            <a:pPr marL="0" indent="0">
              <a:buNone/>
              <a:defRPr sz="1800">
                <a:latin typeface="Calibri"/>
              </a:defRPr>
            </a:pPr>
            <a:r>
              <a:rPr dirty="0"/>
              <a:t>Examples:</a:t>
            </a:r>
          </a:p>
          <a:p>
            <a:pPr marL="0" indent="0">
              <a:buNone/>
              <a:defRPr sz="1800">
                <a:latin typeface="Calibri"/>
              </a:defRPr>
            </a:pPr>
            <a:r>
              <a:rPr dirty="0"/>
              <a:t>• Images: Cat, Dog, or Bird</a:t>
            </a:r>
          </a:p>
          <a:p>
            <a:pPr marL="0" indent="0">
              <a:buNone/>
              <a:defRPr sz="1800">
                <a:latin typeface="Calibri"/>
              </a:defRPr>
            </a:pPr>
            <a:r>
              <a:rPr dirty="0"/>
              <a:t>• Grades: Predict student performance</a:t>
            </a:r>
          </a:p>
          <a:p>
            <a:pPr>
              <a:defRPr sz="1800">
                <a:latin typeface="Calibri"/>
              </a:defRPr>
            </a:pPr>
            <a:endParaRPr dirty="0"/>
          </a:p>
          <a:p>
            <a:pPr marL="0" indent="0">
              <a:buNone/>
              <a:defRPr sz="1800">
                <a:latin typeface="Calibri"/>
              </a:defRPr>
            </a:pPr>
            <a:r>
              <a:rPr dirty="0"/>
              <a:t>Two types:</a:t>
            </a:r>
          </a:p>
          <a:p>
            <a:pPr marL="0" indent="0">
              <a:buNone/>
              <a:defRPr sz="1800">
                <a:latin typeface="Calibri"/>
              </a:defRPr>
            </a:pPr>
            <a:r>
              <a:rPr dirty="0"/>
              <a:t>• Classification: Categories (spam/not spam)</a:t>
            </a:r>
          </a:p>
          <a:p>
            <a:pPr marL="0" indent="0">
              <a:buNone/>
              <a:defRPr sz="1800">
                <a:latin typeface="Calibri"/>
              </a:defRPr>
            </a:pPr>
            <a:r>
              <a:rPr dirty="0"/>
              <a:t>• Regression: Numbers (house price, temperature)</a:t>
            </a:r>
          </a:p>
          <a:p>
            <a:endParaRPr dirty="0"/>
          </a:p>
        </p:txBody>
      </p:sp>
      <p:sp>
        <p:nvSpPr>
          <p:cNvPr id="4" name="Rectangle 1">
            <a:extLst>
              <a:ext uri="{FF2B5EF4-FFF2-40B4-BE49-F238E27FC236}">
                <a16:creationId xmlns:a16="http://schemas.microsoft.com/office/drawing/2014/main" id="{5AB1CDD2-8AE6-BAC4-9768-2769142A8310}"/>
              </a:ext>
            </a:extLst>
          </p:cNvPr>
          <p:cNvSpPr>
            <a:spLocks noChangeArrowheads="1"/>
          </p:cNvSpPr>
          <p:nvPr/>
        </p:nvSpPr>
        <p:spPr bwMode="auto">
          <a:xfrm>
            <a:off x="5609303" y="1859339"/>
            <a:ext cx="316598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Pass / Fail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Marks out of 100</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House Price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 </a:t>
            </a:r>
            <a:r>
              <a:rPr kumimoji="0" lang="en-US" altLang="en-US" sz="1800" b="1" i="0" u="none" strike="noStrike" cap="none" normalizeH="0" baseline="0" dirty="0">
                <a:ln>
                  <a:noFill/>
                </a:ln>
                <a:solidFill>
                  <a:schemeClr val="tx1"/>
                </a:solidFill>
                <a:effectLst/>
                <a:latin typeface="Arial" panose="020B0604020202020204" pitchFamily="34" charset="0"/>
              </a:rPr>
              <a:t>Spam / Not Spam</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E2F12-BFB6-2661-7D99-1D8317C4A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22297-9FC2-D793-E3F8-4B766F072348}"/>
              </a:ext>
            </a:extLst>
          </p:cNvPr>
          <p:cNvSpPr>
            <a:spLocks noGrp="1"/>
          </p:cNvSpPr>
          <p:nvPr>
            <p:ph type="title"/>
          </p:nvPr>
        </p:nvSpPr>
        <p:spPr/>
        <p:txBody>
          <a:bodyPr/>
          <a:lstStyle/>
          <a:p>
            <a:r>
              <a:rPr dirty="0"/>
              <a:t>Types of Machine Learning</a:t>
            </a:r>
          </a:p>
        </p:txBody>
      </p:sp>
      <p:sp>
        <p:nvSpPr>
          <p:cNvPr id="7" name="Content Placeholder 2">
            <a:extLst>
              <a:ext uri="{FF2B5EF4-FFF2-40B4-BE49-F238E27FC236}">
                <a16:creationId xmlns:a16="http://schemas.microsoft.com/office/drawing/2014/main" id="{3C6544EA-7445-067E-853B-7332E487231C}"/>
              </a:ext>
            </a:extLst>
          </p:cNvPr>
          <p:cNvSpPr>
            <a:spLocks noGrp="1"/>
          </p:cNvSpPr>
          <p:nvPr>
            <p:ph idx="1"/>
          </p:nvPr>
        </p:nvSpPr>
        <p:spPr>
          <a:xfrm>
            <a:off x="457200" y="1600200"/>
            <a:ext cx="8087032" cy="4525963"/>
          </a:xfrm>
        </p:spPr>
        <p:txBody>
          <a:bodyPr wrap="square">
            <a:normAutofit/>
          </a:bodyPr>
          <a:lstStyle/>
          <a:p>
            <a:pPr marL="0" indent="0">
              <a:buNone/>
              <a:defRPr sz="1800">
                <a:latin typeface="Calibri"/>
              </a:defRPr>
            </a:pPr>
            <a:r>
              <a:rPr lang="en-US" sz="1800" dirty="0"/>
              <a:t>2.</a:t>
            </a:r>
            <a:r>
              <a:rPr lang="en-US" sz="1800" b="1" dirty="0"/>
              <a:t> Unsupervised Learning</a:t>
            </a:r>
            <a:r>
              <a:rPr lang="en-US" sz="1800" dirty="0"/>
              <a:t> is a type of Machine Learning where no labeled data is provided. The model finds hidden patterns and structure in data.</a:t>
            </a:r>
          </a:p>
          <a:p>
            <a:pPr marL="0" indent="0">
              <a:buNone/>
              <a:defRPr sz="1800">
                <a:latin typeface="Calibri"/>
              </a:defRPr>
            </a:pPr>
            <a:endParaRPr lang="en-US" sz="1800" dirty="0"/>
          </a:p>
          <a:p>
            <a:pPr marL="0" indent="0">
              <a:buNone/>
              <a:defRPr sz="1800">
                <a:latin typeface="Calibri"/>
              </a:defRPr>
            </a:pPr>
            <a:r>
              <a:rPr lang="en-US" sz="1800" dirty="0"/>
              <a:t>Unsupervised learning finds hidden patterns and often groups similar data points without using labels</a:t>
            </a:r>
          </a:p>
          <a:p>
            <a:pPr marL="0" indent="0">
              <a:buNone/>
              <a:defRPr sz="1800">
                <a:latin typeface="Calibri"/>
              </a:defRPr>
            </a:pPr>
            <a:endParaRPr lang="en-US" sz="1800" b="1" dirty="0"/>
          </a:p>
          <a:p>
            <a:pPr marL="0" indent="0">
              <a:buNone/>
              <a:defRPr sz="1800">
                <a:latin typeface="Calibri"/>
              </a:defRPr>
            </a:pPr>
            <a:endParaRPr b="1" dirty="0"/>
          </a:p>
          <a:p>
            <a:pPr>
              <a:defRPr sz="1800">
                <a:latin typeface="Calibri"/>
              </a:defRPr>
            </a:pPr>
            <a:r>
              <a:rPr lang="en-US" dirty="0"/>
              <a:t>Finding patterns in unlabeled data</a:t>
            </a:r>
            <a:endParaRPr dirty="0"/>
          </a:p>
          <a:p>
            <a:pPr>
              <a:defRPr sz="1800">
                <a:latin typeface="Calibri"/>
              </a:defRPr>
            </a:pPr>
            <a:r>
              <a:rPr lang="en-US" dirty="0"/>
              <a:t>Like exploring without a map</a:t>
            </a:r>
            <a:endParaRPr dirty="0"/>
          </a:p>
          <a:p>
            <a:pPr>
              <a:defRPr sz="1800">
                <a:latin typeface="Calibri"/>
              </a:defRPr>
            </a:pPr>
            <a:endParaRPr dirty="0"/>
          </a:p>
        </p:txBody>
      </p:sp>
      <p:pic>
        <p:nvPicPr>
          <p:cNvPr id="9" name="Picture 8">
            <a:extLst>
              <a:ext uri="{FF2B5EF4-FFF2-40B4-BE49-F238E27FC236}">
                <a16:creationId xmlns:a16="http://schemas.microsoft.com/office/drawing/2014/main" id="{A2B76CE4-1B75-C3AC-40EC-DE6C5F2A5281}"/>
              </a:ext>
            </a:extLst>
          </p:cNvPr>
          <p:cNvPicPr>
            <a:picLocks noChangeAspect="1"/>
          </p:cNvPicPr>
          <p:nvPr/>
        </p:nvPicPr>
        <p:blipFill>
          <a:blip r:embed="rId2"/>
          <a:srcRect l="3089" t="3629" r="2517"/>
          <a:stretch>
            <a:fillRect/>
          </a:stretch>
        </p:blipFill>
        <p:spPr>
          <a:xfrm>
            <a:off x="4258333" y="3101441"/>
            <a:ext cx="4428467" cy="3207284"/>
          </a:xfrm>
          <a:prstGeom prst="rect">
            <a:avLst/>
          </a:prstGeom>
        </p:spPr>
      </p:pic>
    </p:spTree>
    <p:extLst>
      <p:ext uri="{BB962C8B-B14F-4D97-AF65-F5344CB8AC3E}">
        <p14:creationId xmlns:p14="http://schemas.microsoft.com/office/powerpoint/2010/main" val="2634350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Unsupervised Learning</a:t>
            </a:r>
          </a:p>
        </p:txBody>
      </p:sp>
      <p:sp>
        <p:nvSpPr>
          <p:cNvPr id="3" name="Content Placeholder 2"/>
          <p:cNvSpPr>
            <a:spLocks noGrp="1"/>
          </p:cNvSpPr>
          <p:nvPr>
            <p:ph idx="1"/>
          </p:nvPr>
        </p:nvSpPr>
        <p:spPr>
          <a:xfrm>
            <a:off x="457200" y="1600200"/>
            <a:ext cx="3878826" cy="4525963"/>
          </a:xfrm>
        </p:spPr>
        <p:txBody>
          <a:bodyPr wrap="square">
            <a:normAutofit/>
          </a:bodyPr>
          <a:lstStyle/>
          <a:p>
            <a:r>
              <a:rPr lang="en-US" sz="1800" dirty="0"/>
              <a:t>An online store has thousands of customers but </a:t>
            </a:r>
            <a:r>
              <a:rPr lang="en-US" sz="1800" b="1" dirty="0"/>
              <a:t>no labels</a:t>
            </a:r>
            <a:r>
              <a:rPr lang="en-US" sz="1800" dirty="0"/>
              <a:t> like “cheap buyer” or “premium buyer”.</a:t>
            </a:r>
          </a:p>
          <a:p>
            <a:endParaRPr lang="en-US" sz="1800" dirty="0"/>
          </a:p>
          <a:p>
            <a:r>
              <a:rPr lang="en-US" sz="1800" b="1" dirty="0"/>
              <a:t>What ML does:</a:t>
            </a:r>
            <a:endParaRPr lang="en-US" sz="1800" dirty="0"/>
          </a:p>
          <a:p>
            <a:r>
              <a:rPr lang="en-US" sz="1800" dirty="0"/>
              <a:t>Looks at buying frequency</a:t>
            </a:r>
          </a:p>
          <a:p>
            <a:r>
              <a:rPr lang="en-US" sz="1800" dirty="0"/>
              <a:t>Looks at money spent</a:t>
            </a:r>
          </a:p>
          <a:p>
            <a:r>
              <a:rPr lang="en-US" sz="1800" dirty="0"/>
              <a:t>Looks at product types</a:t>
            </a:r>
          </a:p>
          <a:p>
            <a:r>
              <a:rPr lang="en-US" sz="1800" b="1" dirty="0"/>
              <a:t>Result:</a:t>
            </a:r>
            <a:endParaRPr lang="en-US" sz="1800" dirty="0"/>
          </a:p>
          <a:p>
            <a:r>
              <a:rPr lang="en-US" sz="1800" dirty="0"/>
              <a:t>Group 1: High spenders</a:t>
            </a:r>
          </a:p>
          <a:p>
            <a:r>
              <a:rPr lang="en-US" sz="1800" dirty="0"/>
              <a:t>Group 2: Budget buyers</a:t>
            </a:r>
          </a:p>
          <a:p>
            <a:r>
              <a:rPr lang="en-US" sz="1800" dirty="0"/>
              <a:t>Group 3: Occasional buyers</a:t>
            </a:r>
          </a:p>
        </p:txBody>
      </p:sp>
      <p:sp>
        <p:nvSpPr>
          <p:cNvPr id="4" name="Content Placeholder 2">
            <a:extLst>
              <a:ext uri="{FF2B5EF4-FFF2-40B4-BE49-F238E27FC236}">
                <a16:creationId xmlns:a16="http://schemas.microsoft.com/office/drawing/2014/main" id="{748C6D74-D6BA-0DF4-F1AE-68F0E82C4C9C}"/>
              </a:ext>
            </a:extLst>
          </p:cNvPr>
          <p:cNvSpPr txBox="1">
            <a:spLocks/>
          </p:cNvSpPr>
          <p:nvPr/>
        </p:nvSpPr>
        <p:spPr>
          <a:xfrm>
            <a:off x="4404852" y="1600200"/>
            <a:ext cx="3878826" cy="4525963"/>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dirty="0"/>
              <a:t>Students with different learning styles.</a:t>
            </a:r>
          </a:p>
          <a:p>
            <a:endParaRPr lang="en-US" sz="1800" dirty="0"/>
          </a:p>
          <a:p>
            <a:endParaRPr lang="en-US" sz="1800" dirty="0"/>
          </a:p>
          <a:p>
            <a:r>
              <a:rPr lang="en-US" sz="1800" b="1" dirty="0"/>
              <a:t>What ML does:</a:t>
            </a:r>
            <a:endParaRPr lang="en-US" sz="1800" dirty="0"/>
          </a:p>
          <a:p>
            <a:r>
              <a:rPr lang="en-US" sz="1800" dirty="0"/>
              <a:t>Groups students by performance, speed, and behavior</a:t>
            </a:r>
          </a:p>
          <a:p>
            <a:r>
              <a:rPr lang="en-US" sz="1800" dirty="0"/>
              <a:t>No labels like “good” or “weak”</a:t>
            </a:r>
          </a:p>
          <a:p>
            <a:r>
              <a:rPr lang="en-US" sz="1800" b="1" dirty="0"/>
              <a:t>Result:</a:t>
            </a:r>
            <a:endParaRPr lang="en-US" sz="1800" dirty="0"/>
          </a:p>
          <a:p>
            <a:r>
              <a:rPr lang="en-US" sz="1800" dirty="0"/>
              <a:t>Fast learners</a:t>
            </a:r>
          </a:p>
          <a:p>
            <a:r>
              <a:rPr lang="en-US" sz="1800" dirty="0"/>
              <a:t>Average learners</a:t>
            </a:r>
          </a:p>
          <a:p>
            <a:r>
              <a:rPr lang="en-US" sz="1800" dirty="0"/>
              <a:t>Needs-help learners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7A425-745E-CA28-6C67-00F6173F3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01DFA-B877-3BD7-27D9-D8B6AEC3EFC7}"/>
              </a:ext>
            </a:extLst>
          </p:cNvPr>
          <p:cNvSpPr>
            <a:spLocks noGrp="1"/>
          </p:cNvSpPr>
          <p:nvPr>
            <p:ph type="title"/>
          </p:nvPr>
        </p:nvSpPr>
        <p:spPr/>
        <p:txBody>
          <a:bodyPr/>
          <a:lstStyle/>
          <a:p>
            <a:r>
              <a:t>Types of Machine Learning</a:t>
            </a:r>
          </a:p>
        </p:txBody>
      </p:sp>
      <p:sp>
        <p:nvSpPr>
          <p:cNvPr id="3" name="Content Placeholder 2">
            <a:extLst>
              <a:ext uri="{FF2B5EF4-FFF2-40B4-BE49-F238E27FC236}">
                <a16:creationId xmlns:a16="http://schemas.microsoft.com/office/drawing/2014/main" id="{862408AB-B658-314D-0845-FE50C8B05721}"/>
              </a:ext>
            </a:extLst>
          </p:cNvPr>
          <p:cNvSpPr>
            <a:spLocks noGrp="1"/>
          </p:cNvSpPr>
          <p:nvPr>
            <p:ph idx="1"/>
          </p:nvPr>
        </p:nvSpPr>
        <p:spPr/>
        <p:txBody>
          <a:bodyPr wrap="square">
            <a:normAutofit/>
          </a:bodyPr>
          <a:lstStyle/>
          <a:p>
            <a:pPr marL="0" indent="0">
              <a:buNone/>
              <a:defRPr sz="1800">
                <a:latin typeface="Calibri"/>
              </a:defRPr>
            </a:pPr>
            <a:r>
              <a:rPr lang="en-US" sz="1800" dirty="0"/>
              <a:t>3. </a:t>
            </a:r>
            <a:r>
              <a:rPr lang="en-US" sz="1800" b="1" dirty="0"/>
              <a:t>Reinforcement Learning</a:t>
            </a:r>
            <a:r>
              <a:rPr lang="en-US" sz="1800" dirty="0"/>
              <a:t> is a type of Machine Learning where an agent learns by interacting with the environment. It receives </a:t>
            </a:r>
            <a:r>
              <a:rPr lang="en-US" sz="1800" b="1" dirty="0"/>
              <a:t>rewards for good actions</a:t>
            </a:r>
            <a:r>
              <a:rPr lang="en-US" sz="1800" dirty="0"/>
              <a:t> and </a:t>
            </a:r>
            <a:r>
              <a:rPr lang="en-US" sz="1800" b="1" dirty="0"/>
              <a:t>penalties for bad actions</a:t>
            </a:r>
            <a:r>
              <a:rPr lang="en-US" sz="1800" dirty="0"/>
              <a:t>. Over time, it learns the best actions to achieve its goal.</a:t>
            </a:r>
          </a:p>
          <a:p>
            <a:pPr marL="0" indent="0">
              <a:buNone/>
              <a:defRPr sz="1800">
                <a:latin typeface="Calibri"/>
              </a:defRPr>
            </a:pPr>
            <a:endParaRPr lang="en-US" sz="1800" dirty="0"/>
          </a:p>
          <a:p>
            <a:pPr marL="0" indent="0">
              <a:buNone/>
              <a:defRPr sz="1800">
                <a:latin typeface="Calibri"/>
              </a:defRPr>
            </a:pPr>
            <a:r>
              <a:rPr lang="en-US" sz="1800" dirty="0"/>
              <a:t>Reinforcement Learning = Learn by trying, get rewards or penalties, improve over time.</a:t>
            </a:r>
          </a:p>
          <a:p>
            <a:pPr marL="0" indent="0">
              <a:buNone/>
              <a:defRPr sz="1800">
                <a:latin typeface="Calibri"/>
              </a:defRPr>
            </a:pPr>
            <a:endParaRPr lang="en-US" sz="1800" dirty="0"/>
          </a:p>
          <a:p>
            <a:pPr marL="0" indent="0">
              <a:buNone/>
              <a:defRPr sz="1800">
                <a:latin typeface="Calibri"/>
              </a:defRPr>
            </a:pPr>
            <a:endParaRPr dirty="0"/>
          </a:p>
          <a:p>
            <a:pPr>
              <a:defRPr sz="1800">
                <a:latin typeface="Calibri"/>
              </a:defRPr>
            </a:pPr>
            <a:r>
              <a:rPr dirty="0"/>
              <a:t>Learning through trial and error</a:t>
            </a:r>
          </a:p>
          <a:p>
            <a:pPr>
              <a:defRPr sz="1800">
                <a:latin typeface="Calibri"/>
              </a:defRPr>
            </a:pPr>
            <a:r>
              <a:rPr dirty="0"/>
              <a:t>Like learning to ride a bike</a:t>
            </a:r>
          </a:p>
          <a:p>
            <a:pPr marL="0" indent="0">
              <a:buNone/>
            </a:pPr>
            <a:br>
              <a:rPr sz="1800" dirty="0"/>
            </a:br>
            <a:endParaRPr sz="1800" dirty="0"/>
          </a:p>
        </p:txBody>
      </p:sp>
      <p:pic>
        <p:nvPicPr>
          <p:cNvPr id="5" name="Picture 4">
            <a:extLst>
              <a:ext uri="{FF2B5EF4-FFF2-40B4-BE49-F238E27FC236}">
                <a16:creationId xmlns:a16="http://schemas.microsoft.com/office/drawing/2014/main" id="{D02AD3DD-8AB5-2B53-93A4-4E6A8D06E321}"/>
              </a:ext>
            </a:extLst>
          </p:cNvPr>
          <p:cNvPicPr>
            <a:picLocks noChangeAspect="1"/>
          </p:cNvPicPr>
          <p:nvPr/>
        </p:nvPicPr>
        <p:blipFill>
          <a:blip r:embed="rId2"/>
          <a:srcRect l="4789" t="2667" r="2817" b="7755"/>
          <a:stretch>
            <a:fillRect/>
          </a:stretch>
        </p:blipFill>
        <p:spPr>
          <a:xfrm>
            <a:off x="5195038" y="3199068"/>
            <a:ext cx="3332480" cy="3230880"/>
          </a:xfrm>
          <a:prstGeom prst="rect">
            <a:avLst/>
          </a:prstGeom>
        </p:spPr>
      </p:pic>
    </p:spTree>
    <p:extLst>
      <p:ext uri="{BB962C8B-B14F-4D97-AF65-F5344CB8AC3E}">
        <p14:creationId xmlns:p14="http://schemas.microsoft.com/office/powerpoint/2010/main" val="2457012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Reinforcement Learning</a:t>
            </a:r>
          </a:p>
        </p:txBody>
      </p:sp>
      <p:sp>
        <p:nvSpPr>
          <p:cNvPr id="3" name="Content Placeholder 2"/>
          <p:cNvSpPr>
            <a:spLocks noGrp="1"/>
          </p:cNvSpPr>
          <p:nvPr>
            <p:ph idx="1"/>
          </p:nvPr>
        </p:nvSpPr>
        <p:spPr/>
        <p:txBody>
          <a:bodyPr wrap="square">
            <a:normAutofit fontScale="92500" lnSpcReduction="10000"/>
          </a:bodyPr>
          <a:lstStyle/>
          <a:p>
            <a:pPr marL="0" indent="0">
              <a:buNone/>
              <a:defRPr sz="1800">
                <a:latin typeface="Calibri"/>
              </a:defRPr>
            </a:pPr>
            <a:r>
              <a:rPr lang="en-US" dirty="0"/>
              <a:t>Definition:</a:t>
            </a:r>
          </a:p>
          <a:p>
            <a:pPr marL="0" indent="0">
              <a:buNone/>
              <a:defRPr sz="1800">
                <a:latin typeface="Calibri"/>
              </a:defRPr>
            </a:pPr>
            <a:r>
              <a:rPr lang="en-US" dirty="0"/>
              <a:t>• Agent learns by interacting with environment</a:t>
            </a:r>
          </a:p>
          <a:p>
            <a:pPr marL="0" indent="0">
              <a:buNone/>
              <a:defRPr sz="1800">
                <a:latin typeface="Calibri"/>
              </a:defRPr>
            </a:pPr>
            <a:r>
              <a:rPr lang="en-US" dirty="0"/>
              <a:t>• Gets rewards for good actions</a:t>
            </a:r>
          </a:p>
          <a:p>
            <a:pPr marL="0" indent="0">
              <a:buNone/>
              <a:defRPr sz="1800">
                <a:latin typeface="Calibri"/>
              </a:defRPr>
            </a:pPr>
            <a:r>
              <a:rPr lang="en-US" dirty="0"/>
              <a:t>• Gets penalties for bad actions</a:t>
            </a:r>
          </a:p>
          <a:p>
            <a:pPr marL="0" indent="0">
              <a:buNone/>
              <a:defRPr sz="1800">
                <a:latin typeface="Calibri"/>
              </a:defRPr>
            </a:pPr>
            <a:endParaRPr lang="en-US" dirty="0"/>
          </a:p>
          <a:p>
            <a:pPr marL="0" indent="0">
              <a:buNone/>
              <a:defRPr sz="1800">
                <a:latin typeface="Calibri"/>
              </a:defRPr>
            </a:pPr>
            <a:r>
              <a:rPr lang="en-US" dirty="0"/>
              <a:t>Real-world examples:</a:t>
            </a:r>
          </a:p>
          <a:p>
            <a:pPr marL="0" indent="0">
              <a:buNone/>
              <a:defRPr sz="1800">
                <a:latin typeface="Calibri"/>
              </a:defRPr>
            </a:pPr>
            <a:r>
              <a:rPr lang="en-US" dirty="0"/>
              <a:t>• Game playing (Chess, Go)</a:t>
            </a:r>
          </a:p>
          <a:p>
            <a:pPr marL="0" indent="0">
              <a:buNone/>
              <a:defRPr sz="1800">
                <a:latin typeface="Calibri"/>
              </a:defRPr>
            </a:pPr>
            <a:r>
              <a:rPr lang="en-US" dirty="0"/>
              <a:t>   → Learn winning strategies</a:t>
            </a:r>
          </a:p>
          <a:p>
            <a:pPr marL="0" indent="0">
              <a:buNone/>
              <a:defRPr sz="1800">
                <a:latin typeface="Calibri"/>
              </a:defRPr>
            </a:pPr>
            <a:r>
              <a:rPr lang="en-US" dirty="0"/>
              <a:t>• Robot navigation</a:t>
            </a:r>
          </a:p>
          <a:p>
            <a:pPr marL="0" indent="0">
              <a:buNone/>
              <a:defRPr sz="1800">
                <a:latin typeface="Calibri"/>
              </a:defRPr>
            </a:pPr>
            <a:r>
              <a:rPr lang="en-US" dirty="0"/>
              <a:t>   → Learn to avoid obstacles</a:t>
            </a:r>
          </a:p>
          <a:p>
            <a:pPr marL="0" indent="0">
              <a:buNone/>
              <a:defRPr sz="1800">
                <a:latin typeface="Calibri"/>
              </a:defRPr>
            </a:pPr>
            <a:r>
              <a:rPr lang="en-US" dirty="0"/>
              <a:t>• Recommendation systems</a:t>
            </a:r>
          </a:p>
          <a:p>
            <a:pPr marL="0" indent="0">
              <a:buNone/>
              <a:defRPr sz="1800">
                <a:latin typeface="Calibri"/>
              </a:defRPr>
            </a:pPr>
            <a:r>
              <a:rPr lang="en-US" dirty="0"/>
              <a:t>   → Learn what users like</a:t>
            </a:r>
          </a:p>
          <a:p>
            <a:pPr marL="0" indent="0">
              <a:buNone/>
              <a:defRPr sz="1800">
                <a:latin typeface="Calibri"/>
              </a:defRPr>
            </a:pPr>
            <a:endParaRPr lang="en-US" dirty="0"/>
          </a:p>
          <a:p>
            <a:pPr marL="0" indent="0">
              <a:buNone/>
              <a:defRPr sz="1800">
                <a:latin typeface="Calibri"/>
              </a:defRPr>
            </a:pPr>
            <a:r>
              <a:rPr lang="en-US" dirty="0"/>
              <a:t>Key concept:</a:t>
            </a:r>
          </a:p>
          <a:p>
            <a:pPr marL="0" indent="0">
              <a:buNone/>
              <a:defRPr sz="1800">
                <a:latin typeface="Calibri"/>
              </a:defRPr>
            </a:pPr>
            <a:r>
              <a:rPr lang="en-US" dirty="0"/>
              <a:t>• Trial and error with feedback</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Real-world Example: Email Spam Detection</a:t>
            </a:r>
          </a:p>
        </p:txBody>
      </p:sp>
      <p:sp>
        <p:nvSpPr>
          <p:cNvPr id="3" name="Content Placeholder 2"/>
          <p:cNvSpPr>
            <a:spLocks noGrp="1"/>
          </p:cNvSpPr>
          <p:nvPr>
            <p:ph idx="1"/>
          </p:nvPr>
        </p:nvSpPr>
        <p:spPr/>
        <p:txBody>
          <a:bodyPr wrap="square">
            <a:noAutofit/>
          </a:bodyPr>
          <a:lstStyle/>
          <a:p>
            <a:pPr marL="0" indent="0">
              <a:buNone/>
              <a:defRPr sz="1800">
                <a:latin typeface="Calibri"/>
              </a:defRPr>
            </a:pPr>
            <a:r>
              <a:rPr sz="1800" b="1" dirty="0"/>
              <a:t>Problem</a:t>
            </a:r>
            <a:r>
              <a:rPr sz="1800" dirty="0"/>
              <a:t>:</a:t>
            </a:r>
          </a:p>
          <a:p>
            <a:pPr marL="0" indent="0">
              <a:buNone/>
              <a:defRPr sz="1800">
                <a:latin typeface="Calibri"/>
              </a:defRPr>
            </a:pPr>
            <a:r>
              <a:rPr sz="1800" dirty="0"/>
              <a:t>• Millions of emails daily</a:t>
            </a:r>
          </a:p>
          <a:p>
            <a:pPr marL="0" indent="0">
              <a:buNone/>
              <a:defRPr sz="1800">
                <a:latin typeface="Calibri"/>
              </a:defRPr>
            </a:pPr>
            <a:r>
              <a:rPr sz="1800" dirty="0"/>
              <a:t>• Spam changes constantly</a:t>
            </a:r>
          </a:p>
          <a:p>
            <a:pPr marL="0" indent="0">
              <a:buNone/>
              <a:defRPr sz="1800">
                <a:latin typeface="Calibri"/>
              </a:defRPr>
            </a:pPr>
            <a:r>
              <a:rPr sz="1800" dirty="0"/>
              <a:t>• Can't write rules for everything</a:t>
            </a:r>
          </a:p>
          <a:p>
            <a:pPr>
              <a:defRPr sz="1800">
                <a:latin typeface="Calibri"/>
              </a:defRPr>
            </a:pPr>
            <a:endParaRPr sz="1800" dirty="0"/>
          </a:p>
          <a:p>
            <a:pPr marL="0" indent="0">
              <a:buNone/>
              <a:defRPr sz="1800">
                <a:latin typeface="Calibri"/>
              </a:defRPr>
            </a:pPr>
            <a:r>
              <a:rPr sz="1800" dirty="0"/>
              <a:t>ML Solution:</a:t>
            </a:r>
          </a:p>
          <a:p>
            <a:pPr marL="0" indent="0">
              <a:buNone/>
              <a:defRPr sz="1800">
                <a:latin typeface="Calibri"/>
              </a:defRPr>
            </a:pPr>
            <a:r>
              <a:rPr sz="1800" dirty="0"/>
              <a:t>• Train on thousands of emails</a:t>
            </a:r>
          </a:p>
          <a:p>
            <a:pPr marL="0" indent="0">
              <a:buNone/>
              <a:defRPr sz="1800">
                <a:latin typeface="Calibri"/>
              </a:defRPr>
            </a:pPr>
            <a:r>
              <a:rPr sz="1800" dirty="0"/>
              <a:t>• Learn patterns:</a:t>
            </a:r>
          </a:p>
          <a:p>
            <a:pPr marL="0" indent="0">
              <a:buNone/>
              <a:defRPr sz="1800">
                <a:latin typeface="Calibri"/>
              </a:defRPr>
            </a:pPr>
            <a:r>
              <a:rPr sz="1800" dirty="0"/>
              <a:t>  - Words like 'FREE', 'WIN', 'URGENT'</a:t>
            </a:r>
          </a:p>
          <a:p>
            <a:pPr marL="0" indent="0">
              <a:buNone/>
              <a:defRPr sz="1800">
                <a:latin typeface="Calibri"/>
              </a:defRPr>
            </a:pPr>
            <a:r>
              <a:rPr sz="1800" dirty="0"/>
              <a:t>  - Suspicious sender addresses</a:t>
            </a:r>
          </a:p>
          <a:p>
            <a:pPr marL="0" indent="0">
              <a:buNone/>
              <a:defRPr sz="1800">
                <a:latin typeface="Calibri"/>
              </a:defRPr>
            </a:pPr>
            <a:r>
              <a:rPr sz="1800" dirty="0"/>
              <a:t>  - Unusual formatting</a:t>
            </a:r>
          </a:p>
          <a:p>
            <a:pPr marL="0" indent="0">
              <a:buNone/>
              <a:defRPr sz="1800">
                <a:latin typeface="Calibri"/>
              </a:defRPr>
            </a:pPr>
            <a:r>
              <a:rPr sz="1800" dirty="0"/>
              <a:t>• Classify new emails automatically</a:t>
            </a:r>
          </a:p>
          <a:p>
            <a:pPr>
              <a:defRPr sz="1800">
                <a:latin typeface="Calibri"/>
              </a:defRPr>
            </a:pPr>
            <a:endParaRPr sz="1800" dirty="0"/>
          </a:p>
          <a:p>
            <a:pPr marL="0" indent="0">
              <a:buNone/>
              <a:defRPr sz="1800">
                <a:latin typeface="Calibri"/>
              </a:defRPr>
            </a:pPr>
            <a:r>
              <a:rPr sz="1800" dirty="0"/>
              <a:t>Result:</a:t>
            </a:r>
          </a:p>
          <a:p>
            <a:pPr marL="0" indent="0">
              <a:buNone/>
              <a:defRPr sz="1800">
                <a:latin typeface="Calibri"/>
              </a:defRPr>
            </a:pPr>
            <a:r>
              <a:rPr sz="1800" dirty="0"/>
              <a:t>• Gmail filters 99.9% of spam automatically</a:t>
            </a:r>
          </a:p>
          <a:p>
            <a:pPr marL="0" indent="0">
              <a:buNone/>
            </a:pPr>
            <a:endParaRPr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Real-world Example: Face Recognition</a:t>
            </a:r>
          </a:p>
        </p:txBody>
      </p:sp>
      <p:sp>
        <p:nvSpPr>
          <p:cNvPr id="3" name="Content Placeholder 2"/>
          <p:cNvSpPr>
            <a:spLocks noGrp="1"/>
          </p:cNvSpPr>
          <p:nvPr>
            <p:ph idx="1"/>
          </p:nvPr>
        </p:nvSpPr>
        <p:spPr/>
        <p:txBody>
          <a:bodyPr wrap="square">
            <a:normAutofit lnSpcReduction="10000"/>
          </a:bodyPr>
          <a:lstStyle/>
          <a:p>
            <a:pPr marL="0" indent="0">
              <a:buNone/>
              <a:defRPr sz="1800">
                <a:latin typeface="Calibri"/>
              </a:defRPr>
            </a:pPr>
            <a:r>
              <a:rPr dirty="0"/>
              <a:t>Problem:</a:t>
            </a:r>
          </a:p>
          <a:p>
            <a:pPr marL="0" indent="0">
              <a:buNone/>
              <a:defRPr sz="1800">
                <a:latin typeface="Calibri"/>
              </a:defRPr>
            </a:pPr>
            <a:r>
              <a:rPr dirty="0"/>
              <a:t>• Identify people in photos</a:t>
            </a:r>
          </a:p>
          <a:p>
            <a:pPr marL="0" indent="0">
              <a:buNone/>
              <a:defRPr sz="1800">
                <a:latin typeface="Calibri"/>
              </a:defRPr>
            </a:pPr>
            <a:r>
              <a:rPr dirty="0"/>
              <a:t>• Used in:</a:t>
            </a:r>
          </a:p>
          <a:p>
            <a:pPr marL="0" indent="0">
              <a:buNone/>
              <a:defRPr sz="1800">
                <a:latin typeface="Calibri"/>
              </a:defRPr>
            </a:pPr>
            <a:r>
              <a:rPr dirty="0"/>
              <a:t>  - Phone unlock</a:t>
            </a:r>
          </a:p>
          <a:p>
            <a:pPr marL="0" indent="0">
              <a:buNone/>
              <a:defRPr sz="1800">
                <a:latin typeface="Calibri"/>
              </a:defRPr>
            </a:pPr>
            <a:r>
              <a:rPr dirty="0"/>
              <a:t>  - Security systems</a:t>
            </a:r>
          </a:p>
          <a:p>
            <a:pPr>
              <a:defRPr sz="1800">
                <a:latin typeface="Calibri"/>
              </a:defRPr>
            </a:pPr>
            <a:endParaRPr dirty="0"/>
          </a:p>
          <a:p>
            <a:pPr marL="0" indent="0">
              <a:buNone/>
              <a:defRPr sz="1800">
                <a:latin typeface="Calibri"/>
              </a:defRPr>
            </a:pPr>
            <a:r>
              <a:rPr dirty="0"/>
              <a:t>ML Solution:</a:t>
            </a:r>
          </a:p>
          <a:p>
            <a:pPr marL="0" indent="0">
              <a:buNone/>
              <a:defRPr sz="1800">
                <a:latin typeface="Calibri"/>
              </a:defRPr>
            </a:pPr>
            <a:r>
              <a:rPr dirty="0"/>
              <a:t>• Train on millions of face images</a:t>
            </a:r>
          </a:p>
          <a:p>
            <a:pPr marL="0" indent="0">
              <a:buNone/>
              <a:defRPr sz="1800">
                <a:latin typeface="Calibri"/>
              </a:defRPr>
            </a:pPr>
            <a:r>
              <a:rPr dirty="0"/>
              <a:t>• Learn facial features:</a:t>
            </a:r>
          </a:p>
          <a:p>
            <a:pPr marL="0" indent="0">
              <a:buNone/>
              <a:defRPr sz="1800">
                <a:latin typeface="Calibri"/>
              </a:defRPr>
            </a:pPr>
            <a:r>
              <a:rPr dirty="0"/>
              <a:t>  - Eye shape, nose, mouth position</a:t>
            </a:r>
          </a:p>
          <a:p>
            <a:pPr marL="0" indent="0">
              <a:buNone/>
              <a:defRPr sz="1800">
                <a:latin typeface="Calibri"/>
              </a:defRPr>
            </a:pPr>
            <a:r>
              <a:rPr dirty="0"/>
              <a:t>  - Face structure patterns</a:t>
            </a:r>
            <a:endParaRPr lang="en-US" dirty="0"/>
          </a:p>
          <a:p>
            <a:pPr marL="0" indent="0">
              <a:buNone/>
              <a:defRPr sz="1800">
                <a:latin typeface="Calibri"/>
              </a:defRPr>
            </a:pPr>
            <a:endParaRPr dirty="0"/>
          </a:p>
          <a:p>
            <a:pPr marL="0" indent="0">
              <a:buNone/>
              <a:defRPr sz="1800">
                <a:latin typeface="Calibri"/>
              </a:defRPr>
            </a:pPr>
            <a:r>
              <a:rPr lang="en-US" dirty="0"/>
              <a:t>Result</a:t>
            </a:r>
            <a:r>
              <a:rPr dirty="0"/>
              <a:t>:</a:t>
            </a:r>
          </a:p>
          <a:p>
            <a:pPr marL="0" indent="0">
              <a:buNone/>
              <a:defRPr sz="1800">
                <a:latin typeface="Calibri"/>
              </a:defRPr>
            </a:pPr>
            <a:r>
              <a:rPr dirty="0"/>
              <a:t>• </a:t>
            </a:r>
            <a:r>
              <a:rPr lang="en-US" dirty="0"/>
              <a:t>Recognize faces in new photos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Real-world Example: Recommendation Systems</a:t>
            </a:r>
          </a:p>
        </p:txBody>
      </p:sp>
      <p:sp>
        <p:nvSpPr>
          <p:cNvPr id="3" name="Content Placeholder 2"/>
          <p:cNvSpPr>
            <a:spLocks noGrp="1"/>
          </p:cNvSpPr>
          <p:nvPr>
            <p:ph idx="1"/>
          </p:nvPr>
        </p:nvSpPr>
        <p:spPr/>
        <p:txBody>
          <a:bodyPr wrap="square">
            <a:normAutofit fontScale="92500" lnSpcReduction="20000"/>
          </a:bodyPr>
          <a:lstStyle/>
          <a:p>
            <a:pPr marL="0" indent="0">
              <a:buNone/>
              <a:defRPr sz="1800">
                <a:latin typeface="Calibri"/>
              </a:defRPr>
            </a:pPr>
            <a:r>
              <a:rPr dirty="0"/>
              <a:t>Netflix &amp; YouTube:</a:t>
            </a:r>
          </a:p>
          <a:p>
            <a:pPr marL="0" indent="0">
              <a:buNone/>
              <a:defRPr sz="1800">
                <a:latin typeface="Calibri"/>
              </a:defRPr>
            </a:pPr>
            <a:r>
              <a:rPr dirty="0"/>
              <a:t>• Problem: Too many videos to choose from</a:t>
            </a:r>
          </a:p>
          <a:p>
            <a:pPr marL="0" indent="0">
              <a:buNone/>
              <a:defRPr sz="1800">
                <a:latin typeface="Calibri"/>
              </a:defRPr>
            </a:pPr>
            <a:r>
              <a:rPr dirty="0"/>
              <a:t>• Solution: Recommend what you might like</a:t>
            </a:r>
          </a:p>
          <a:p>
            <a:pPr marL="0" indent="0">
              <a:buNone/>
              <a:defRPr sz="1800">
                <a:latin typeface="Calibri"/>
              </a:defRPr>
            </a:pPr>
            <a:endParaRPr dirty="0"/>
          </a:p>
          <a:p>
            <a:pPr marL="0" indent="0">
              <a:buNone/>
              <a:defRPr sz="1800">
                <a:latin typeface="Calibri"/>
              </a:defRPr>
            </a:pPr>
            <a:r>
              <a:rPr dirty="0"/>
              <a:t>How it works:</a:t>
            </a:r>
          </a:p>
          <a:p>
            <a:pPr marL="0" indent="0">
              <a:buNone/>
              <a:defRPr sz="1800">
                <a:latin typeface="Calibri"/>
              </a:defRPr>
            </a:pPr>
            <a:r>
              <a:rPr dirty="0"/>
              <a:t>• Track what you watch</a:t>
            </a:r>
          </a:p>
          <a:p>
            <a:pPr marL="0" indent="0">
              <a:buNone/>
              <a:defRPr sz="1800">
                <a:latin typeface="Calibri"/>
              </a:defRPr>
            </a:pPr>
            <a:r>
              <a:rPr dirty="0"/>
              <a:t>• Find users with similar tastes</a:t>
            </a:r>
          </a:p>
          <a:p>
            <a:pPr marL="0" indent="0">
              <a:buNone/>
              <a:defRPr sz="1800">
                <a:latin typeface="Calibri"/>
              </a:defRPr>
            </a:pPr>
            <a:r>
              <a:rPr dirty="0"/>
              <a:t>• Recommend what they liked</a:t>
            </a:r>
          </a:p>
          <a:p>
            <a:pPr>
              <a:defRPr sz="1800">
                <a:latin typeface="Calibri"/>
              </a:defRPr>
            </a:pPr>
            <a:endParaRPr dirty="0"/>
          </a:p>
          <a:p>
            <a:pPr marL="0" indent="0">
              <a:buNone/>
              <a:defRPr sz="1800">
                <a:latin typeface="Calibri"/>
              </a:defRPr>
            </a:pPr>
            <a:r>
              <a:rPr dirty="0"/>
              <a:t>Example:</a:t>
            </a:r>
          </a:p>
          <a:p>
            <a:pPr marL="0" indent="0">
              <a:buNone/>
              <a:defRPr sz="1800">
                <a:latin typeface="Calibri"/>
              </a:defRPr>
            </a:pPr>
            <a:r>
              <a:rPr dirty="0"/>
              <a:t>• You watched: Action movies</a:t>
            </a:r>
          </a:p>
          <a:p>
            <a:pPr marL="0" indent="0">
              <a:buNone/>
              <a:defRPr sz="1800">
                <a:latin typeface="Calibri"/>
              </a:defRPr>
            </a:pPr>
            <a:r>
              <a:rPr dirty="0"/>
              <a:t>• Similar users also watched: Sci-fi</a:t>
            </a:r>
          </a:p>
          <a:p>
            <a:pPr marL="0" indent="0">
              <a:buNone/>
              <a:defRPr sz="1800">
                <a:latin typeface="Calibri"/>
              </a:defRPr>
            </a:pPr>
            <a:r>
              <a:rPr dirty="0"/>
              <a:t>• Recommendation: Try 'Interstellar'</a:t>
            </a:r>
          </a:p>
          <a:p>
            <a:pPr>
              <a:defRPr sz="1800">
                <a:latin typeface="Calibri"/>
              </a:defRPr>
            </a:pPr>
            <a:endParaRPr dirty="0"/>
          </a:p>
          <a:p>
            <a:pPr marL="0" indent="0">
              <a:buNone/>
              <a:defRPr sz="1800">
                <a:latin typeface="Calibri"/>
              </a:defRPr>
            </a:pPr>
            <a:r>
              <a:rPr dirty="0"/>
              <a:t>Result:</a:t>
            </a:r>
          </a:p>
          <a:p>
            <a:pPr marL="0" indent="0">
              <a:buNone/>
              <a:defRPr sz="1800">
                <a:latin typeface="Calibri"/>
              </a:defRPr>
            </a:pPr>
            <a:r>
              <a:rPr dirty="0"/>
              <a:t>• 80% of Netflix views come from recommendations</a:t>
            </a:r>
          </a:p>
          <a:p>
            <a:pPr marL="0" indent="0">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Machine Learning Workflow</a:t>
            </a:r>
          </a:p>
        </p:txBody>
      </p:sp>
      <p:sp>
        <p:nvSpPr>
          <p:cNvPr id="3" name="Content Placeholder 2"/>
          <p:cNvSpPr>
            <a:spLocks noGrp="1"/>
          </p:cNvSpPr>
          <p:nvPr>
            <p:ph idx="1"/>
          </p:nvPr>
        </p:nvSpPr>
        <p:spPr/>
        <p:txBody>
          <a:bodyPr wrap="square">
            <a:normAutofit fontScale="85000" lnSpcReduction="20000"/>
          </a:bodyPr>
          <a:lstStyle/>
          <a:p>
            <a:pPr marL="0" indent="0">
              <a:buNone/>
              <a:defRPr sz="1800">
                <a:latin typeface="Calibri"/>
              </a:defRPr>
            </a:pPr>
            <a:r>
              <a:rPr dirty="0"/>
              <a:t>1. Data Collection</a:t>
            </a:r>
          </a:p>
          <a:p>
            <a:pPr marL="0" indent="0">
              <a:buNone/>
              <a:defRPr sz="1800">
                <a:latin typeface="Calibri"/>
              </a:defRPr>
            </a:pPr>
            <a:r>
              <a:rPr dirty="0"/>
              <a:t>   • Gather examples (photos, text, numbers)</a:t>
            </a:r>
          </a:p>
          <a:p>
            <a:pPr marL="0" indent="0">
              <a:buNone/>
              <a:defRPr sz="1800">
                <a:latin typeface="Calibri"/>
              </a:defRPr>
            </a:pPr>
            <a:endParaRPr dirty="0"/>
          </a:p>
          <a:p>
            <a:pPr marL="0" indent="0">
              <a:buNone/>
              <a:defRPr sz="1800">
                <a:latin typeface="Calibri"/>
              </a:defRPr>
            </a:pPr>
            <a:r>
              <a:rPr dirty="0"/>
              <a:t>2. Data Preprocessing</a:t>
            </a:r>
          </a:p>
          <a:p>
            <a:pPr marL="0" indent="0">
              <a:buNone/>
              <a:defRPr sz="1800">
                <a:latin typeface="Calibri"/>
              </a:defRPr>
            </a:pPr>
            <a:r>
              <a:rPr dirty="0"/>
              <a:t>   • Clean and organize data</a:t>
            </a:r>
          </a:p>
          <a:p>
            <a:pPr marL="0" indent="0">
              <a:buNone/>
              <a:defRPr sz="1800">
                <a:latin typeface="Calibri"/>
              </a:defRPr>
            </a:pPr>
            <a:r>
              <a:rPr dirty="0"/>
              <a:t>   • Remove errors and duplicates</a:t>
            </a:r>
          </a:p>
          <a:p>
            <a:pPr>
              <a:defRPr sz="1800">
                <a:latin typeface="Calibri"/>
              </a:defRPr>
            </a:pPr>
            <a:endParaRPr dirty="0"/>
          </a:p>
          <a:p>
            <a:pPr marL="0" indent="0">
              <a:buNone/>
              <a:defRPr sz="1800">
                <a:latin typeface="Calibri"/>
              </a:defRPr>
            </a:pPr>
            <a:r>
              <a:rPr dirty="0"/>
              <a:t>3. Feature Extraction</a:t>
            </a:r>
          </a:p>
          <a:p>
            <a:pPr marL="0" indent="0">
              <a:buNone/>
              <a:defRPr sz="1800">
                <a:latin typeface="Calibri"/>
              </a:defRPr>
            </a:pPr>
            <a:r>
              <a:rPr dirty="0"/>
              <a:t>   • Convert raw data into features</a:t>
            </a:r>
          </a:p>
          <a:p>
            <a:pPr>
              <a:defRPr sz="1800">
                <a:latin typeface="Calibri"/>
              </a:defRPr>
            </a:pPr>
            <a:endParaRPr dirty="0"/>
          </a:p>
          <a:p>
            <a:pPr marL="0" indent="0">
              <a:buNone/>
              <a:defRPr sz="1800">
                <a:latin typeface="Calibri"/>
              </a:defRPr>
            </a:pPr>
            <a:r>
              <a:rPr dirty="0"/>
              <a:t>4. Model Training</a:t>
            </a:r>
          </a:p>
          <a:p>
            <a:pPr marL="0" indent="0">
              <a:buNone/>
              <a:defRPr sz="1800">
                <a:latin typeface="Calibri"/>
              </a:defRPr>
            </a:pPr>
            <a:r>
              <a:rPr dirty="0"/>
              <a:t>   • Teach the model using data</a:t>
            </a:r>
          </a:p>
          <a:p>
            <a:pPr marL="0" indent="0">
              <a:buNone/>
              <a:defRPr sz="1800">
                <a:latin typeface="Calibri"/>
              </a:defRPr>
            </a:pPr>
            <a:endParaRPr dirty="0"/>
          </a:p>
          <a:p>
            <a:pPr marL="0" indent="0">
              <a:buNone/>
              <a:defRPr sz="1800">
                <a:latin typeface="Calibri"/>
              </a:defRPr>
            </a:pPr>
            <a:r>
              <a:rPr dirty="0"/>
              <a:t>5. Evaluation</a:t>
            </a:r>
          </a:p>
          <a:p>
            <a:pPr marL="0" indent="0">
              <a:buNone/>
              <a:defRPr sz="1800">
                <a:latin typeface="Calibri"/>
              </a:defRPr>
            </a:pPr>
            <a:r>
              <a:rPr dirty="0"/>
              <a:t>   • Test on new data</a:t>
            </a:r>
          </a:p>
          <a:p>
            <a:pPr marL="0" indent="0">
              <a:buNone/>
              <a:defRPr sz="1800">
                <a:latin typeface="Calibri"/>
              </a:defRPr>
            </a:pPr>
            <a:r>
              <a:rPr dirty="0"/>
              <a:t>   • Measure accuracy</a:t>
            </a:r>
          </a:p>
          <a:p>
            <a:pPr marL="0" indent="0">
              <a:buNone/>
              <a:defRPr sz="1800">
                <a:latin typeface="Calibri"/>
              </a:defRPr>
            </a:pPr>
            <a:endParaRPr dirty="0"/>
          </a:p>
          <a:p>
            <a:pPr marL="0" indent="0">
              <a:buNone/>
              <a:defRPr sz="1800">
                <a:latin typeface="Calibri"/>
              </a:defRPr>
            </a:pPr>
            <a:r>
              <a:rPr dirty="0"/>
              <a:t>6. Prediction</a:t>
            </a:r>
          </a:p>
          <a:p>
            <a:pPr marL="0" indent="0">
              <a:buNone/>
              <a:defRPr sz="1800">
                <a:latin typeface="Calibri"/>
              </a:defRPr>
            </a:pPr>
            <a:r>
              <a:rPr dirty="0"/>
              <a:t>   • Use model for real predictions</a:t>
            </a:r>
          </a:p>
          <a:p>
            <a:pPr marL="0" indent="0">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Common Machine Learning Applications</a:t>
            </a:r>
          </a:p>
        </p:txBody>
      </p:sp>
      <p:sp>
        <p:nvSpPr>
          <p:cNvPr id="3" name="Content Placeholder 2"/>
          <p:cNvSpPr>
            <a:spLocks noGrp="1"/>
          </p:cNvSpPr>
          <p:nvPr>
            <p:ph idx="1"/>
          </p:nvPr>
        </p:nvSpPr>
        <p:spPr/>
        <p:txBody>
          <a:bodyPr wrap="square">
            <a:normAutofit fontScale="92500" lnSpcReduction="20000"/>
          </a:bodyPr>
          <a:lstStyle/>
          <a:p>
            <a:pPr marL="0" indent="0">
              <a:buNone/>
              <a:defRPr sz="1800">
                <a:latin typeface="Calibri"/>
              </a:defRPr>
            </a:pPr>
            <a:r>
              <a:rPr dirty="0"/>
              <a:t>In Daily Life:</a:t>
            </a:r>
          </a:p>
          <a:p>
            <a:pPr marL="0" indent="0">
              <a:buNone/>
              <a:defRPr sz="1800">
                <a:latin typeface="Calibri"/>
              </a:defRPr>
            </a:pPr>
            <a:r>
              <a:rPr dirty="0"/>
              <a:t>• Virtual assistants (Siri, Alexa)</a:t>
            </a:r>
          </a:p>
          <a:p>
            <a:pPr marL="0" indent="0">
              <a:buNone/>
              <a:defRPr sz="1800">
                <a:latin typeface="Calibri"/>
              </a:defRPr>
            </a:pPr>
            <a:r>
              <a:rPr dirty="0"/>
              <a:t>• Social media feeds (Facebook, Instagram)</a:t>
            </a:r>
          </a:p>
          <a:p>
            <a:pPr marL="0" indent="0">
              <a:buNone/>
              <a:defRPr sz="1800">
                <a:latin typeface="Calibri"/>
              </a:defRPr>
            </a:pPr>
            <a:r>
              <a:rPr dirty="0"/>
              <a:t>• Online shopping (Amazon recommendations)</a:t>
            </a:r>
          </a:p>
          <a:p>
            <a:pPr marL="0" indent="0">
              <a:buNone/>
              <a:defRPr sz="1800">
                <a:latin typeface="Calibri"/>
              </a:defRPr>
            </a:pPr>
            <a:r>
              <a:rPr dirty="0"/>
              <a:t>• Navigation (Google Maps route optimization)</a:t>
            </a:r>
          </a:p>
          <a:p>
            <a:pPr>
              <a:defRPr sz="1800">
                <a:latin typeface="Calibri"/>
              </a:defRPr>
            </a:pPr>
            <a:endParaRPr dirty="0"/>
          </a:p>
          <a:p>
            <a:pPr marL="0" indent="0">
              <a:buNone/>
              <a:defRPr sz="1800">
                <a:latin typeface="Calibri"/>
              </a:defRPr>
            </a:pPr>
            <a:r>
              <a:rPr dirty="0"/>
              <a:t>In Industry:</a:t>
            </a:r>
          </a:p>
          <a:p>
            <a:pPr marL="0" indent="0">
              <a:buNone/>
              <a:defRPr sz="1800">
                <a:latin typeface="Calibri"/>
              </a:defRPr>
            </a:pPr>
            <a:r>
              <a:rPr dirty="0"/>
              <a:t>• Healthcare: Disease diagnosis</a:t>
            </a:r>
          </a:p>
          <a:p>
            <a:pPr marL="0" indent="0">
              <a:buNone/>
              <a:defRPr sz="1800">
                <a:latin typeface="Calibri"/>
              </a:defRPr>
            </a:pPr>
            <a:r>
              <a:rPr dirty="0"/>
              <a:t>• Finance: Fraud detection</a:t>
            </a:r>
          </a:p>
          <a:p>
            <a:pPr marL="0" indent="0">
              <a:buNone/>
              <a:defRPr sz="1800">
                <a:latin typeface="Calibri"/>
              </a:defRPr>
            </a:pPr>
            <a:r>
              <a:rPr dirty="0"/>
              <a:t>• Transportation: Self-driving cars</a:t>
            </a:r>
          </a:p>
          <a:p>
            <a:pPr marL="0" indent="0">
              <a:buNone/>
              <a:defRPr sz="1800">
                <a:latin typeface="Calibri"/>
              </a:defRPr>
            </a:pPr>
            <a:r>
              <a:rPr dirty="0"/>
              <a:t>• Education: Personalized learning</a:t>
            </a:r>
          </a:p>
          <a:p>
            <a:pPr>
              <a:defRPr sz="1800">
                <a:latin typeface="Calibri"/>
              </a:defRPr>
            </a:pPr>
            <a:endParaRPr dirty="0"/>
          </a:p>
          <a:p>
            <a:pPr marL="0" indent="0">
              <a:buNone/>
              <a:defRPr sz="1800">
                <a:latin typeface="Calibri"/>
              </a:defRPr>
            </a:pPr>
            <a:r>
              <a:rPr dirty="0"/>
              <a:t>In Research:</a:t>
            </a:r>
          </a:p>
          <a:p>
            <a:pPr marL="0" indent="0">
              <a:buNone/>
              <a:defRPr sz="1800">
                <a:latin typeface="Calibri"/>
              </a:defRPr>
            </a:pPr>
            <a:r>
              <a:rPr dirty="0"/>
              <a:t>• Drug discovery</a:t>
            </a:r>
          </a:p>
          <a:p>
            <a:pPr marL="0" indent="0">
              <a:buNone/>
              <a:defRPr sz="1800">
                <a:latin typeface="Calibri"/>
              </a:defRPr>
            </a:pPr>
            <a:r>
              <a:rPr dirty="0"/>
              <a:t>• Climate prediction</a:t>
            </a:r>
          </a:p>
          <a:p>
            <a:pPr marL="0" indent="0">
              <a:buNone/>
              <a:defRPr sz="1800">
                <a:latin typeface="Calibri"/>
              </a:defRPr>
            </a:pPr>
            <a:r>
              <a:rPr dirty="0"/>
              <a:t>• Language translation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Key Takeaways</a:t>
            </a:r>
          </a:p>
        </p:txBody>
      </p:sp>
      <p:sp>
        <p:nvSpPr>
          <p:cNvPr id="3" name="Content Placeholder 2"/>
          <p:cNvSpPr>
            <a:spLocks noGrp="1"/>
          </p:cNvSpPr>
          <p:nvPr>
            <p:ph idx="1"/>
          </p:nvPr>
        </p:nvSpPr>
        <p:spPr/>
        <p:txBody>
          <a:bodyPr wrap="square">
            <a:normAutofit/>
          </a:bodyPr>
          <a:lstStyle/>
          <a:p>
            <a:pPr marL="0" indent="0">
              <a:buNone/>
              <a:defRPr sz="1800">
                <a:latin typeface="Calibri"/>
              </a:defRPr>
            </a:pPr>
            <a:r>
              <a:rPr dirty="0"/>
              <a:t>What we learned:</a:t>
            </a:r>
          </a:p>
          <a:p>
            <a:pPr>
              <a:defRPr sz="1800">
                <a:latin typeface="Calibri"/>
              </a:defRPr>
            </a:pPr>
            <a:endParaRPr dirty="0"/>
          </a:p>
          <a:p>
            <a:pPr marL="0" indent="0">
              <a:buNone/>
              <a:defRPr sz="1800">
                <a:latin typeface="Calibri"/>
              </a:defRPr>
            </a:pPr>
            <a:r>
              <a:rPr dirty="0"/>
              <a:t>✓ Machine Learning = Learning from data</a:t>
            </a:r>
          </a:p>
          <a:p>
            <a:pPr marL="0" indent="0">
              <a:buNone/>
              <a:defRPr sz="1800">
                <a:latin typeface="Calibri"/>
              </a:defRPr>
            </a:pPr>
            <a:r>
              <a:rPr dirty="0"/>
              <a:t>✓ Three types: Supervised, Unsupervised, Reinforcement</a:t>
            </a:r>
          </a:p>
          <a:p>
            <a:pPr marL="0" indent="0">
              <a:buNone/>
              <a:defRPr sz="1800">
                <a:latin typeface="Calibri"/>
              </a:defRPr>
            </a:pPr>
            <a:r>
              <a:rPr dirty="0"/>
              <a:t>✓ Used everywhere: Email, photos, recommendations</a:t>
            </a:r>
          </a:p>
          <a:p>
            <a:pPr marL="0" indent="0">
              <a:buNone/>
              <a:defRPr sz="1800">
                <a:latin typeface="Calibri"/>
              </a:defRPr>
            </a:pPr>
            <a:r>
              <a:rPr dirty="0"/>
              <a:t>✓ Workflow: Data → Features → Model → Prediction</a:t>
            </a:r>
          </a:p>
          <a:p>
            <a:pPr>
              <a:defRPr sz="1800">
                <a:latin typeface="Calibri"/>
              </a:defRPr>
            </a:pPr>
            <a:endParaRPr dirty="0"/>
          </a:p>
          <a:p>
            <a:pPr marL="0" indent="0">
              <a:buNone/>
              <a:defRPr sz="1800">
                <a:latin typeface="Calibri"/>
              </a:defRPr>
            </a:pPr>
            <a:r>
              <a:rPr dirty="0"/>
              <a:t>Next:</a:t>
            </a:r>
          </a:p>
          <a:p>
            <a:pPr marL="0" indent="0">
              <a:buNone/>
              <a:defRPr sz="1800">
                <a:latin typeface="Calibri"/>
              </a:defRPr>
            </a:pPr>
            <a:r>
              <a:rPr dirty="0"/>
              <a:t>→ How to extract features from data</a:t>
            </a:r>
          </a:p>
          <a:p>
            <a:pPr marL="0" indent="0">
              <a:buNone/>
              <a:defRPr sz="1800">
                <a:latin typeface="Calibri"/>
              </a:defRPr>
            </a:pPr>
            <a:r>
              <a:rPr dirty="0"/>
              <a:t>→ How classification works</a:t>
            </a:r>
          </a:p>
          <a:p>
            <a:pPr marL="0" indent="0">
              <a:buNone/>
              <a:defRPr sz="1800">
                <a:latin typeface="Calibri"/>
              </a:defRPr>
            </a:pPr>
            <a:r>
              <a:rPr dirty="0"/>
              <a:t>→ Practical examples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8542" y="2437735"/>
            <a:ext cx="8229600" cy="1143000"/>
          </a:xfrm>
        </p:spPr>
        <p:txBody>
          <a:bodyPr>
            <a:normAutofit/>
          </a:bodyPr>
          <a:lstStyle/>
          <a:p>
            <a:r>
              <a:rPr sz="3600" dirty="0"/>
              <a:t>Feature Extraction &amp; Classification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What is Data?</a:t>
            </a:r>
          </a:p>
        </p:txBody>
      </p:sp>
      <p:sp>
        <p:nvSpPr>
          <p:cNvPr id="3" name="Content Placeholder 2"/>
          <p:cNvSpPr>
            <a:spLocks noGrp="1"/>
          </p:cNvSpPr>
          <p:nvPr>
            <p:ph idx="1"/>
          </p:nvPr>
        </p:nvSpPr>
        <p:spPr/>
        <p:txBody>
          <a:bodyPr wrap="square">
            <a:noAutofit/>
          </a:bodyPr>
          <a:lstStyle/>
          <a:p>
            <a:pPr marL="0" indent="0">
              <a:buNone/>
              <a:defRPr sz="1800">
                <a:latin typeface="Calibri"/>
              </a:defRPr>
            </a:pPr>
            <a:r>
              <a:rPr lang="en-US" sz="1800" dirty="0"/>
              <a:t>Data is </a:t>
            </a:r>
            <a:r>
              <a:rPr lang="en-US" sz="1800" b="1" dirty="0"/>
              <a:t>anything that we can record, store, or analyze.</a:t>
            </a:r>
            <a:endParaRPr sz="1800" dirty="0"/>
          </a:p>
          <a:p>
            <a:pPr marL="0" indent="0">
              <a:buNone/>
              <a:defRPr sz="1800">
                <a:latin typeface="Calibri"/>
              </a:defRPr>
            </a:pPr>
            <a:endParaRPr lang="en-US" sz="1800" dirty="0"/>
          </a:p>
          <a:p>
            <a:pPr marL="0" indent="0">
              <a:buNone/>
              <a:defRPr sz="1800">
                <a:latin typeface="Calibri"/>
              </a:defRPr>
            </a:pPr>
            <a:r>
              <a:rPr sz="1800" dirty="0"/>
              <a:t>1. Images</a:t>
            </a:r>
          </a:p>
          <a:p>
            <a:pPr marL="0" indent="0">
              <a:buNone/>
              <a:defRPr sz="1800">
                <a:latin typeface="Calibri"/>
              </a:defRPr>
            </a:pPr>
            <a:r>
              <a:rPr sz="1800" dirty="0"/>
              <a:t>   • Photos, drawings, screenshots</a:t>
            </a:r>
          </a:p>
          <a:p>
            <a:pPr marL="0" indent="0">
              <a:buNone/>
              <a:defRPr sz="1800">
                <a:latin typeface="Calibri"/>
              </a:defRPr>
            </a:pPr>
            <a:r>
              <a:rPr sz="1800" dirty="0"/>
              <a:t>   • Example: Cat photo, student ID card</a:t>
            </a:r>
            <a:endParaRPr lang="en-US" sz="1800" dirty="0"/>
          </a:p>
          <a:p>
            <a:pPr marL="0" indent="0">
              <a:buNone/>
              <a:defRPr sz="1800">
                <a:latin typeface="Calibri"/>
              </a:defRPr>
            </a:pPr>
            <a:r>
              <a:rPr sz="1800" dirty="0"/>
              <a:t>2. Text</a:t>
            </a:r>
          </a:p>
          <a:p>
            <a:pPr marL="0" indent="0">
              <a:buNone/>
              <a:defRPr sz="1800">
                <a:latin typeface="Calibri"/>
              </a:defRPr>
            </a:pPr>
            <a:r>
              <a:rPr sz="1800" dirty="0"/>
              <a:t>   • Emails, articles, messages</a:t>
            </a:r>
          </a:p>
          <a:p>
            <a:pPr marL="0" indent="0">
              <a:buNone/>
              <a:defRPr sz="1800">
                <a:latin typeface="Calibri"/>
              </a:defRPr>
            </a:pPr>
            <a:r>
              <a:rPr sz="1800" dirty="0"/>
              <a:t>   • Example: 'This is a great course!'</a:t>
            </a:r>
          </a:p>
          <a:p>
            <a:pPr marL="0" indent="0">
              <a:buNone/>
              <a:defRPr sz="1800">
                <a:latin typeface="Calibri"/>
              </a:defRPr>
            </a:pPr>
            <a:r>
              <a:rPr sz="1800" dirty="0"/>
              <a:t>3. Numbers</a:t>
            </a:r>
          </a:p>
          <a:p>
            <a:pPr marL="0" indent="0">
              <a:buNone/>
              <a:defRPr sz="1800">
                <a:latin typeface="Calibri"/>
              </a:defRPr>
            </a:pPr>
            <a:r>
              <a:rPr sz="1800" dirty="0"/>
              <a:t>   • Measurements, scores, prices</a:t>
            </a:r>
          </a:p>
          <a:p>
            <a:pPr marL="0" indent="0">
              <a:buNone/>
              <a:defRPr sz="1800">
                <a:latin typeface="Calibri"/>
              </a:defRPr>
            </a:pPr>
            <a:r>
              <a:rPr sz="1800" dirty="0"/>
              <a:t>   • Example: Student grades, temperature</a:t>
            </a:r>
          </a:p>
          <a:p>
            <a:pPr marL="0" indent="0">
              <a:buNone/>
              <a:defRPr sz="1800">
                <a:latin typeface="Calibri"/>
              </a:defRPr>
            </a:pPr>
            <a:r>
              <a:rPr sz="1800" dirty="0"/>
              <a:t>4. Mixed</a:t>
            </a:r>
          </a:p>
          <a:p>
            <a:pPr marL="0" indent="0">
              <a:buNone/>
              <a:defRPr sz="1800">
                <a:latin typeface="Calibri"/>
              </a:defRPr>
            </a:pPr>
            <a:r>
              <a:rPr sz="1800" dirty="0"/>
              <a:t>   • Combination of above</a:t>
            </a:r>
          </a:p>
          <a:p>
            <a:pPr marL="0" indent="0">
              <a:buNone/>
              <a:defRPr sz="1800">
                <a:latin typeface="Calibri"/>
              </a:defRPr>
            </a:pPr>
            <a:r>
              <a:rPr sz="1800" dirty="0"/>
              <a:t>   • Example: Student profile (name, photo, grades)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What are Features?</a:t>
            </a:r>
          </a:p>
        </p:txBody>
      </p:sp>
      <p:sp>
        <p:nvSpPr>
          <p:cNvPr id="3" name="Content Placeholder 2"/>
          <p:cNvSpPr>
            <a:spLocks noGrp="1"/>
          </p:cNvSpPr>
          <p:nvPr>
            <p:ph idx="1"/>
          </p:nvPr>
        </p:nvSpPr>
        <p:spPr/>
        <p:txBody>
          <a:bodyPr wrap="square">
            <a:normAutofit fontScale="85000" lnSpcReduction="20000"/>
          </a:bodyPr>
          <a:lstStyle/>
          <a:p>
            <a:pPr marL="0" indent="0">
              <a:buNone/>
              <a:defRPr sz="1800">
                <a:latin typeface="Calibri"/>
              </a:defRPr>
            </a:pPr>
            <a:r>
              <a:rPr b="1" dirty="0"/>
              <a:t>Features = Characteristics that describe data</a:t>
            </a:r>
          </a:p>
          <a:p>
            <a:pPr>
              <a:defRPr sz="1800">
                <a:latin typeface="Calibri"/>
              </a:defRPr>
            </a:pPr>
            <a:endParaRPr dirty="0"/>
          </a:p>
          <a:p>
            <a:pPr marL="0" indent="0">
              <a:buNone/>
              <a:defRPr sz="1800">
                <a:latin typeface="Calibri"/>
              </a:defRPr>
            </a:pPr>
            <a:r>
              <a:rPr dirty="0"/>
              <a:t>Simple analogy:</a:t>
            </a:r>
          </a:p>
          <a:p>
            <a:pPr marL="0" indent="0">
              <a:buNone/>
              <a:defRPr sz="1800">
                <a:latin typeface="Calibri"/>
              </a:defRPr>
            </a:pPr>
            <a:r>
              <a:rPr dirty="0"/>
              <a:t>• Describing a student:</a:t>
            </a:r>
          </a:p>
          <a:p>
            <a:pPr marL="0" indent="0">
              <a:buNone/>
              <a:defRPr sz="1800">
                <a:latin typeface="Calibri"/>
              </a:defRPr>
            </a:pPr>
            <a:r>
              <a:rPr dirty="0"/>
              <a:t>  - Height (number)</a:t>
            </a:r>
          </a:p>
          <a:p>
            <a:pPr marL="0" indent="0">
              <a:buNone/>
              <a:defRPr sz="1800">
                <a:latin typeface="Calibri"/>
              </a:defRPr>
            </a:pPr>
            <a:r>
              <a:rPr dirty="0"/>
              <a:t>  - Hair color (category)</a:t>
            </a:r>
          </a:p>
          <a:p>
            <a:pPr marL="0" indent="0">
              <a:buNone/>
              <a:defRPr sz="1800">
                <a:latin typeface="Calibri"/>
              </a:defRPr>
            </a:pPr>
            <a:r>
              <a:rPr dirty="0"/>
              <a:t>  - Grade average (number)</a:t>
            </a:r>
          </a:p>
          <a:p>
            <a:pPr>
              <a:defRPr sz="1800">
                <a:latin typeface="Calibri"/>
              </a:defRPr>
            </a:pPr>
            <a:endParaRPr dirty="0"/>
          </a:p>
          <a:p>
            <a:pPr marL="0" indent="0">
              <a:buNone/>
              <a:defRPr sz="1800">
                <a:latin typeface="Calibri"/>
              </a:defRPr>
            </a:pPr>
            <a:r>
              <a:rPr dirty="0"/>
              <a:t>In ML:</a:t>
            </a:r>
          </a:p>
          <a:p>
            <a:pPr marL="0" indent="0">
              <a:buNone/>
              <a:defRPr sz="1800">
                <a:latin typeface="Calibri"/>
              </a:defRPr>
            </a:pPr>
            <a:r>
              <a:rPr dirty="0"/>
              <a:t>• Features help the model understand data</a:t>
            </a:r>
          </a:p>
          <a:p>
            <a:pPr marL="0" indent="0">
              <a:buNone/>
              <a:defRPr sz="1800">
                <a:latin typeface="Calibri"/>
              </a:defRPr>
            </a:pPr>
            <a:r>
              <a:rPr dirty="0"/>
              <a:t>• Good features = Better predictions</a:t>
            </a:r>
          </a:p>
          <a:p>
            <a:pPr>
              <a:defRPr sz="1800">
                <a:latin typeface="Calibri"/>
              </a:defRPr>
            </a:pPr>
            <a:endParaRPr dirty="0"/>
          </a:p>
          <a:p>
            <a:pPr marL="0" indent="0">
              <a:buNone/>
              <a:defRPr sz="1800">
                <a:latin typeface="Calibri"/>
              </a:defRPr>
            </a:pPr>
            <a:r>
              <a:rPr dirty="0"/>
              <a:t>Example - Image of a cat:</a:t>
            </a:r>
          </a:p>
          <a:p>
            <a:pPr marL="0" indent="0">
              <a:buNone/>
              <a:defRPr sz="1800">
                <a:latin typeface="Calibri"/>
              </a:defRPr>
            </a:pPr>
            <a:r>
              <a:rPr dirty="0"/>
              <a:t>• Raw: Millions of pixels</a:t>
            </a:r>
          </a:p>
          <a:p>
            <a:pPr marL="0" indent="0">
              <a:buNone/>
              <a:defRPr sz="1800">
                <a:latin typeface="Calibri"/>
              </a:defRPr>
            </a:pPr>
            <a:r>
              <a:rPr dirty="0"/>
              <a:t>• Features:</a:t>
            </a:r>
          </a:p>
          <a:p>
            <a:pPr marL="0" indent="0">
              <a:buNone/>
              <a:defRPr sz="1800">
                <a:latin typeface="Calibri"/>
              </a:defRPr>
            </a:pPr>
            <a:r>
              <a:rPr dirty="0"/>
              <a:t>  - Has pointy ears? (Yes/No)</a:t>
            </a:r>
          </a:p>
          <a:p>
            <a:pPr marL="0" indent="0">
              <a:buNone/>
              <a:defRPr sz="1800">
                <a:latin typeface="Calibri"/>
              </a:defRPr>
            </a:pPr>
            <a:r>
              <a:rPr dirty="0"/>
              <a:t>  - Has whiskers? (Yes/No)</a:t>
            </a:r>
          </a:p>
          <a:p>
            <a:pPr marL="0" indent="0">
              <a:buNone/>
              <a:defRPr sz="1800">
                <a:latin typeface="Calibri"/>
              </a:defRPr>
            </a:pPr>
            <a:r>
              <a:rPr dirty="0"/>
              <a:t>  - Color: Orange, Black, White</a:t>
            </a:r>
          </a:p>
          <a:p>
            <a:pPr marL="0" indent="0">
              <a:buNone/>
              <a:defRPr sz="1800">
                <a:latin typeface="Calibri"/>
              </a:defRPr>
            </a:pPr>
            <a:r>
              <a:rPr dirty="0"/>
              <a:t>  - Size: Small, Medium, Large</a:t>
            </a:r>
          </a:p>
        </p:txBody>
      </p:sp>
      <p:pic>
        <p:nvPicPr>
          <p:cNvPr id="6" name="Picture 5">
            <a:extLst>
              <a:ext uri="{FF2B5EF4-FFF2-40B4-BE49-F238E27FC236}">
                <a16:creationId xmlns:a16="http://schemas.microsoft.com/office/drawing/2014/main" id="{6BA4D89E-AB61-02AF-419B-675C59CA76F1}"/>
              </a:ext>
            </a:extLst>
          </p:cNvPr>
          <p:cNvPicPr>
            <a:picLocks noChangeAspect="1"/>
          </p:cNvPicPr>
          <p:nvPr/>
        </p:nvPicPr>
        <p:blipFill>
          <a:blip r:embed="rId2"/>
          <a:srcRect l="2013" t="5019" r="2196" b="8471"/>
          <a:stretch>
            <a:fillRect/>
          </a:stretch>
        </p:blipFill>
        <p:spPr>
          <a:xfrm>
            <a:off x="3917080" y="2448233"/>
            <a:ext cx="4666481" cy="280956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Why Feature Extraction is Important?</a:t>
            </a:r>
          </a:p>
        </p:txBody>
      </p:sp>
      <p:sp>
        <p:nvSpPr>
          <p:cNvPr id="3" name="Content Placeholder 2"/>
          <p:cNvSpPr>
            <a:spLocks noGrp="1"/>
          </p:cNvSpPr>
          <p:nvPr>
            <p:ph idx="1"/>
          </p:nvPr>
        </p:nvSpPr>
        <p:spPr/>
        <p:txBody>
          <a:bodyPr wrap="square">
            <a:normAutofit fontScale="85000" lnSpcReduction="20000"/>
          </a:bodyPr>
          <a:lstStyle/>
          <a:p>
            <a:pPr marL="0" indent="0">
              <a:buNone/>
              <a:defRPr sz="1800">
                <a:latin typeface="Calibri"/>
              </a:defRPr>
            </a:pPr>
            <a:r>
              <a:rPr dirty="0"/>
              <a:t>Problem with raw data:</a:t>
            </a:r>
          </a:p>
          <a:p>
            <a:pPr marL="0" indent="0">
              <a:buNone/>
              <a:defRPr sz="1800">
                <a:latin typeface="Calibri"/>
              </a:defRPr>
            </a:pPr>
            <a:r>
              <a:rPr dirty="0"/>
              <a:t>• Too much information</a:t>
            </a:r>
          </a:p>
          <a:p>
            <a:pPr marL="0" indent="0">
              <a:buNone/>
              <a:defRPr sz="1800">
                <a:latin typeface="Calibri"/>
              </a:defRPr>
            </a:pPr>
            <a:r>
              <a:rPr dirty="0"/>
              <a:t>• Irrelevant details</a:t>
            </a:r>
          </a:p>
          <a:p>
            <a:pPr marL="0" indent="0">
              <a:buNone/>
              <a:defRPr sz="1800">
                <a:latin typeface="Calibri"/>
              </a:defRPr>
            </a:pPr>
            <a:r>
              <a:rPr dirty="0"/>
              <a:t>• Hard for computer to understand</a:t>
            </a:r>
          </a:p>
          <a:p>
            <a:pPr marL="0" indent="0">
              <a:buNone/>
              <a:defRPr sz="1800">
                <a:latin typeface="Calibri"/>
              </a:defRPr>
            </a:pPr>
            <a:endParaRPr dirty="0"/>
          </a:p>
          <a:p>
            <a:pPr marL="0" indent="0">
              <a:buNone/>
              <a:defRPr sz="1800">
                <a:latin typeface="Calibri"/>
              </a:defRPr>
            </a:pPr>
            <a:r>
              <a:rPr dirty="0"/>
              <a:t>Solution - Feature extraction:</a:t>
            </a:r>
          </a:p>
          <a:p>
            <a:pPr marL="0" indent="0">
              <a:buNone/>
              <a:defRPr sz="1800">
                <a:latin typeface="Calibri"/>
              </a:defRPr>
            </a:pPr>
            <a:r>
              <a:rPr dirty="0"/>
              <a:t>• Focus on important characteristics</a:t>
            </a:r>
          </a:p>
          <a:p>
            <a:pPr marL="0" indent="0">
              <a:buNone/>
              <a:defRPr sz="1800">
                <a:latin typeface="Calibri"/>
              </a:defRPr>
            </a:pPr>
            <a:r>
              <a:rPr dirty="0"/>
              <a:t>• Reduce complexity</a:t>
            </a:r>
          </a:p>
          <a:p>
            <a:pPr marL="0" indent="0">
              <a:buNone/>
              <a:defRPr sz="1800">
                <a:latin typeface="Calibri"/>
              </a:defRPr>
            </a:pPr>
            <a:r>
              <a:rPr dirty="0"/>
              <a:t>• Make patterns easier to find</a:t>
            </a:r>
          </a:p>
          <a:p>
            <a:pPr marL="0" indent="0">
              <a:buNone/>
              <a:defRPr sz="1800">
                <a:latin typeface="Calibri"/>
              </a:defRPr>
            </a:pPr>
            <a:endParaRPr dirty="0"/>
          </a:p>
          <a:p>
            <a:pPr marL="0" indent="0">
              <a:buNone/>
              <a:defRPr sz="1800">
                <a:latin typeface="Calibri"/>
              </a:defRPr>
            </a:pPr>
            <a:r>
              <a:rPr dirty="0"/>
              <a:t>Example - Student photo:</a:t>
            </a:r>
          </a:p>
          <a:p>
            <a:pPr marL="0" indent="0">
              <a:buNone/>
              <a:defRPr sz="1800">
                <a:latin typeface="Calibri"/>
              </a:defRPr>
            </a:pPr>
            <a:r>
              <a:rPr dirty="0"/>
              <a:t>• Raw: 1000x1000 pixels = 1 million numbers</a:t>
            </a:r>
          </a:p>
          <a:p>
            <a:pPr marL="0" indent="0">
              <a:buNone/>
              <a:defRPr sz="1800">
                <a:latin typeface="Calibri"/>
              </a:defRPr>
            </a:pPr>
            <a:r>
              <a:rPr dirty="0"/>
              <a:t>• Features:</a:t>
            </a:r>
          </a:p>
          <a:p>
            <a:pPr marL="0" indent="0">
              <a:buNone/>
              <a:defRPr sz="1800">
                <a:latin typeface="Calibri"/>
              </a:defRPr>
            </a:pPr>
            <a:r>
              <a:rPr dirty="0"/>
              <a:t>  - Face shape: Round</a:t>
            </a:r>
          </a:p>
          <a:p>
            <a:pPr marL="0" indent="0">
              <a:buNone/>
              <a:defRPr sz="1800">
                <a:latin typeface="Calibri"/>
              </a:defRPr>
            </a:pPr>
            <a:r>
              <a:rPr dirty="0"/>
              <a:t>  - Eye color: Brown</a:t>
            </a:r>
          </a:p>
          <a:p>
            <a:pPr marL="0" indent="0">
              <a:buNone/>
              <a:defRPr sz="1800">
                <a:latin typeface="Calibri"/>
              </a:defRPr>
            </a:pPr>
            <a:r>
              <a:rPr dirty="0"/>
              <a:t>  - Hair: Long, Black</a:t>
            </a:r>
          </a:p>
          <a:p>
            <a:pPr marL="0" indent="0">
              <a:buNone/>
              <a:defRPr sz="1800">
                <a:latin typeface="Calibri"/>
              </a:defRPr>
            </a:pPr>
            <a:r>
              <a:rPr dirty="0"/>
              <a:t>  - Expression: Smiling</a:t>
            </a:r>
          </a:p>
          <a:p>
            <a:pPr marL="0" indent="0">
              <a:buNone/>
              <a:defRPr sz="1800">
                <a:latin typeface="Calibri"/>
              </a:defRPr>
            </a:pPr>
            <a:r>
              <a:rPr dirty="0"/>
              <a:t>• Result: Just 4-5 meaningful features!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What is Classification?</a:t>
            </a:r>
          </a:p>
        </p:txBody>
      </p:sp>
      <p:sp>
        <p:nvSpPr>
          <p:cNvPr id="3" name="Content Placeholder 2"/>
          <p:cNvSpPr>
            <a:spLocks noGrp="1"/>
          </p:cNvSpPr>
          <p:nvPr>
            <p:ph idx="1"/>
          </p:nvPr>
        </p:nvSpPr>
        <p:spPr/>
        <p:txBody>
          <a:bodyPr wrap="square">
            <a:normAutofit fontScale="70000" lnSpcReduction="20000"/>
          </a:bodyPr>
          <a:lstStyle/>
          <a:p>
            <a:pPr marL="0" indent="0">
              <a:buNone/>
              <a:defRPr sz="1800">
                <a:latin typeface="Calibri"/>
              </a:defRPr>
            </a:pPr>
            <a:r>
              <a:rPr b="1" dirty="0"/>
              <a:t>Classification = Putting data into categories</a:t>
            </a:r>
          </a:p>
          <a:p>
            <a:pPr>
              <a:defRPr sz="1800">
                <a:latin typeface="Calibri"/>
              </a:defRPr>
            </a:pPr>
            <a:endParaRPr dirty="0"/>
          </a:p>
          <a:p>
            <a:pPr marL="0" indent="0">
              <a:buNone/>
              <a:defRPr sz="1800">
                <a:latin typeface="Calibri"/>
              </a:defRPr>
            </a:pPr>
            <a:r>
              <a:rPr dirty="0"/>
              <a:t>Simple analogy:</a:t>
            </a:r>
          </a:p>
          <a:p>
            <a:pPr marL="0" indent="0">
              <a:buNone/>
              <a:defRPr sz="1800">
                <a:latin typeface="Calibri"/>
              </a:defRPr>
            </a:pPr>
            <a:r>
              <a:rPr dirty="0"/>
              <a:t>• Sorting fruits into baskets</a:t>
            </a:r>
          </a:p>
          <a:p>
            <a:pPr marL="0" indent="0">
              <a:buNone/>
              <a:defRPr sz="1800">
                <a:latin typeface="Calibri"/>
              </a:defRPr>
            </a:pPr>
            <a:r>
              <a:rPr dirty="0"/>
              <a:t>• Apple → Fruit basket</a:t>
            </a:r>
          </a:p>
          <a:p>
            <a:pPr marL="0" indent="0">
              <a:buNone/>
              <a:defRPr sz="1800">
                <a:latin typeface="Calibri"/>
              </a:defRPr>
            </a:pPr>
            <a:r>
              <a:rPr lang="en-US" dirty="0"/>
              <a:t>•</a:t>
            </a:r>
            <a:r>
              <a:rPr dirty="0"/>
              <a:t> Carrot → Vegetable basket</a:t>
            </a:r>
          </a:p>
          <a:p>
            <a:pPr>
              <a:defRPr sz="1800">
                <a:latin typeface="Calibri"/>
              </a:defRPr>
            </a:pPr>
            <a:endParaRPr dirty="0"/>
          </a:p>
          <a:p>
            <a:pPr marL="0" indent="0">
              <a:buNone/>
              <a:defRPr sz="1800">
                <a:latin typeface="Calibri"/>
              </a:defRPr>
            </a:pPr>
            <a:r>
              <a:rPr lang="en-US" dirty="0"/>
              <a:t>I</a:t>
            </a:r>
            <a:r>
              <a:rPr dirty="0"/>
              <a:t>n ML:</a:t>
            </a:r>
          </a:p>
          <a:p>
            <a:pPr marL="0" indent="0">
              <a:buNone/>
              <a:defRPr sz="1800">
                <a:latin typeface="Calibri"/>
              </a:defRPr>
            </a:pPr>
            <a:r>
              <a:rPr dirty="0"/>
              <a:t>• Input: Data with features</a:t>
            </a:r>
          </a:p>
          <a:p>
            <a:pPr marL="0" indent="0">
              <a:buNone/>
              <a:defRPr sz="1800">
                <a:latin typeface="Calibri"/>
              </a:defRPr>
            </a:pPr>
            <a:r>
              <a:rPr dirty="0"/>
              <a:t>• Output: Category/Class</a:t>
            </a:r>
          </a:p>
          <a:p>
            <a:pPr>
              <a:defRPr sz="1800">
                <a:latin typeface="Calibri"/>
              </a:defRPr>
            </a:pPr>
            <a:endParaRPr dirty="0"/>
          </a:p>
          <a:p>
            <a:pPr marL="0" indent="0">
              <a:buNone/>
              <a:defRPr sz="1800">
                <a:latin typeface="Calibri"/>
              </a:defRPr>
            </a:pPr>
            <a:r>
              <a:rPr dirty="0"/>
              <a:t>Example:</a:t>
            </a:r>
          </a:p>
          <a:p>
            <a:pPr marL="0" indent="0">
              <a:buNone/>
              <a:defRPr sz="1800">
                <a:latin typeface="Calibri"/>
              </a:defRPr>
            </a:pPr>
            <a:r>
              <a:rPr dirty="0"/>
              <a:t>• Input: Email with features</a:t>
            </a:r>
          </a:p>
          <a:p>
            <a:pPr marL="0" indent="0">
              <a:buNone/>
              <a:defRPr sz="1800">
                <a:latin typeface="Calibri"/>
              </a:defRPr>
            </a:pPr>
            <a:r>
              <a:rPr dirty="0"/>
              <a:t>  - Has 'free' (Yes)</a:t>
            </a:r>
          </a:p>
          <a:p>
            <a:pPr marL="0" indent="0">
              <a:buNone/>
              <a:defRPr sz="1800">
                <a:latin typeface="Calibri"/>
              </a:defRPr>
            </a:pPr>
            <a:r>
              <a:rPr dirty="0"/>
              <a:t>  - Has '!!!' (Yes)</a:t>
            </a:r>
          </a:p>
          <a:p>
            <a:pPr marL="0" indent="0">
              <a:buNone/>
              <a:defRPr sz="1800">
                <a:latin typeface="Calibri"/>
              </a:defRPr>
            </a:pPr>
            <a:r>
              <a:rPr dirty="0"/>
              <a:t>  - From unknown sender (Yes)</a:t>
            </a:r>
          </a:p>
          <a:p>
            <a:pPr marL="0" indent="0">
              <a:buNone/>
              <a:defRPr sz="1800">
                <a:latin typeface="Calibri"/>
              </a:defRPr>
            </a:pPr>
            <a:r>
              <a:rPr dirty="0"/>
              <a:t>• Output: Spam</a:t>
            </a:r>
          </a:p>
          <a:p>
            <a:pPr>
              <a:defRPr sz="1800">
                <a:latin typeface="Calibri"/>
              </a:defRPr>
            </a:pPr>
            <a:endParaRPr dirty="0"/>
          </a:p>
          <a:p>
            <a:pPr marL="0" indent="0">
              <a:buNone/>
              <a:defRPr sz="1800">
                <a:latin typeface="Calibri"/>
              </a:defRPr>
            </a:pPr>
            <a:r>
              <a:rPr dirty="0"/>
              <a:t>Goal:</a:t>
            </a:r>
          </a:p>
          <a:p>
            <a:pPr marL="0" indent="0">
              <a:buNone/>
              <a:defRPr sz="1800">
                <a:latin typeface="Calibri"/>
              </a:defRPr>
            </a:pPr>
            <a:r>
              <a:rPr dirty="0"/>
              <a:t>• Learn patterns from examples</a:t>
            </a:r>
          </a:p>
          <a:p>
            <a:pPr marL="0" indent="0">
              <a:buNone/>
              <a:defRPr sz="1800">
                <a:latin typeface="Calibri"/>
              </a:defRPr>
            </a:pPr>
            <a:r>
              <a:rPr dirty="0"/>
              <a:t>• Classify new data correctly</a:t>
            </a:r>
          </a:p>
          <a:p>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7874" y="274320"/>
            <a:ext cx="6728253" cy="646331"/>
          </a:xfrm>
          <a:prstGeom prst="rect">
            <a:avLst/>
          </a:prstGeom>
          <a:noFill/>
        </p:spPr>
        <p:txBody>
          <a:bodyPr wrap="none">
            <a:spAutoFit/>
          </a:bodyPr>
          <a:lstStyle/>
          <a:p>
            <a:pPr algn="ctr">
              <a:defRPr sz="3200" b="1">
                <a:latin typeface="Calibri"/>
              </a:defRPr>
            </a:pPr>
            <a:r>
              <a:rPr sz="3600" dirty="0"/>
              <a:t>Binary vs Multi-class Classification</a:t>
            </a:r>
          </a:p>
        </p:txBody>
      </p:sp>
      <p:sp>
        <p:nvSpPr>
          <p:cNvPr id="3" name="TextBox 2"/>
          <p:cNvSpPr txBox="1"/>
          <p:nvPr/>
        </p:nvSpPr>
        <p:spPr>
          <a:xfrm>
            <a:off x="457200" y="1371600"/>
            <a:ext cx="4114800" cy="4572000"/>
          </a:xfrm>
          <a:prstGeom prst="rect">
            <a:avLst/>
          </a:prstGeom>
          <a:noFill/>
        </p:spPr>
        <p:txBody>
          <a:bodyPr wrap="square">
            <a:spAutoFit/>
          </a:bodyPr>
          <a:lstStyle/>
          <a:p>
            <a:pPr>
              <a:defRPr sz="1600">
                <a:latin typeface="Calibri"/>
              </a:defRPr>
            </a:pPr>
            <a:r>
              <a:t>Binary Classification:</a:t>
            </a:r>
          </a:p>
          <a:p>
            <a:pPr>
              <a:defRPr sz="1600">
                <a:latin typeface="Calibri"/>
              </a:defRPr>
            </a:pPr>
            <a:endParaRPr/>
          </a:p>
          <a:p>
            <a:pPr>
              <a:defRPr sz="1600">
                <a:latin typeface="Calibri"/>
              </a:defRPr>
            </a:pPr>
            <a:r>
              <a:t>Two categories only:</a:t>
            </a:r>
          </a:p>
          <a:p>
            <a:pPr>
              <a:defRPr sz="1600">
                <a:latin typeface="Calibri"/>
              </a:defRPr>
            </a:pPr>
            <a:r>
              <a:t>• Yes/No</a:t>
            </a:r>
          </a:p>
          <a:p>
            <a:pPr>
              <a:defRPr sz="1600">
                <a:latin typeface="Calibri"/>
              </a:defRPr>
            </a:pPr>
            <a:r>
              <a:t>• Spam/Not Spam</a:t>
            </a:r>
          </a:p>
          <a:p>
            <a:pPr>
              <a:defRPr sz="1600">
                <a:latin typeface="Calibri"/>
              </a:defRPr>
            </a:pPr>
            <a:r>
              <a:t>• Pass/Fail</a:t>
            </a:r>
          </a:p>
          <a:p>
            <a:pPr>
              <a:defRPr sz="1600">
                <a:latin typeface="Calibri"/>
              </a:defRPr>
            </a:pPr>
            <a:r>
              <a:t>• Sick/Healthy</a:t>
            </a:r>
          </a:p>
          <a:p>
            <a:pPr>
              <a:defRPr sz="1600">
                <a:latin typeface="Calibri"/>
              </a:defRPr>
            </a:pPr>
            <a:endParaRPr/>
          </a:p>
          <a:p>
            <a:pPr>
              <a:defRPr sz="1600">
                <a:latin typeface="Calibri"/>
              </a:defRPr>
            </a:pPr>
            <a:r>
              <a:t>Example:</a:t>
            </a:r>
          </a:p>
          <a:p>
            <a:pPr>
              <a:defRPr sz="1600">
                <a:latin typeface="Calibri"/>
              </a:defRPr>
            </a:pPr>
            <a:r>
              <a:t>• Email → Spam or Not Spam?</a:t>
            </a:r>
          </a:p>
          <a:p>
            <a:pPr>
              <a:defRPr sz="1600">
                <a:latin typeface="Calibri"/>
              </a:defRPr>
            </a:pPr>
            <a:endParaRPr/>
          </a:p>
          <a:p>
            <a:pPr>
              <a:defRPr sz="1600">
                <a:latin typeface="Calibri"/>
              </a:defRPr>
            </a:pPr>
            <a:r>
              <a:t>Simpler problem:</a:t>
            </a:r>
          </a:p>
          <a:p>
            <a:pPr>
              <a:defRPr sz="1600">
                <a:latin typeface="Calibri"/>
              </a:defRPr>
            </a:pPr>
            <a:r>
              <a:t>• Just two choices</a:t>
            </a:r>
          </a:p>
          <a:p>
            <a:pPr>
              <a:defRPr sz="1600">
                <a:latin typeface="Calibri"/>
              </a:defRPr>
            </a:pPr>
            <a:r>
              <a:t>• Easier to understand</a:t>
            </a:r>
          </a:p>
        </p:txBody>
      </p:sp>
      <p:sp>
        <p:nvSpPr>
          <p:cNvPr id="4" name="TextBox 3"/>
          <p:cNvSpPr txBox="1"/>
          <p:nvPr/>
        </p:nvSpPr>
        <p:spPr>
          <a:xfrm>
            <a:off x="5029200" y="1371600"/>
            <a:ext cx="4114800" cy="4572000"/>
          </a:xfrm>
          <a:prstGeom prst="rect">
            <a:avLst/>
          </a:prstGeom>
          <a:noFill/>
        </p:spPr>
        <p:txBody>
          <a:bodyPr wrap="square">
            <a:spAutoFit/>
          </a:bodyPr>
          <a:lstStyle/>
          <a:p>
            <a:pPr>
              <a:defRPr sz="1600">
                <a:latin typeface="Calibri"/>
              </a:defRPr>
            </a:pPr>
            <a:r>
              <a:t>Multi-class Classification:</a:t>
            </a:r>
          </a:p>
          <a:p>
            <a:pPr>
              <a:defRPr sz="1600">
                <a:latin typeface="Calibri"/>
              </a:defRPr>
            </a:pPr>
            <a:endParaRPr/>
          </a:p>
          <a:p>
            <a:pPr>
              <a:defRPr sz="1600">
                <a:latin typeface="Calibri"/>
              </a:defRPr>
            </a:pPr>
            <a:r>
              <a:t>More than two categories:</a:t>
            </a:r>
          </a:p>
          <a:p>
            <a:pPr>
              <a:defRPr sz="1600">
                <a:latin typeface="Calibri"/>
              </a:defRPr>
            </a:pPr>
            <a:r>
              <a:t>• Cat/Dog/Bird</a:t>
            </a:r>
          </a:p>
          <a:p>
            <a:pPr>
              <a:defRPr sz="1600">
                <a:latin typeface="Calibri"/>
              </a:defRPr>
            </a:pPr>
            <a:r>
              <a:t>• Grade: A/B/C/D/F</a:t>
            </a:r>
          </a:p>
          <a:p>
            <a:pPr>
              <a:defRPr sz="1600">
                <a:latin typeface="Calibri"/>
              </a:defRPr>
            </a:pPr>
            <a:r>
              <a:t>• Emotion: Happy/Sad/Angry</a:t>
            </a:r>
          </a:p>
          <a:p>
            <a:pPr>
              <a:defRPr sz="1600">
                <a:latin typeface="Calibri"/>
              </a:defRPr>
            </a:pPr>
            <a:endParaRPr/>
          </a:p>
          <a:p>
            <a:pPr>
              <a:defRPr sz="1600">
                <a:latin typeface="Calibri"/>
              </a:defRPr>
            </a:pPr>
            <a:r>
              <a:t>Example:</a:t>
            </a:r>
          </a:p>
          <a:p>
            <a:pPr>
              <a:defRPr sz="1600">
                <a:latin typeface="Calibri"/>
              </a:defRPr>
            </a:pPr>
            <a:r>
              <a:t>• Image → Cat, Dog, or Bird?</a:t>
            </a:r>
          </a:p>
          <a:p>
            <a:pPr>
              <a:defRPr sz="1600">
                <a:latin typeface="Calibri"/>
              </a:defRPr>
            </a:pPr>
            <a:endParaRPr/>
          </a:p>
          <a:p>
            <a:pPr>
              <a:defRPr sz="1600">
                <a:latin typeface="Calibri"/>
              </a:defRPr>
            </a:pPr>
            <a:r>
              <a:t>More complex:</a:t>
            </a:r>
          </a:p>
          <a:p>
            <a:pPr>
              <a:defRPr sz="1600">
                <a:latin typeface="Calibri"/>
              </a:defRPr>
            </a:pPr>
            <a:r>
              <a:t>• Multiple choices</a:t>
            </a:r>
          </a:p>
          <a:p>
            <a:pPr>
              <a:defRPr sz="1600">
                <a:latin typeface="Calibri"/>
              </a:defRPr>
            </a:pPr>
            <a:r>
              <a:t>• Need more training data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Classification Example: Spam Detection</a:t>
            </a:r>
          </a:p>
        </p:txBody>
      </p:sp>
      <p:sp>
        <p:nvSpPr>
          <p:cNvPr id="3" name="Content Placeholder 2"/>
          <p:cNvSpPr>
            <a:spLocks noGrp="1"/>
          </p:cNvSpPr>
          <p:nvPr>
            <p:ph idx="1"/>
          </p:nvPr>
        </p:nvSpPr>
        <p:spPr/>
        <p:txBody>
          <a:bodyPr wrap="square">
            <a:normAutofit fontScale="70000" lnSpcReduction="20000"/>
          </a:bodyPr>
          <a:lstStyle/>
          <a:p>
            <a:pPr marL="0" indent="0">
              <a:buNone/>
              <a:defRPr sz="1800">
                <a:latin typeface="Calibri"/>
              </a:defRPr>
            </a:pPr>
            <a:r>
              <a:rPr dirty="0"/>
              <a:t>Problem:</a:t>
            </a:r>
          </a:p>
          <a:p>
            <a:pPr marL="0" indent="0">
              <a:buNone/>
              <a:defRPr sz="1800">
                <a:latin typeface="Calibri"/>
              </a:defRPr>
            </a:pPr>
            <a:r>
              <a:rPr dirty="0"/>
              <a:t>• Classify emails as Spam or Not Spam</a:t>
            </a:r>
          </a:p>
          <a:p>
            <a:pPr marL="0" indent="0">
              <a:buNone/>
              <a:defRPr sz="1800">
                <a:latin typeface="Calibri"/>
              </a:defRPr>
            </a:pPr>
            <a:endParaRPr lang="en-US" dirty="0"/>
          </a:p>
          <a:p>
            <a:pPr marL="0" indent="0">
              <a:buNone/>
              <a:defRPr sz="1800">
                <a:latin typeface="Calibri"/>
              </a:defRPr>
            </a:pPr>
            <a:r>
              <a:rPr dirty="0"/>
              <a:t>Step 1: Extract Features</a:t>
            </a:r>
          </a:p>
          <a:p>
            <a:pPr marL="0" indent="0">
              <a:buNone/>
              <a:defRPr sz="1800">
                <a:latin typeface="Calibri"/>
              </a:defRPr>
            </a:pPr>
            <a:r>
              <a:rPr dirty="0"/>
              <a:t>• Word 'free' appears? (Yes/No)</a:t>
            </a:r>
          </a:p>
          <a:p>
            <a:pPr marL="0" indent="0">
              <a:buNone/>
              <a:defRPr sz="1800">
                <a:latin typeface="Calibri"/>
              </a:defRPr>
            </a:pPr>
            <a:r>
              <a:rPr dirty="0"/>
              <a:t>• Word 'win' appears? (Yes/No)</a:t>
            </a:r>
          </a:p>
          <a:p>
            <a:pPr marL="0" indent="0">
              <a:buNone/>
              <a:defRPr sz="1800">
                <a:latin typeface="Calibri"/>
              </a:defRPr>
            </a:pPr>
            <a:r>
              <a:rPr dirty="0"/>
              <a:t>• Many exclamation marks? (Yes/No)</a:t>
            </a:r>
          </a:p>
          <a:p>
            <a:pPr marL="0" indent="0">
              <a:buNone/>
              <a:defRPr sz="1800">
                <a:latin typeface="Calibri"/>
              </a:defRPr>
            </a:pPr>
            <a:r>
              <a:rPr dirty="0"/>
              <a:t>• From known sender? (Yes/No)</a:t>
            </a:r>
          </a:p>
          <a:p>
            <a:pPr marL="0" indent="0">
              <a:buNone/>
              <a:defRPr sz="1800">
                <a:latin typeface="Calibri"/>
              </a:defRPr>
            </a:pPr>
            <a:endParaRPr dirty="0"/>
          </a:p>
          <a:p>
            <a:pPr marL="0" indent="0">
              <a:buNone/>
              <a:defRPr sz="1800">
                <a:latin typeface="Calibri"/>
              </a:defRPr>
            </a:pPr>
            <a:r>
              <a:rPr dirty="0"/>
              <a:t>Step 2: Train Classifier</a:t>
            </a:r>
          </a:p>
          <a:p>
            <a:pPr marL="0" indent="0">
              <a:buNone/>
              <a:defRPr sz="1800">
                <a:latin typeface="Calibri"/>
              </a:defRPr>
            </a:pPr>
            <a:r>
              <a:rPr dirty="0"/>
              <a:t>• Show 1000 spam emails</a:t>
            </a:r>
          </a:p>
          <a:p>
            <a:pPr marL="0" indent="0">
              <a:buNone/>
              <a:defRPr sz="1800">
                <a:latin typeface="Calibri"/>
              </a:defRPr>
            </a:pPr>
            <a:r>
              <a:rPr dirty="0"/>
              <a:t>• Show 1000 normal emails</a:t>
            </a:r>
          </a:p>
          <a:p>
            <a:pPr marL="0" indent="0">
              <a:buNone/>
              <a:defRPr sz="1800">
                <a:latin typeface="Calibri"/>
              </a:defRPr>
            </a:pPr>
            <a:r>
              <a:rPr dirty="0"/>
              <a:t>• Learn patterns</a:t>
            </a:r>
          </a:p>
          <a:p>
            <a:pPr marL="0" indent="0">
              <a:buNone/>
              <a:defRPr sz="1800">
                <a:latin typeface="Calibri"/>
              </a:defRPr>
            </a:pPr>
            <a:endParaRPr dirty="0"/>
          </a:p>
          <a:p>
            <a:pPr marL="0" indent="0">
              <a:buNone/>
              <a:defRPr sz="1800">
                <a:latin typeface="Calibri"/>
              </a:defRPr>
            </a:pPr>
            <a:r>
              <a:rPr dirty="0"/>
              <a:t>Step 3: Classify New Email</a:t>
            </a:r>
          </a:p>
          <a:p>
            <a:pPr marL="0" indent="0">
              <a:buNone/>
              <a:defRPr sz="1800">
                <a:latin typeface="Calibri"/>
              </a:defRPr>
            </a:pPr>
            <a:r>
              <a:rPr dirty="0"/>
              <a:t>• Extract features</a:t>
            </a:r>
          </a:p>
          <a:p>
            <a:pPr marL="0" indent="0">
              <a:buNone/>
              <a:defRPr sz="1800">
                <a:latin typeface="Calibri"/>
              </a:defRPr>
            </a:pPr>
            <a:r>
              <a:rPr dirty="0"/>
              <a:t>• Compare with learned patterns</a:t>
            </a:r>
          </a:p>
          <a:p>
            <a:pPr marL="0" indent="0">
              <a:buNone/>
              <a:defRPr sz="1800">
                <a:latin typeface="Calibri"/>
              </a:defRPr>
            </a:pPr>
            <a:r>
              <a:rPr dirty="0"/>
              <a:t>• Output: Spam or Not Spam</a:t>
            </a:r>
          </a:p>
          <a:p>
            <a:pPr marL="0" indent="0">
              <a:buNone/>
              <a:defRPr sz="1800">
                <a:latin typeface="Calibri"/>
              </a:defRPr>
            </a:pPr>
            <a:endParaRPr dirty="0"/>
          </a:p>
          <a:p>
            <a:pPr marL="0" indent="0">
              <a:buNone/>
              <a:defRPr sz="1800">
                <a:latin typeface="Calibri"/>
              </a:defRPr>
            </a:pPr>
            <a:r>
              <a:rPr dirty="0"/>
              <a:t>Result:</a:t>
            </a:r>
          </a:p>
          <a:p>
            <a:pPr marL="0" indent="0">
              <a:buNone/>
              <a:defRPr sz="1800">
                <a:latin typeface="Calibri"/>
              </a:defRPr>
            </a:pPr>
            <a:r>
              <a:rPr dirty="0"/>
              <a:t>• 99%+ accuracy in real systems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Classification Example: Disease Detection</a:t>
            </a:r>
          </a:p>
        </p:txBody>
      </p:sp>
      <p:sp>
        <p:nvSpPr>
          <p:cNvPr id="3" name="Content Placeholder 2"/>
          <p:cNvSpPr>
            <a:spLocks noGrp="1"/>
          </p:cNvSpPr>
          <p:nvPr>
            <p:ph idx="1"/>
          </p:nvPr>
        </p:nvSpPr>
        <p:spPr>
          <a:xfrm>
            <a:off x="457200" y="1600200"/>
            <a:ext cx="8229600" cy="5257800"/>
          </a:xfrm>
        </p:spPr>
        <p:txBody>
          <a:bodyPr wrap="square">
            <a:noAutofit/>
          </a:bodyPr>
          <a:lstStyle/>
          <a:p>
            <a:pPr marL="0" indent="0">
              <a:buNone/>
              <a:defRPr sz="1800">
                <a:latin typeface="Calibri"/>
              </a:defRPr>
            </a:pPr>
            <a:r>
              <a:rPr sz="1400" dirty="0"/>
              <a:t>Problem:</a:t>
            </a:r>
          </a:p>
          <a:p>
            <a:pPr marL="0" indent="0">
              <a:buNone/>
              <a:defRPr sz="1800">
                <a:latin typeface="Calibri"/>
              </a:defRPr>
            </a:pPr>
            <a:r>
              <a:rPr sz="1400" dirty="0"/>
              <a:t>• Detect disease from symptoms</a:t>
            </a:r>
            <a:endParaRPr lang="en-US" sz="1400" dirty="0"/>
          </a:p>
          <a:p>
            <a:pPr marL="0" indent="0">
              <a:buNone/>
              <a:defRPr sz="1800">
                <a:latin typeface="Calibri"/>
              </a:defRPr>
            </a:pPr>
            <a:endParaRPr lang="en-US" sz="1400" dirty="0"/>
          </a:p>
          <a:p>
            <a:pPr marL="0" indent="0">
              <a:buNone/>
              <a:defRPr sz="1800">
                <a:latin typeface="Calibri"/>
              </a:defRPr>
            </a:pPr>
            <a:r>
              <a:rPr sz="1400" dirty="0"/>
              <a:t>Features</a:t>
            </a:r>
            <a:r>
              <a:rPr lang="en-US" sz="1400" dirty="0"/>
              <a:t>:</a:t>
            </a:r>
            <a:endParaRPr sz="1400" dirty="0"/>
          </a:p>
          <a:p>
            <a:pPr marL="0" indent="0">
              <a:buNone/>
              <a:defRPr sz="1800">
                <a:latin typeface="Calibri"/>
              </a:defRPr>
            </a:pPr>
            <a:r>
              <a:rPr sz="1400" dirty="0"/>
              <a:t>• Fever? (Yes/No)</a:t>
            </a:r>
          </a:p>
          <a:p>
            <a:pPr marL="0" indent="0">
              <a:buNone/>
              <a:defRPr sz="1800">
                <a:latin typeface="Calibri"/>
              </a:defRPr>
            </a:pPr>
            <a:r>
              <a:rPr sz="1400" dirty="0"/>
              <a:t>• Cough? (Yes/No)</a:t>
            </a:r>
          </a:p>
          <a:p>
            <a:pPr marL="0" indent="0">
              <a:buNone/>
              <a:defRPr sz="1800">
                <a:latin typeface="Calibri"/>
              </a:defRPr>
            </a:pPr>
            <a:r>
              <a:rPr sz="1400" dirty="0"/>
              <a:t>• Temperature: </a:t>
            </a:r>
            <a:r>
              <a:rPr lang="en-US" sz="1400" dirty="0"/>
              <a:t>38</a:t>
            </a:r>
            <a:r>
              <a:rPr sz="1400" dirty="0"/>
              <a:t>.5°C</a:t>
            </a:r>
          </a:p>
          <a:p>
            <a:pPr marL="0" indent="0">
              <a:buNone/>
              <a:defRPr sz="1800">
                <a:latin typeface="Calibri"/>
              </a:defRPr>
            </a:pPr>
            <a:r>
              <a:rPr sz="1400" dirty="0"/>
              <a:t>• Age: 25 years</a:t>
            </a:r>
            <a:endParaRPr lang="en-US" sz="1400" dirty="0"/>
          </a:p>
          <a:p>
            <a:pPr marL="0" indent="0">
              <a:buNone/>
              <a:defRPr sz="1800">
                <a:latin typeface="Calibri"/>
              </a:defRPr>
            </a:pPr>
            <a:endParaRPr lang="en-US" sz="1400" dirty="0"/>
          </a:p>
          <a:p>
            <a:pPr marL="0" indent="0">
              <a:buNone/>
              <a:defRPr sz="1800">
                <a:latin typeface="Calibri"/>
              </a:defRPr>
            </a:pPr>
            <a:r>
              <a:rPr sz="1400" dirty="0"/>
              <a:t>Classific</a:t>
            </a:r>
            <a:r>
              <a:rPr lang="en-US" sz="1400" dirty="0"/>
              <a:t>a</a:t>
            </a:r>
            <a:r>
              <a:rPr sz="1400" dirty="0"/>
              <a:t>tion:</a:t>
            </a:r>
          </a:p>
          <a:p>
            <a:pPr marL="0" indent="0">
              <a:buNone/>
              <a:defRPr sz="1800">
                <a:latin typeface="Calibri"/>
              </a:defRPr>
            </a:pPr>
            <a:r>
              <a:rPr sz="1400" dirty="0"/>
              <a:t>• Input: Patient symptoms</a:t>
            </a:r>
          </a:p>
          <a:p>
            <a:pPr marL="0" indent="0">
              <a:buNone/>
              <a:defRPr sz="1800">
                <a:latin typeface="Calibri"/>
              </a:defRPr>
            </a:pPr>
            <a:r>
              <a:rPr sz="1400" dirty="0"/>
              <a:t>• Output: Disease category</a:t>
            </a:r>
          </a:p>
          <a:p>
            <a:pPr marL="0" indent="0">
              <a:buNone/>
              <a:defRPr sz="1800">
                <a:latin typeface="Calibri"/>
              </a:defRPr>
            </a:pPr>
            <a:r>
              <a:rPr sz="1400" dirty="0"/>
              <a:t>  - </a:t>
            </a:r>
            <a:r>
              <a:rPr lang="en-US" sz="1400" dirty="0"/>
              <a:t>Fever</a:t>
            </a:r>
            <a:endParaRPr sz="1400" dirty="0"/>
          </a:p>
          <a:p>
            <a:pPr marL="0" indent="0">
              <a:buNone/>
              <a:defRPr sz="1800">
                <a:latin typeface="Calibri"/>
              </a:defRPr>
            </a:pPr>
            <a:r>
              <a:rPr sz="1400" dirty="0"/>
              <a:t>  - Flu</a:t>
            </a:r>
          </a:p>
          <a:p>
            <a:pPr marL="0" indent="0">
              <a:buNone/>
              <a:defRPr sz="1800">
                <a:latin typeface="Calibri"/>
              </a:defRPr>
            </a:pPr>
            <a:r>
              <a:rPr sz="1400" dirty="0"/>
              <a:t>  - COVID-19</a:t>
            </a:r>
          </a:p>
          <a:p>
            <a:pPr marL="0" indent="0">
              <a:buNone/>
              <a:defRPr sz="1800">
                <a:latin typeface="Calibri"/>
              </a:defRPr>
            </a:pPr>
            <a:r>
              <a:rPr sz="1400" dirty="0"/>
              <a:t>  - Healthy</a:t>
            </a:r>
          </a:p>
          <a:p>
            <a:pPr>
              <a:defRPr sz="1800">
                <a:latin typeface="Calibri"/>
              </a:defRPr>
            </a:pPr>
            <a:endParaRPr sz="1400" dirty="0"/>
          </a:p>
          <a:p>
            <a:pPr marL="0" indent="0">
              <a:buNone/>
              <a:defRPr sz="1800">
                <a:latin typeface="Calibri"/>
              </a:defRPr>
            </a:pPr>
            <a:r>
              <a:rPr sz="1400" dirty="0"/>
              <a:t>Real application:</a:t>
            </a:r>
          </a:p>
          <a:p>
            <a:pPr marL="0" indent="0">
              <a:buNone/>
              <a:defRPr sz="1800">
                <a:latin typeface="Calibri"/>
              </a:defRPr>
            </a:pPr>
            <a:r>
              <a:rPr sz="1400" dirty="0"/>
              <a:t>• Assist doctors in diagnosis</a:t>
            </a:r>
          </a:p>
          <a:p>
            <a:pPr marL="0" indent="0">
              <a:buNone/>
              <a:defRPr sz="1800">
                <a:latin typeface="Calibri"/>
              </a:defRPr>
            </a:pPr>
            <a:r>
              <a:rPr sz="1400" dirty="0"/>
              <a:t>• Early detection saves lives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Common Classifiers (High-Level Overview)</a:t>
            </a:r>
          </a:p>
        </p:txBody>
      </p:sp>
      <p:sp>
        <p:nvSpPr>
          <p:cNvPr id="3" name="Content Placeholder 2"/>
          <p:cNvSpPr>
            <a:spLocks noGrp="1"/>
          </p:cNvSpPr>
          <p:nvPr>
            <p:ph idx="1"/>
          </p:nvPr>
        </p:nvSpPr>
        <p:spPr/>
        <p:txBody>
          <a:bodyPr wrap="square">
            <a:normAutofit fontScale="92500" lnSpcReduction="20000"/>
          </a:bodyPr>
          <a:lstStyle/>
          <a:p>
            <a:pPr marL="0" indent="0">
              <a:buNone/>
              <a:defRPr sz="1800">
                <a:latin typeface="Calibri"/>
              </a:defRPr>
            </a:pPr>
            <a:r>
              <a:rPr dirty="0"/>
              <a:t>Three popular classifiers:</a:t>
            </a:r>
          </a:p>
          <a:p>
            <a:pPr>
              <a:defRPr sz="1800">
                <a:latin typeface="Calibri"/>
              </a:defRPr>
            </a:pPr>
            <a:endParaRPr dirty="0"/>
          </a:p>
          <a:p>
            <a:pPr marL="0" indent="0">
              <a:buNone/>
              <a:defRPr sz="1800">
                <a:latin typeface="Calibri"/>
              </a:defRPr>
            </a:pPr>
            <a:r>
              <a:rPr dirty="0"/>
              <a:t>1. K-Nearest Neighbors (KNN)</a:t>
            </a:r>
          </a:p>
          <a:p>
            <a:pPr marL="0" indent="0">
              <a:buNone/>
              <a:defRPr sz="1800">
                <a:latin typeface="Calibri"/>
              </a:defRPr>
            </a:pPr>
            <a:r>
              <a:rPr dirty="0"/>
              <a:t>   • Find similar examples</a:t>
            </a:r>
          </a:p>
          <a:p>
            <a:pPr marL="0" indent="0">
              <a:buNone/>
              <a:defRPr sz="1800">
                <a:latin typeface="Calibri"/>
              </a:defRPr>
            </a:pPr>
            <a:r>
              <a:rPr dirty="0"/>
              <a:t>   • Vote by majority</a:t>
            </a:r>
          </a:p>
          <a:p>
            <a:pPr marL="0" indent="0">
              <a:buNone/>
              <a:defRPr sz="1800">
                <a:latin typeface="Calibri"/>
              </a:defRPr>
            </a:pPr>
            <a:r>
              <a:rPr dirty="0"/>
              <a:t>   • Like asking neighbors for advice</a:t>
            </a:r>
          </a:p>
          <a:p>
            <a:pPr marL="0" indent="0">
              <a:buNone/>
              <a:defRPr sz="1800">
                <a:latin typeface="Calibri"/>
              </a:defRPr>
            </a:pPr>
            <a:endParaRPr dirty="0"/>
          </a:p>
          <a:p>
            <a:pPr marL="0" indent="0">
              <a:buNone/>
              <a:defRPr sz="1800">
                <a:latin typeface="Calibri"/>
              </a:defRPr>
            </a:pPr>
            <a:r>
              <a:rPr dirty="0"/>
              <a:t>2. Decision Tree</a:t>
            </a:r>
          </a:p>
          <a:p>
            <a:pPr marL="0" indent="0">
              <a:buNone/>
              <a:defRPr sz="1800">
                <a:latin typeface="Calibri"/>
              </a:defRPr>
            </a:pPr>
            <a:r>
              <a:rPr dirty="0"/>
              <a:t>   • Ask yes/no questions</a:t>
            </a:r>
          </a:p>
          <a:p>
            <a:pPr marL="0" indent="0">
              <a:buNone/>
              <a:defRPr sz="1800">
                <a:latin typeface="Calibri"/>
              </a:defRPr>
            </a:pPr>
            <a:r>
              <a:rPr dirty="0"/>
              <a:t>   • Follow path to answer</a:t>
            </a:r>
          </a:p>
          <a:p>
            <a:pPr marL="0" indent="0">
              <a:buNone/>
              <a:defRPr sz="1800">
                <a:latin typeface="Calibri"/>
              </a:defRPr>
            </a:pPr>
            <a:r>
              <a:rPr dirty="0"/>
              <a:t>   • Like a flowchart</a:t>
            </a:r>
          </a:p>
          <a:p>
            <a:pPr marL="0" indent="0">
              <a:buNone/>
              <a:defRPr sz="1800">
                <a:latin typeface="Calibri"/>
              </a:defRPr>
            </a:pPr>
            <a:endParaRPr dirty="0"/>
          </a:p>
          <a:p>
            <a:pPr marL="0" indent="0">
              <a:buNone/>
              <a:defRPr sz="1800">
                <a:latin typeface="Calibri"/>
              </a:defRPr>
            </a:pPr>
            <a:r>
              <a:rPr dirty="0"/>
              <a:t>3. Logistic Regression</a:t>
            </a:r>
          </a:p>
          <a:p>
            <a:pPr marL="0" indent="0">
              <a:buNone/>
              <a:defRPr sz="1800">
                <a:latin typeface="Calibri"/>
              </a:defRPr>
            </a:pPr>
            <a:r>
              <a:rPr dirty="0"/>
              <a:t>   • Find best line/curve to separate classes</a:t>
            </a:r>
          </a:p>
          <a:p>
            <a:pPr marL="0" indent="0">
              <a:buNone/>
              <a:defRPr sz="1800">
                <a:latin typeface="Calibri"/>
              </a:defRPr>
            </a:pPr>
            <a:r>
              <a:rPr dirty="0"/>
              <a:t>   • Uses probability</a:t>
            </a:r>
          </a:p>
          <a:p>
            <a:pPr marL="0" indent="0">
              <a:buNone/>
              <a:defRPr sz="1800">
                <a:latin typeface="Calibri"/>
              </a:defRPr>
            </a:pPr>
            <a:r>
              <a:rPr dirty="0"/>
              <a:t>   • Like drawing a boundary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K-Nearest Neighbors (KNN) - Intuition</a:t>
            </a:r>
          </a:p>
        </p:txBody>
      </p:sp>
      <p:sp>
        <p:nvSpPr>
          <p:cNvPr id="3" name="Content Placeholder 2"/>
          <p:cNvSpPr>
            <a:spLocks noGrp="1"/>
          </p:cNvSpPr>
          <p:nvPr>
            <p:ph idx="1"/>
          </p:nvPr>
        </p:nvSpPr>
        <p:spPr/>
        <p:txBody>
          <a:bodyPr wrap="square">
            <a:normAutofit fontScale="62500" lnSpcReduction="20000"/>
          </a:bodyPr>
          <a:lstStyle/>
          <a:p>
            <a:pPr>
              <a:defRPr sz="1800">
                <a:latin typeface="Calibri"/>
              </a:defRPr>
            </a:pPr>
            <a:r>
              <a:t>How it works (simple explanation):</a:t>
            </a:r>
          </a:p>
          <a:p>
            <a:pPr>
              <a:defRPr sz="1800">
                <a:latin typeface="Calibri"/>
              </a:defRPr>
            </a:pPr>
            <a:endParaRPr/>
          </a:p>
          <a:p>
            <a:pPr>
              <a:defRPr sz="1800">
                <a:latin typeface="Calibri"/>
              </a:defRPr>
            </a:pPr>
            <a:r>
              <a:t>1. Store all training examples</a:t>
            </a:r>
          </a:p>
          <a:p>
            <a:pPr>
              <a:defRPr sz="1800">
                <a:latin typeface="Calibri"/>
              </a:defRPr>
            </a:pPr>
            <a:endParaRPr/>
          </a:p>
          <a:p>
            <a:pPr>
              <a:defRPr sz="1800">
                <a:latin typeface="Calibri"/>
              </a:defRPr>
            </a:pPr>
            <a:r>
              <a:t>2. For new data:</a:t>
            </a:r>
          </a:p>
          <a:p>
            <a:pPr>
              <a:defRPr sz="1800">
                <a:latin typeface="Calibri"/>
              </a:defRPr>
            </a:pPr>
            <a:r>
              <a:t>   • Find K nearest neighbors</a:t>
            </a:r>
          </a:p>
          <a:p>
            <a:pPr>
              <a:defRPr sz="1800">
                <a:latin typeface="Calibri"/>
              </a:defRPr>
            </a:pPr>
            <a:r>
              <a:t>   • K = number of neighbors (e.g., K=3)</a:t>
            </a:r>
          </a:p>
          <a:p>
            <a:pPr>
              <a:defRPr sz="1800">
                <a:latin typeface="Calibri"/>
              </a:defRPr>
            </a:pPr>
            <a:endParaRPr/>
          </a:p>
          <a:p>
            <a:pPr>
              <a:defRPr sz="1800">
                <a:latin typeface="Calibri"/>
              </a:defRPr>
            </a:pPr>
            <a:r>
              <a:t>3. Vote:</a:t>
            </a:r>
          </a:p>
          <a:p>
            <a:pPr>
              <a:defRPr sz="1800">
                <a:latin typeface="Calibri"/>
              </a:defRPr>
            </a:pPr>
            <a:r>
              <a:t>   • Look at neighbors' labels</a:t>
            </a:r>
          </a:p>
          <a:p>
            <a:pPr>
              <a:defRPr sz="1800">
                <a:latin typeface="Calibri"/>
              </a:defRPr>
            </a:pPr>
            <a:r>
              <a:t>   • Majority wins</a:t>
            </a:r>
          </a:p>
          <a:p>
            <a:pPr>
              <a:defRPr sz="1800">
                <a:latin typeface="Calibri"/>
              </a:defRPr>
            </a:pPr>
            <a:endParaRPr/>
          </a:p>
          <a:p>
            <a:pPr>
              <a:defRPr sz="1800">
                <a:latin typeface="Calibri"/>
              </a:defRPr>
            </a:pPr>
            <a:r>
              <a:t>Example:</a:t>
            </a:r>
          </a:p>
          <a:p>
            <a:pPr>
              <a:defRPr sz="1800">
                <a:latin typeface="Calibri"/>
              </a:defRPr>
            </a:pPr>
            <a:r>
              <a:t>• New email: Is it spam?</a:t>
            </a:r>
          </a:p>
          <a:p>
            <a:pPr>
              <a:defRPr sz="1800">
                <a:latin typeface="Calibri"/>
              </a:defRPr>
            </a:pPr>
            <a:r>
              <a:t>• Find 3 most similar emails</a:t>
            </a:r>
          </a:p>
          <a:p>
            <a:pPr>
              <a:defRPr sz="1800">
                <a:latin typeface="Calibri"/>
              </a:defRPr>
            </a:pPr>
            <a:r>
              <a:t>• 2 are spam, 1 is not</a:t>
            </a:r>
          </a:p>
          <a:p>
            <a:pPr>
              <a:defRPr sz="1800">
                <a:latin typeface="Calibri"/>
              </a:defRPr>
            </a:pPr>
            <a:r>
              <a:t>• Decision: Spam (2 out of 3)</a:t>
            </a:r>
          </a:p>
          <a:p>
            <a:pPr>
              <a:defRPr sz="1800">
                <a:latin typeface="Calibri"/>
              </a:defRPr>
            </a:pPr>
            <a:endParaRPr/>
          </a:p>
          <a:p>
            <a:pPr>
              <a:defRPr sz="1800">
                <a:latin typeface="Calibri"/>
              </a:defRPr>
            </a:pPr>
            <a:r>
              <a:t>Analogy:</a:t>
            </a:r>
          </a:p>
          <a:p>
            <a:pPr>
              <a:defRPr sz="1800">
                <a:latin typeface="Calibri"/>
              </a:defRPr>
            </a:pPr>
            <a:r>
              <a:t>• Like asking your 3 closest friends for advice</a:t>
            </a:r>
          </a:p>
          <a:p>
            <a:br/>
            <a:r>
              <a:t>[Visual Suggestion: Diagram: New point → Find K neighbors → Vote → Class]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Decision Tree</a:t>
            </a:r>
          </a:p>
        </p:txBody>
      </p:sp>
      <p:sp>
        <p:nvSpPr>
          <p:cNvPr id="3" name="Content Placeholder 2"/>
          <p:cNvSpPr>
            <a:spLocks noGrp="1"/>
          </p:cNvSpPr>
          <p:nvPr>
            <p:ph idx="1"/>
          </p:nvPr>
        </p:nvSpPr>
        <p:spPr/>
        <p:txBody>
          <a:bodyPr wrap="square">
            <a:normAutofit fontScale="62500" lnSpcReduction="20000"/>
          </a:bodyPr>
          <a:lstStyle/>
          <a:p>
            <a:pPr>
              <a:defRPr sz="1800">
                <a:latin typeface="Calibri"/>
              </a:defRPr>
            </a:pPr>
            <a:r>
              <a:t>How it works:</a:t>
            </a:r>
          </a:p>
          <a:p>
            <a:pPr>
              <a:defRPr sz="1800">
                <a:latin typeface="Calibri"/>
              </a:defRPr>
            </a:pPr>
            <a:endParaRPr/>
          </a:p>
          <a:p>
            <a:pPr>
              <a:defRPr sz="1800">
                <a:latin typeface="Calibri"/>
              </a:defRPr>
            </a:pPr>
            <a:r>
              <a:t>• Series of yes/no questions</a:t>
            </a:r>
          </a:p>
          <a:p>
            <a:pPr>
              <a:defRPr sz="1800">
                <a:latin typeface="Calibri"/>
              </a:defRPr>
            </a:pPr>
            <a:r>
              <a:t>• Each answer leads to next question</a:t>
            </a:r>
          </a:p>
          <a:p>
            <a:pPr>
              <a:defRPr sz="1800">
                <a:latin typeface="Calibri"/>
              </a:defRPr>
            </a:pPr>
            <a:r>
              <a:t>• Final answer at the end</a:t>
            </a:r>
          </a:p>
          <a:p>
            <a:pPr>
              <a:defRPr sz="1800">
                <a:latin typeface="Calibri"/>
              </a:defRPr>
            </a:pPr>
            <a:endParaRPr/>
          </a:p>
          <a:p>
            <a:pPr>
              <a:defRPr sz="1800">
                <a:latin typeface="Calibri"/>
              </a:defRPr>
            </a:pPr>
            <a:r>
              <a:t>Example - Classifying email:</a:t>
            </a:r>
          </a:p>
          <a:p>
            <a:pPr>
              <a:defRPr sz="1800">
                <a:latin typeface="Calibri"/>
              </a:defRPr>
            </a:pPr>
            <a:endParaRPr/>
          </a:p>
          <a:p>
            <a:pPr>
              <a:defRPr sz="1800">
                <a:latin typeface="Calibri"/>
              </a:defRPr>
            </a:pPr>
            <a:r>
              <a:t>Question 1: Has word 'free'?</a:t>
            </a:r>
          </a:p>
          <a:p>
            <a:pPr>
              <a:defRPr sz="1800">
                <a:latin typeface="Calibri"/>
              </a:defRPr>
            </a:pPr>
            <a:r>
              <a:t>  → Yes: Go to Question 2</a:t>
            </a:r>
          </a:p>
          <a:p>
            <a:pPr>
              <a:defRPr sz="1800">
                <a:latin typeface="Calibri"/>
              </a:defRPr>
            </a:pPr>
            <a:r>
              <a:t>  → No: Go to Question 3</a:t>
            </a:r>
          </a:p>
          <a:p>
            <a:pPr>
              <a:defRPr sz="1800">
                <a:latin typeface="Calibri"/>
              </a:defRPr>
            </a:pPr>
            <a:endParaRPr/>
          </a:p>
          <a:p>
            <a:pPr>
              <a:defRPr sz="1800">
                <a:latin typeface="Calibri"/>
              </a:defRPr>
            </a:pPr>
            <a:r>
              <a:t>Question 2: From unknown sender?</a:t>
            </a:r>
          </a:p>
          <a:p>
            <a:pPr>
              <a:defRPr sz="1800">
                <a:latin typeface="Calibri"/>
              </a:defRPr>
            </a:pPr>
            <a:r>
              <a:t>  → Yes: SPAM</a:t>
            </a:r>
          </a:p>
          <a:p>
            <a:pPr>
              <a:defRPr sz="1800">
                <a:latin typeface="Calibri"/>
              </a:defRPr>
            </a:pPr>
            <a:r>
              <a:t>  → No: Go to Question 3</a:t>
            </a:r>
          </a:p>
          <a:p>
            <a:pPr>
              <a:defRPr sz="1800">
                <a:latin typeface="Calibri"/>
              </a:defRPr>
            </a:pPr>
            <a:endParaRPr/>
          </a:p>
          <a:p>
            <a:pPr>
              <a:defRPr sz="1800">
                <a:latin typeface="Calibri"/>
              </a:defRPr>
            </a:pPr>
            <a:r>
              <a:t>Question 3: Has many '!'?</a:t>
            </a:r>
          </a:p>
          <a:p>
            <a:pPr>
              <a:defRPr sz="1800">
                <a:latin typeface="Calibri"/>
              </a:defRPr>
            </a:pPr>
            <a:r>
              <a:t>  → Yes: SPAM</a:t>
            </a:r>
          </a:p>
          <a:p>
            <a:pPr>
              <a:defRPr sz="1800">
                <a:latin typeface="Calibri"/>
              </a:defRPr>
            </a:pPr>
            <a:r>
              <a:t>  → No: NOT SPAM</a:t>
            </a:r>
          </a:p>
          <a:p>
            <a:pPr>
              <a:defRPr sz="1800">
                <a:latin typeface="Calibri"/>
              </a:defRPr>
            </a:pPr>
            <a:endParaRPr/>
          </a:p>
          <a:p>
            <a:pPr>
              <a:defRPr sz="1800">
                <a:latin typeface="Calibri"/>
              </a:defRPr>
            </a:pPr>
            <a:r>
              <a:t>Visual:</a:t>
            </a:r>
          </a:p>
          <a:p>
            <a:pPr>
              <a:defRPr sz="1800">
                <a:latin typeface="Calibri"/>
              </a:defRPr>
            </a:pPr>
            <a:r>
              <a:t>• Like a tree with branches</a:t>
            </a:r>
          </a:p>
          <a:p>
            <a:pPr>
              <a:defRPr sz="1800">
                <a:latin typeface="Calibri"/>
              </a:defRPr>
            </a:pPr>
            <a:r>
              <a:t>• Each branch = a decision</a:t>
            </a:r>
          </a:p>
          <a:p>
            <a:br/>
            <a:r>
              <a:t>[Visual Suggestion: Tree diagram: Root → Branches → Leaves (classes)]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Logistic Regression (Concept Only)</a:t>
            </a:r>
          </a:p>
        </p:txBody>
      </p:sp>
      <p:sp>
        <p:nvSpPr>
          <p:cNvPr id="3" name="Content Placeholder 2"/>
          <p:cNvSpPr>
            <a:spLocks noGrp="1"/>
          </p:cNvSpPr>
          <p:nvPr>
            <p:ph idx="1"/>
          </p:nvPr>
        </p:nvSpPr>
        <p:spPr/>
        <p:txBody>
          <a:bodyPr wrap="square">
            <a:normAutofit fontScale="62500" lnSpcReduction="20000"/>
          </a:bodyPr>
          <a:lstStyle/>
          <a:p>
            <a:pPr>
              <a:defRPr sz="1800">
                <a:latin typeface="Calibri"/>
              </a:defRPr>
            </a:pPr>
            <a:r>
              <a:t>High-level idea:</a:t>
            </a:r>
          </a:p>
          <a:p>
            <a:pPr>
              <a:defRPr sz="1800">
                <a:latin typeface="Calibri"/>
              </a:defRPr>
            </a:pPr>
            <a:endParaRPr/>
          </a:p>
          <a:p>
            <a:pPr>
              <a:defRPr sz="1800">
                <a:latin typeface="Calibri"/>
              </a:defRPr>
            </a:pPr>
            <a:r>
              <a:t>• Draw a line/curve to separate classes</a:t>
            </a:r>
          </a:p>
          <a:p>
            <a:pPr>
              <a:defRPr sz="1800">
                <a:latin typeface="Calibri"/>
              </a:defRPr>
            </a:pPr>
            <a:r>
              <a:t>• Find the best boundary</a:t>
            </a:r>
          </a:p>
          <a:p>
            <a:pPr>
              <a:defRPr sz="1800">
                <a:latin typeface="Calibri"/>
              </a:defRPr>
            </a:pPr>
            <a:endParaRPr/>
          </a:p>
          <a:p>
            <a:pPr>
              <a:defRPr sz="1800">
                <a:latin typeface="Calibri"/>
              </a:defRPr>
            </a:pPr>
            <a:r>
              <a:t>Example - Spam detection:</a:t>
            </a:r>
          </a:p>
          <a:p>
            <a:pPr>
              <a:defRPr sz="1800">
                <a:latin typeface="Calibri"/>
              </a:defRPr>
            </a:pPr>
            <a:r>
              <a:t>• Feature 1: Number of 'free' words</a:t>
            </a:r>
          </a:p>
          <a:p>
            <a:pPr>
              <a:defRPr sz="1800">
                <a:latin typeface="Calibri"/>
              </a:defRPr>
            </a:pPr>
            <a:r>
              <a:t>• Feature 2: Number of exclamation marks</a:t>
            </a:r>
          </a:p>
          <a:p>
            <a:pPr>
              <a:defRPr sz="1800">
                <a:latin typeface="Calibri"/>
              </a:defRPr>
            </a:pPr>
            <a:r>
              <a:t>• Draw line separating spam from not spam</a:t>
            </a:r>
          </a:p>
          <a:p>
            <a:pPr>
              <a:defRPr sz="1800">
                <a:latin typeface="Calibri"/>
              </a:defRPr>
            </a:pPr>
            <a:endParaRPr/>
          </a:p>
          <a:p>
            <a:pPr>
              <a:defRPr sz="1800">
                <a:latin typeface="Calibri"/>
              </a:defRPr>
            </a:pPr>
            <a:r>
              <a:t>How it works:</a:t>
            </a:r>
          </a:p>
          <a:p>
            <a:pPr>
              <a:defRPr sz="1800">
                <a:latin typeface="Calibri"/>
              </a:defRPr>
            </a:pPr>
            <a:r>
              <a:t>• Calculate probability</a:t>
            </a:r>
          </a:p>
          <a:p>
            <a:pPr>
              <a:defRPr sz="1800">
                <a:latin typeface="Calibri"/>
              </a:defRPr>
            </a:pPr>
            <a:r>
              <a:t>• If probability &gt; 50% → Class 1</a:t>
            </a:r>
          </a:p>
          <a:p>
            <a:pPr>
              <a:defRPr sz="1800">
                <a:latin typeface="Calibri"/>
              </a:defRPr>
            </a:pPr>
            <a:r>
              <a:t>• If probability &lt; 50% → Class 2</a:t>
            </a:r>
          </a:p>
          <a:p>
            <a:pPr>
              <a:defRPr sz="1800">
                <a:latin typeface="Calibri"/>
              </a:defRPr>
            </a:pPr>
            <a:endParaRPr/>
          </a:p>
          <a:p>
            <a:pPr>
              <a:defRPr sz="1800">
                <a:latin typeface="Calibri"/>
              </a:defRPr>
            </a:pPr>
            <a:r>
              <a:t>Visual:</a:t>
            </a:r>
          </a:p>
          <a:p>
            <a:pPr>
              <a:defRPr sz="1800">
                <a:latin typeface="Calibri"/>
              </a:defRPr>
            </a:pPr>
            <a:r>
              <a:t>• Like drawing a line on a graph</a:t>
            </a:r>
          </a:p>
          <a:p>
            <a:pPr>
              <a:defRPr sz="1800">
                <a:latin typeface="Calibri"/>
              </a:defRPr>
            </a:pPr>
            <a:r>
              <a:t>• Points on one side = Spam</a:t>
            </a:r>
          </a:p>
          <a:p>
            <a:pPr>
              <a:defRPr sz="1800">
                <a:latin typeface="Calibri"/>
              </a:defRPr>
            </a:pPr>
            <a:r>
              <a:t>• Points on other side = Not Spam</a:t>
            </a:r>
          </a:p>
          <a:p>
            <a:pPr>
              <a:defRPr sz="1800">
                <a:latin typeface="Calibri"/>
              </a:defRPr>
            </a:pPr>
            <a:endParaRPr/>
          </a:p>
          <a:p>
            <a:pPr>
              <a:defRPr sz="1800">
                <a:latin typeface="Calibri"/>
              </a:defRPr>
            </a:pPr>
            <a:r>
              <a:t>Note:</a:t>
            </a:r>
          </a:p>
          <a:p>
            <a:pPr>
              <a:defRPr sz="1800">
                <a:latin typeface="Calibri"/>
              </a:defRPr>
            </a:pPr>
            <a:r>
              <a:t>• We'll skip the math details</a:t>
            </a:r>
          </a:p>
          <a:p>
            <a:pPr>
              <a:defRPr sz="1800">
                <a:latin typeface="Calibri"/>
              </a:defRPr>
            </a:pPr>
            <a:r>
              <a:t>• Focus on the concept</a:t>
            </a:r>
          </a:p>
          <a:p>
            <a:br/>
            <a:r>
              <a:t>[Visual Suggestion: Graph: Two classes separated by a curve/line]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End-to-End Example: Image Classification</a:t>
            </a:r>
          </a:p>
        </p:txBody>
      </p:sp>
      <p:sp>
        <p:nvSpPr>
          <p:cNvPr id="3" name="Content Placeholder 2"/>
          <p:cNvSpPr>
            <a:spLocks noGrp="1"/>
          </p:cNvSpPr>
          <p:nvPr>
            <p:ph idx="1"/>
          </p:nvPr>
        </p:nvSpPr>
        <p:spPr/>
        <p:txBody>
          <a:bodyPr wrap="square">
            <a:normAutofit fontScale="62500" lnSpcReduction="20000"/>
          </a:bodyPr>
          <a:lstStyle/>
          <a:p>
            <a:pPr>
              <a:defRPr sz="1800">
                <a:latin typeface="Calibri"/>
              </a:defRPr>
            </a:pPr>
            <a:r>
              <a:t>Complete workflow:</a:t>
            </a:r>
          </a:p>
          <a:p>
            <a:pPr>
              <a:defRPr sz="1800">
                <a:latin typeface="Calibri"/>
              </a:defRPr>
            </a:pPr>
            <a:endParaRPr/>
          </a:p>
          <a:p>
            <a:pPr>
              <a:defRPr sz="1800">
                <a:latin typeface="Calibri"/>
              </a:defRPr>
            </a:pPr>
            <a:r>
              <a:t>Step 1: Input Image</a:t>
            </a:r>
          </a:p>
          <a:p>
            <a:pPr>
              <a:defRPr sz="1800">
                <a:latin typeface="Calibri"/>
              </a:defRPr>
            </a:pPr>
            <a:r>
              <a:t>• Photo of a cat</a:t>
            </a:r>
          </a:p>
          <a:p>
            <a:pPr>
              <a:defRPr sz="1800">
                <a:latin typeface="Calibri"/>
              </a:defRPr>
            </a:pPr>
            <a:endParaRPr/>
          </a:p>
          <a:p>
            <a:pPr>
              <a:defRPr sz="1800">
                <a:latin typeface="Calibri"/>
              </a:defRPr>
            </a:pPr>
            <a:r>
              <a:t>Step 2: Feature Extraction</a:t>
            </a:r>
          </a:p>
          <a:p>
            <a:pPr>
              <a:defRPr sz="1800">
                <a:latin typeface="Calibri"/>
              </a:defRPr>
            </a:pPr>
            <a:r>
              <a:t>• Extract: Pointy ears (Yes)</a:t>
            </a:r>
          </a:p>
          <a:p>
            <a:pPr>
              <a:defRPr sz="1800">
                <a:latin typeface="Calibri"/>
              </a:defRPr>
            </a:pPr>
            <a:r>
              <a:t>• Extract: Whiskers (Yes)</a:t>
            </a:r>
          </a:p>
          <a:p>
            <a:pPr>
              <a:defRPr sz="1800">
                <a:latin typeface="Calibri"/>
              </a:defRPr>
            </a:pPr>
            <a:r>
              <a:t>• Extract: Tail (Yes)</a:t>
            </a:r>
          </a:p>
          <a:p>
            <a:pPr>
              <a:defRPr sz="1800">
                <a:latin typeface="Calibri"/>
              </a:defRPr>
            </a:pPr>
            <a:r>
              <a:t>• Extract: Size (Small)</a:t>
            </a:r>
          </a:p>
          <a:p>
            <a:pPr>
              <a:defRPr sz="1800">
                <a:latin typeface="Calibri"/>
              </a:defRPr>
            </a:pPr>
            <a:endParaRPr/>
          </a:p>
          <a:p>
            <a:pPr>
              <a:defRPr sz="1800">
                <a:latin typeface="Calibri"/>
              </a:defRPr>
            </a:pPr>
            <a:r>
              <a:t>Step 3: Classification</a:t>
            </a:r>
          </a:p>
          <a:p>
            <a:pPr>
              <a:defRPr sz="1800">
                <a:latin typeface="Calibri"/>
              </a:defRPr>
            </a:pPr>
            <a:r>
              <a:t>• Input features to classifier</a:t>
            </a:r>
          </a:p>
          <a:p>
            <a:pPr>
              <a:defRPr sz="1800">
                <a:latin typeface="Calibri"/>
              </a:defRPr>
            </a:pPr>
            <a:r>
              <a:t>• Compare with learned patterns</a:t>
            </a:r>
          </a:p>
          <a:p>
            <a:pPr>
              <a:defRPr sz="1800">
                <a:latin typeface="Calibri"/>
              </a:defRPr>
            </a:pPr>
            <a:endParaRPr/>
          </a:p>
          <a:p>
            <a:pPr>
              <a:defRPr sz="1800">
                <a:latin typeface="Calibri"/>
              </a:defRPr>
            </a:pPr>
            <a:r>
              <a:t>Step 4: Output</a:t>
            </a:r>
          </a:p>
          <a:p>
            <a:pPr>
              <a:defRPr sz="1800">
                <a:latin typeface="Calibri"/>
              </a:defRPr>
            </a:pPr>
            <a:r>
              <a:t>• Prediction: Cat (95% confidence)</a:t>
            </a:r>
          </a:p>
          <a:p>
            <a:pPr>
              <a:defRPr sz="1800">
                <a:latin typeface="Calibri"/>
              </a:defRPr>
            </a:pPr>
            <a:endParaRPr/>
          </a:p>
          <a:p>
            <a:pPr>
              <a:defRPr sz="1800">
                <a:latin typeface="Calibri"/>
              </a:defRPr>
            </a:pPr>
            <a:r>
              <a:t>Real system:</a:t>
            </a:r>
          </a:p>
          <a:p>
            <a:pPr>
              <a:defRPr sz="1800">
                <a:latin typeface="Calibri"/>
              </a:defRPr>
            </a:pPr>
            <a:r>
              <a:t>• Processes in milliseconds</a:t>
            </a:r>
          </a:p>
          <a:p>
            <a:pPr>
              <a:defRPr sz="1800">
                <a:latin typeface="Calibri"/>
              </a:defRPr>
            </a:pPr>
            <a:r>
              <a:t>• Can handle thousands of images</a:t>
            </a:r>
          </a:p>
          <a:p>
            <a:br/>
            <a:r>
              <a:t>[Visual Suggestion: Complete flowchart: Image → Features → Classifier → Output]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Student Example: Grade Prediction</a:t>
            </a:r>
          </a:p>
        </p:txBody>
      </p:sp>
      <p:sp>
        <p:nvSpPr>
          <p:cNvPr id="3" name="Content Placeholder 2"/>
          <p:cNvSpPr>
            <a:spLocks noGrp="1"/>
          </p:cNvSpPr>
          <p:nvPr>
            <p:ph idx="1"/>
          </p:nvPr>
        </p:nvSpPr>
        <p:spPr/>
        <p:txBody>
          <a:bodyPr wrap="square">
            <a:normAutofit fontScale="62500" lnSpcReduction="20000"/>
          </a:bodyPr>
          <a:lstStyle/>
          <a:p>
            <a:pPr>
              <a:defRPr sz="1800">
                <a:latin typeface="Calibri"/>
              </a:defRPr>
            </a:pPr>
            <a:r>
              <a:t>Problem:</a:t>
            </a:r>
          </a:p>
          <a:p>
            <a:pPr>
              <a:defRPr sz="1800">
                <a:latin typeface="Calibri"/>
              </a:defRPr>
            </a:pPr>
            <a:r>
              <a:t>• Predict if student will pass or fail</a:t>
            </a:r>
          </a:p>
          <a:p>
            <a:pPr>
              <a:defRPr sz="1800">
                <a:latin typeface="Calibri"/>
              </a:defRPr>
            </a:pPr>
            <a:endParaRPr/>
          </a:p>
          <a:p>
            <a:pPr>
              <a:defRPr sz="1800">
                <a:latin typeface="Calibri"/>
              </a:defRPr>
            </a:pPr>
            <a:r>
              <a:t>Features:</a:t>
            </a:r>
          </a:p>
          <a:p>
            <a:pPr>
              <a:defRPr sz="1800">
                <a:latin typeface="Calibri"/>
              </a:defRPr>
            </a:pPr>
            <a:r>
              <a:t>• Attendance: 85%</a:t>
            </a:r>
          </a:p>
          <a:p>
            <a:pPr>
              <a:defRPr sz="1800">
                <a:latin typeface="Calibri"/>
              </a:defRPr>
            </a:pPr>
            <a:r>
              <a:t>• Assignment average: 78</a:t>
            </a:r>
          </a:p>
          <a:p>
            <a:pPr>
              <a:defRPr sz="1800">
                <a:latin typeface="Calibri"/>
              </a:defRPr>
            </a:pPr>
            <a:r>
              <a:t>• Midterm score: 82</a:t>
            </a:r>
          </a:p>
          <a:p>
            <a:pPr>
              <a:defRPr sz="1800">
                <a:latin typeface="Calibri"/>
              </a:defRPr>
            </a:pPr>
            <a:r>
              <a:t>• Study hours per week: 15</a:t>
            </a:r>
          </a:p>
          <a:p>
            <a:pPr>
              <a:defRPr sz="1800">
                <a:latin typeface="Calibri"/>
              </a:defRPr>
            </a:pPr>
            <a:endParaRPr/>
          </a:p>
          <a:p>
            <a:pPr>
              <a:defRPr sz="1800">
                <a:latin typeface="Calibri"/>
              </a:defRPr>
            </a:pPr>
            <a:r>
              <a:t>Classification:</a:t>
            </a:r>
          </a:p>
          <a:p>
            <a:pPr>
              <a:defRPr sz="1800">
                <a:latin typeface="Calibri"/>
              </a:defRPr>
            </a:pPr>
            <a:r>
              <a:t>• Input: Student features</a:t>
            </a:r>
          </a:p>
          <a:p>
            <a:pPr>
              <a:defRPr sz="1800">
                <a:latin typeface="Calibri"/>
              </a:defRPr>
            </a:pPr>
            <a:r>
              <a:t>• Output: Pass or Fail</a:t>
            </a:r>
          </a:p>
          <a:p>
            <a:pPr>
              <a:defRPr sz="1800">
                <a:latin typeface="Calibri"/>
              </a:defRPr>
            </a:pPr>
            <a:endParaRPr/>
          </a:p>
          <a:p>
            <a:pPr>
              <a:defRPr sz="1800">
                <a:latin typeface="Calibri"/>
              </a:defRPr>
            </a:pPr>
            <a:r>
              <a:t>How it helps:</a:t>
            </a:r>
          </a:p>
          <a:p>
            <a:pPr>
              <a:defRPr sz="1800">
                <a:latin typeface="Calibri"/>
              </a:defRPr>
            </a:pPr>
            <a:r>
              <a:t>• Identify at-risk students early</a:t>
            </a:r>
          </a:p>
          <a:p>
            <a:pPr>
              <a:defRPr sz="1800">
                <a:latin typeface="Calibri"/>
              </a:defRPr>
            </a:pPr>
            <a:r>
              <a:t>• Provide extra support</a:t>
            </a:r>
          </a:p>
          <a:p>
            <a:pPr>
              <a:defRPr sz="1800">
                <a:latin typeface="Calibri"/>
              </a:defRPr>
            </a:pPr>
            <a:r>
              <a:t>• Improve learning outcomes</a:t>
            </a:r>
          </a:p>
          <a:p>
            <a:pPr>
              <a:defRPr sz="1800">
                <a:latin typeface="Calibri"/>
              </a:defRPr>
            </a:pPr>
            <a:endParaRPr/>
          </a:p>
          <a:p>
            <a:pPr>
              <a:defRPr sz="1800">
                <a:latin typeface="Calibri"/>
              </a:defRPr>
            </a:pPr>
            <a:r>
              <a:t>Real application:</a:t>
            </a:r>
          </a:p>
          <a:p>
            <a:pPr>
              <a:defRPr sz="1800">
                <a:latin typeface="Calibri"/>
              </a:defRPr>
            </a:pPr>
            <a:r>
              <a:t>• Used in many universities</a:t>
            </a:r>
          </a:p>
          <a:p>
            <a:pPr>
              <a:defRPr sz="1800">
                <a:latin typeface="Calibri"/>
              </a:defRPr>
            </a:pPr>
            <a:r>
              <a:t>• Helps improve student success</a:t>
            </a:r>
          </a:p>
          <a:p>
            <a:br/>
            <a:r>
              <a:t>[Visual Suggestion: Diagram: Student data → Features → Classifier → Pass/Fail]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2: Key Takeaways</a:t>
            </a:r>
          </a:p>
        </p:txBody>
      </p:sp>
      <p:sp>
        <p:nvSpPr>
          <p:cNvPr id="3" name="Content Placeholder 2"/>
          <p:cNvSpPr>
            <a:spLocks noGrp="1"/>
          </p:cNvSpPr>
          <p:nvPr>
            <p:ph idx="1"/>
          </p:nvPr>
        </p:nvSpPr>
        <p:spPr/>
        <p:txBody>
          <a:bodyPr wrap="square">
            <a:normAutofit fontScale="77500" lnSpcReduction="20000"/>
          </a:bodyPr>
          <a:lstStyle/>
          <a:p>
            <a:pPr>
              <a:defRPr sz="1800">
                <a:latin typeface="Calibri"/>
              </a:defRPr>
            </a:pPr>
            <a:r>
              <a:t>What we learned:</a:t>
            </a:r>
          </a:p>
          <a:p>
            <a:pPr>
              <a:defRPr sz="1800">
                <a:latin typeface="Calibri"/>
              </a:defRPr>
            </a:pPr>
            <a:endParaRPr/>
          </a:p>
          <a:p>
            <a:pPr>
              <a:defRPr sz="1800">
                <a:latin typeface="Calibri"/>
              </a:defRPr>
            </a:pPr>
            <a:r>
              <a:t>✓ Features = Important characteristics of data</a:t>
            </a:r>
          </a:p>
          <a:p>
            <a:pPr>
              <a:defRPr sz="1800">
                <a:latin typeface="Calibri"/>
              </a:defRPr>
            </a:pPr>
            <a:r>
              <a:t>✓ Feature extraction simplifies complex data</a:t>
            </a:r>
          </a:p>
          <a:p>
            <a:pPr>
              <a:defRPr sz="1800">
                <a:latin typeface="Calibri"/>
              </a:defRPr>
            </a:pPr>
            <a:r>
              <a:t>✓ Classification = Putting data into categories</a:t>
            </a:r>
          </a:p>
          <a:p>
            <a:pPr>
              <a:defRPr sz="1800">
                <a:latin typeface="Calibri"/>
              </a:defRPr>
            </a:pPr>
            <a:r>
              <a:t>✓ Binary (2 classes) vs Multi-class (many classes)</a:t>
            </a:r>
          </a:p>
          <a:p>
            <a:pPr>
              <a:defRPr sz="1800">
                <a:latin typeface="Calibri"/>
              </a:defRPr>
            </a:pPr>
            <a:r>
              <a:t>✓ Common classifiers: KNN, Decision Tree, Logistic Regression</a:t>
            </a:r>
          </a:p>
          <a:p>
            <a:pPr>
              <a:defRPr sz="1800">
                <a:latin typeface="Calibri"/>
              </a:defRPr>
            </a:pPr>
            <a:endParaRPr/>
          </a:p>
          <a:p>
            <a:pPr>
              <a:defRPr sz="1800">
                <a:latin typeface="Calibri"/>
              </a:defRPr>
            </a:pPr>
            <a:r>
              <a:t>Complete process:</a:t>
            </a:r>
          </a:p>
          <a:p>
            <a:pPr>
              <a:defRPr sz="1800">
                <a:latin typeface="Calibri"/>
              </a:defRPr>
            </a:pPr>
            <a:r>
              <a:t>Data → Feature Extraction → Classification → Prediction</a:t>
            </a:r>
          </a:p>
          <a:p>
            <a:pPr>
              <a:defRPr sz="1800">
                <a:latin typeface="Calibri"/>
              </a:defRPr>
            </a:pPr>
            <a:endParaRPr/>
          </a:p>
          <a:p>
            <a:pPr>
              <a:defRPr sz="1800">
                <a:latin typeface="Calibri"/>
              </a:defRPr>
            </a:pPr>
            <a:r>
              <a:t>Next steps:</a:t>
            </a:r>
          </a:p>
          <a:p>
            <a:pPr>
              <a:defRPr sz="1800">
                <a:latin typeface="Calibri"/>
              </a:defRPr>
            </a:pPr>
            <a:r>
              <a:t>→ Practice with real datasets</a:t>
            </a:r>
          </a:p>
          <a:p>
            <a:pPr>
              <a:defRPr sz="1800">
                <a:latin typeface="Calibri"/>
              </a:defRPr>
            </a:pPr>
            <a:r>
              <a:t>→ Try building your own classifier</a:t>
            </a:r>
          </a:p>
          <a:p>
            <a:pPr>
              <a:defRPr sz="1800">
                <a:latin typeface="Calibri"/>
              </a:defRPr>
            </a:pPr>
            <a:r>
              <a:t>→ Explore more ML topics</a:t>
            </a:r>
          </a:p>
          <a:p>
            <a:br/>
            <a:r>
              <a:t>[Visual Suggestion: Summary diagram, checkmark icons]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Summary</a:t>
            </a:r>
          </a:p>
        </p:txBody>
      </p:sp>
      <p:sp>
        <p:nvSpPr>
          <p:cNvPr id="3" name="Content Placeholder 2"/>
          <p:cNvSpPr>
            <a:spLocks noGrp="1"/>
          </p:cNvSpPr>
          <p:nvPr>
            <p:ph idx="1"/>
          </p:nvPr>
        </p:nvSpPr>
        <p:spPr/>
        <p:txBody>
          <a:bodyPr wrap="square">
            <a:normAutofit fontScale="77500" lnSpcReduction="20000"/>
          </a:bodyPr>
          <a:lstStyle/>
          <a:p>
            <a:pPr>
              <a:defRPr sz="1800">
                <a:latin typeface="Calibri"/>
              </a:defRPr>
            </a:pPr>
            <a:r>
              <a:t>Today we covered:</a:t>
            </a:r>
          </a:p>
          <a:p>
            <a:pPr>
              <a:defRPr sz="1800">
                <a:latin typeface="Calibri"/>
              </a:defRPr>
            </a:pPr>
            <a:endParaRPr/>
          </a:p>
          <a:p>
            <a:pPr>
              <a:defRPr sz="1800">
                <a:latin typeface="Calibri"/>
              </a:defRPr>
            </a:pPr>
            <a:r>
              <a:t>Part 1: Introduction to ML</a:t>
            </a:r>
          </a:p>
          <a:p>
            <a:pPr>
              <a:defRPr sz="1800">
                <a:latin typeface="Calibri"/>
              </a:defRPr>
            </a:pPr>
            <a:r>
              <a:t>• What is ML and why we need it</a:t>
            </a:r>
          </a:p>
          <a:p>
            <a:pPr>
              <a:defRPr sz="1800">
                <a:latin typeface="Calibri"/>
              </a:defRPr>
            </a:pPr>
            <a:r>
              <a:t>• Types: Supervised, Unsupervised, Reinforcement</a:t>
            </a:r>
          </a:p>
          <a:p>
            <a:pPr>
              <a:defRPr sz="1800">
                <a:latin typeface="Calibri"/>
              </a:defRPr>
            </a:pPr>
            <a:r>
              <a:t>• Real-world applications</a:t>
            </a:r>
          </a:p>
          <a:p>
            <a:pPr>
              <a:defRPr sz="1800">
                <a:latin typeface="Calibri"/>
              </a:defRPr>
            </a:pPr>
            <a:r>
              <a:t>• ML workflow</a:t>
            </a:r>
          </a:p>
          <a:p>
            <a:pPr>
              <a:defRPr sz="1800">
                <a:latin typeface="Calibri"/>
              </a:defRPr>
            </a:pPr>
            <a:endParaRPr/>
          </a:p>
          <a:p>
            <a:pPr>
              <a:defRPr sz="1800">
                <a:latin typeface="Calibri"/>
              </a:defRPr>
            </a:pPr>
            <a:r>
              <a:t>Part 2: Feature Extraction &amp; Classification</a:t>
            </a:r>
          </a:p>
          <a:p>
            <a:pPr>
              <a:defRPr sz="1800">
                <a:latin typeface="Calibri"/>
              </a:defRPr>
            </a:pPr>
            <a:r>
              <a:t>• Understanding data and features</a:t>
            </a:r>
          </a:p>
          <a:p>
            <a:pPr>
              <a:defRPr sz="1800">
                <a:latin typeface="Calibri"/>
              </a:defRPr>
            </a:pPr>
            <a:r>
              <a:t>• Feature extraction methods</a:t>
            </a:r>
          </a:p>
          <a:p>
            <a:pPr>
              <a:defRPr sz="1800">
                <a:latin typeface="Calibri"/>
              </a:defRPr>
            </a:pPr>
            <a:r>
              <a:t>• Classification concepts</a:t>
            </a:r>
          </a:p>
          <a:p>
            <a:pPr>
              <a:defRPr sz="1800">
                <a:latin typeface="Calibri"/>
              </a:defRPr>
            </a:pPr>
            <a:r>
              <a:t>• Common classifiers</a:t>
            </a:r>
          </a:p>
          <a:p>
            <a:pPr>
              <a:defRPr sz="1800">
                <a:latin typeface="Calibri"/>
              </a:defRPr>
            </a:pPr>
            <a:endParaRPr/>
          </a:p>
          <a:p>
            <a:pPr>
              <a:defRPr sz="1800">
                <a:latin typeface="Calibri"/>
              </a:defRPr>
            </a:pPr>
            <a:r>
              <a:t>Key message:</a:t>
            </a:r>
          </a:p>
          <a:p>
            <a:pPr>
              <a:defRPr sz="1800">
                <a:latin typeface="Calibri"/>
              </a:defRPr>
            </a:pPr>
            <a:r>
              <a:t>ML is about learning patterns from data to make predictions</a:t>
            </a:r>
          </a:p>
          <a:p>
            <a:br/>
            <a:r>
              <a:t>[Visual Suggestion: Summary diagram connecting all concepts]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 &amp; Next Steps</a:t>
            </a:r>
          </a:p>
        </p:txBody>
      </p:sp>
      <p:sp>
        <p:nvSpPr>
          <p:cNvPr id="3" name="Content Placeholder 2"/>
          <p:cNvSpPr>
            <a:spLocks noGrp="1"/>
          </p:cNvSpPr>
          <p:nvPr>
            <p:ph idx="1"/>
          </p:nvPr>
        </p:nvSpPr>
        <p:spPr/>
        <p:txBody>
          <a:bodyPr wrap="square">
            <a:normAutofit fontScale="70000" lnSpcReduction="20000"/>
          </a:bodyPr>
          <a:lstStyle/>
          <a:p>
            <a:pPr>
              <a:defRPr sz="1800">
                <a:latin typeface="Calibri"/>
              </a:defRPr>
            </a:pPr>
            <a:r>
              <a:t>Questions?</a:t>
            </a:r>
          </a:p>
          <a:p>
            <a:pPr>
              <a:defRPr sz="1800">
                <a:latin typeface="Calibri"/>
              </a:defRPr>
            </a:pPr>
            <a:endParaRPr/>
          </a:p>
          <a:p>
            <a:pPr>
              <a:defRPr sz="1800">
                <a:latin typeface="Calibri"/>
              </a:defRPr>
            </a:pPr>
            <a:r>
              <a:t>Recommended next topics:</a:t>
            </a:r>
          </a:p>
          <a:p>
            <a:pPr>
              <a:defRPr sz="1800">
                <a:latin typeface="Calibri"/>
              </a:defRPr>
            </a:pPr>
            <a:r>
              <a:t>• Model evaluation (accuracy, precision, recall)</a:t>
            </a:r>
          </a:p>
          <a:p>
            <a:pPr>
              <a:defRPr sz="1800">
                <a:latin typeface="Calibri"/>
              </a:defRPr>
            </a:pPr>
            <a:r>
              <a:t>• More classifiers (SVM, Random Forest)</a:t>
            </a:r>
          </a:p>
          <a:p>
            <a:pPr>
              <a:defRPr sz="1800">
                <a:latin typeface="Calibri"/>
              </a:defRPr>
            </a:pPr>
            <a:r>
              <a:t>• Deep Learning basics</a:t>
            </a:r>
          </a:p>
          <a:p>
            <a:pPr>
              <a:defRPr sz="1800">
                <a:latin typeface="Calibri"/>
              </a:defRPr>
            </a:pPr>
            <a:r>
              <a:t>• Practical projects</a:t>
            </a:r>
          </a:p>
          <a:p>
            <a:pPr>
              <a:defRPr sz="1800">
                <a:latin typeface="Calibri"/>
              </a:defRPr>
            </a:pPr>
            <a:endParaRPr/>
          </a:p>
          <a:p>
            <a:pPr>
              <a:defRPr sz="1800">
                <a:latin typeface="Calibri"/>
              </a:defRPr>
            </a:pPr>
            <a:r>
              <a:t>Resources:</a:t>
            </a:r>
          </a:p>
          <a:p>
            <a:pPr>
              <a:defRPr sz="1800">
                <a:latin typeface="Calibri"/>
              </a:defRPr>
            </a:pPr>
            <a:r>
              <a:t>• Practice with datasets (Kaggle, UCI)</a:t>
            </a:r>
          </a:p>
          <a:p>
            <a:pPr>
              <a:defRPr sz="1800">
                <a:latin typeface="Calibri"/>
              </a:defRPr>
            </a:pPr>
            <a:r>
              <a:t>• Try Python libraries (scikit-learn)</a:t>
            </a:r>
          </a:p>
          <a:p>
            <a:pPr>
              <a:defRPr sz="1800">
                <a:latin typeface="Calibri"/>
              </a:defRPr>
            </a:pPr>
            <a:r>
              <a:t>• Build simple projects</a:t>
            </a:r>
          </a:p>
          <a:p>
            <a:pPr>
              <a:defRPr sz="1800">
                <a:latin typeface="Calibri"/>
              </a:defRPr>
            </a:pPr>
            <a:endParaRPr/>
          </a:p>
          <a:p>
            <a:pPr>
              <a:defRPr sz="1800">
                <a:latin typeface="Calibri"/>
              </a:defRPr>
            </a:pPr>
            <a:r>
              <a:t>Thank you!</a:t>
            </a:r>
          </a:p>
          <a:p>
            <a:pPr>
              <a:defRPr sz="1800">
                <a:latin typeface="Calibri"/>
              </a:defRPr>
            </a:pPr>
            <a:endParaRPr/>
          </a:p>
          <a:p>
            <a:pPr>
              <a:defRPr sz="1800">
                <a:latin typeface="Calibri"/>
              </a:defRPr>
            </a:pPr>
            <a:r>
              <a:t>Remember:</a:t>
            </a:r>
          </a:p>
          <a:p>
            <a:pPr>
              <a:defRPr sz="1800">
                <a:latin typeface="Calibri"/>
              </a:defRPr>
            </a:pPr>
            <a:r>
              <a:t>• Start simple</a:t>
            </a:r>
          </a:p>
          <a:p>
            <a:pPr>
              <a:defRPr sz="1800">
                <a:latin typeface="Calibri"/>
              </a:defRPr>
            </a:pPr>
            <a:r>
              <a:t>• Practice regularly</a:t>
            </a:r>
          </a:p>
          <a:p>
            <a:pPr>
              <a:defRPr sz="1800">
                <a:latin typeface="Calibri"/>
              </a:defRPr>
            </a:pPr>
            <a:r>
              <a:t>• Learn by doing</a:t>
            </a:r>
          </a:p>
          <a:p>
            <a:br/>
            <a:r>
              <a:t>[Visual Suggestion: Question mark icon, resource icons]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1548</TotalTime>
  <Words>2792</Words>
  <Application>Microsoft Office PowerPoint</Application>
  <PresentationFormat>On-screen Show (4:3)</PresentationFormat>
  <Paragraphs>579</Paragraphs>
  <Slides>36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Lecture # 6</vt:lpstr>
      <vt:lpstr>Introduction to Machine Learning</vt:lpstr>
      <vt:lpstr>Introduction to Machine Learning</vt:lpstr>
      <vt:lpstr>What is Machine Learning?</vt:lpstr>
      <vt:lpstr>PowerPoint Presentation</vt:lpstr>
      <vt:lpstr>Traditional Programming Vs ML</vt:lpstr>
      <vt:lpstr>Why do we need Machine Learning?</vt:lpstr>
      <vt:lpstr>Types of Machine Learning</vt:lpstr>
      <vt:lpstr>Supervised Learning</vt:lpstr>
      <vt:lpstr>Types of Machine Learning</vt:lpstr>
      <vt:lpstr>Unsupervised Learning</vt:lpstr>
      <vt:lpstr>Types of Machine Learning</vt:lpstr>
      <vt:lpstr>Reinforcement Learning</vt:lpstr>
      <vt:lpstr>Real-world Example: Email Spam Detection</vt:lpstr>
      <vt:lpstr>Real-world Example: Face Recognition</vt:lpstr>
      <vt:lpstr>Real-world Example: Recommendation Systems</vt:lpstr>
      <vt:lpstr>Machine Learning Workflow</vt:lpstr>
      <vt:lpstr>Common Machine Learning Applications</vt:lpstr>
      <vt:lpstr>Key Takeaways</vt:lpstr>
      <vt:lpstr>Feature Extraction &amp; Classification</vt:lpstr>
      <vt:lpstr>What is Data?</vt:lpstr>
      <vt:lpstr>What are Features?</vt:lpstr>
      <vt:lpstr>Why Feature Extraction is Important?</vt:lpstr>
      <vt:lpstr>What is Classification?</vt:lpstr>
      <vt:lpstr>PowerPoint Presentation</vt:lpstr>
      <vt:lpstr>Classification Example: Spam Detection</vt:lpstr>
      <vt:lpstr>Classification Example: Disease Detection</vt:lpstr>
      <vt:lpstr>Common Classifiers (High-Level Overview)</vt:lpstr>
      <vt:lpstr>K-Nearest Neighbors (KNN) - Intuition</vt:lpstr>
      <vt:lpstr>Decision Tree</vt:lpstr>
      <vt:lpstr>Logistic Regression (Concept Only)</vt:lpstr>
      <vt:lpstr>End-to-End Example: Image Classification</vt:lpstr>
      <vt:lpstr>Student Example: Grade Prediction</vt:lpstr>
      <vt:lpstr>Part 2: Key Takeaways</vt:lpstr>
      <vt:lpstr>Course Summary</vt:lpstr>
      <vt:lpstr>Questions &amp;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Hussain</cp:lastModifiedBy>
  <cp:revision>27</cp:revision>
  <dcterms:created xsi:type="dcterms:W3CDTF">2013-01-27T09:14:16Z</dcterms:created>
  <dcterms:modified xsi:type="dcterms:W3CDTF">2026-01-02T05:21:42Z</dcterms:modified>
  <cp:category/>
</cp:coreProperties>
</file>