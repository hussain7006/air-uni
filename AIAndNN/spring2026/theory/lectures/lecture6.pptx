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92" r:id="rId4"/>
    <p:sldId id="258" r:id="rId5"/>
    <p:sldId id="260" r:id="rId6"/>
    <p:sldId id="294" r:id="rId7"/>
    <p:sldId id="259" r:id="rId8"/>
    <p:sldId id="261" r:id="rId9"/>
    <p:sldId id="262" r:id="rId10"/>
    <p:sldId id="295" r:id="rId11"/>
    <p:sldId id="263" r:id="rId12"/>
    <p:sldId id="296" r:id="rId13"/>
    <p:sldId id="264" r:id="rId14"/>
    <p:sldId id="265" r:id="rId15"/>
    <p:sldId id="266" r:id="rId16"/>
    <p:sldId id="267" r:id="rId17"/>
    <p:sldId id="268" r:id="rId18"/>
    <p:sldId id="270"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138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A5460-0223-4DAF-A138-9183965676CE}" type="datetimeFigureOut">
              <a:rPr lang="en-US" smtClean="0"/>
              <a:t>4/29/2026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D17024-63D9-4887-B91B-F9DC8F91D749}" type="slidenum">
              <a:rPr lang="en-US" smtClean="0"/>
              <a:t>‹#›</a:t>
            </a:fld>
            <a:endParaRPr lang="en-US"/>
          </a:p>
        </p:txBody>
      </p:sp>
    </p:spTree>
    <p:extLst>
      <p:ext uri="{BB962C8B-B14F-4D97-AF65-F5344CB8AC3E}">
        <p14:creationId xmlns:p14="http://schemas.microsoft.com/office/powerpoint/2010/main" val="2853436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D17024-63D9-4887-B91B-F9DC8F91D749}" type="slidenum">
              <a:rPr lang="en-US" smtClean="0"/>
              <a:t>4</a:t>
            </a:fld>
            <a:endParaRPr lang="en-US"/>
          </a:p>
        </p:txBody>
      </p:sp>
    </p:spTree>
    <p:extLst>
      <p:ext uri="{BB962C8B-B14F-4D97-AF65-F5344CB8AC3E}">
        <p14:creationId xmlns:p14="http://schemas.microsoft.com/office/powerpoint/2010/main" val="1188164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fi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Lecture # 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Introduction to Machine Learning</a:t>
            </a:r>
          </a:p>
        </p:txBody>
      </p:sp>
      <p:pic>
        <p:nvPicPr>
          <p:cNvPr id="9" name="Picture 8">
            <a:extLst>
              <a:ext uri="{FF2B5EF4-FFF2-40B4-BE49-F238E27FC236}">
                <a16:creationId xmlns:a16="http://schemas.microsoft.com/office/drawing/2014/main" id="{BFDB3140-BD08-9D17-A138-49062317120F}"/>
              </a:ext>
            </a:extLst>
          </p:cNvPr>
          <p:cNvPicPr>
            <a:picLocks noChangeAspect="1"/>
          </p:cNvPicPr>
          <p:nvPr/>
        </p:nvPicPr>
        <p:blipFill>
          <a:blip r:embed="rId2"/>
          <a:stretch>
            <a:fillRect/>
          </a:stretch>
        </p:blipFill>
        <p:spPr>
          <a:xfrm>
            <a:off x="1995487" y="1417638"/>
            <a:ext cx="5153026" cy="50631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7B23-99F5-81AD-9BD3-1F8ABED54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E9F38-099F-375B-5CA9-93462956AE5C}"/>
              </a:ext>
            </a:extLst>
          </p:cNvPr>
          <p:cNvSpPr>
            <a:spLocks noGrp="1"/>
          </p:cNvSpPr>
          <p:nvPr>
            <p:ph type="title"/>
          </p:nvPr>
        </p:nvSpPr>
        <p:spPr/>
        <p:txBody>
          <a:bodyPr>
            <a:normAutofit/>
          </a:bodyPr>
          <a:lstStyle/>
          <a:p>
            <a:r>
              <a:rPr dirty="0"/>
              <a:t>Introduction to Machine Learning</a:t>
            </a:r>
          </a:p>
        </p:txBody>
      </p:sp>
      <p:sp>
        <p:nvSpPr>
          <p:cNvPr id="3" name="Content Placeholder 2">
            <a:extLst>
              <a:ext uri="{FF2B5EF4-FFF2-40B4-BE49-F238E27FC236}">
                <a16:creationId xmlns:a16="http://schemas.microsoft.com/office/drawing/2014/main" id="{121AFE90-35D4-474E-9775-62EC91018A78}"/>
              </a:ext>
            </a:extLst>
          </p:cNvPr>
          <p:cNvSpPr>
            <a:spLocks noGrp="1"/>
          </p:cNvSpPr>
          <p:nvPr>
            <p:ph idx="1"/>
          </p:nvPr>
        </p:nvSpPr>
        <p:spPr>
          <a:xfrm>
            <a:off x="457200" y="1600200"/>
            <a:ext cx="5181599" cy="4525963"/>
          </a:xfrm>
        </p:spPr>
        <p:txBody>
          <a:bodyPr wrap="square"/>
          <a:lstStyle/>
          <a:p>
            <a:pPr marL="0" indent="0" algn="just">
              <a:buNone/>
              <a:defRPr sz="1800">
                <a:latin typeface="Calibri"/>
              </a:defRPr>
            </a:pPr>
            <a:r>
              <a:rPr sz="2000" dirty="0"/>
              <a:t>• </a:t>
            </a:r>
            <a:r>
              <a:rPr lang="en-US" sz="2000" dirty="0"/>
              <a:t>Machine Learning (ML) is a field of Artificial Intelligence that enables computers to learn from data without being explicitly programmed.</a:t>
            </a:r>
          </a:p>
          <a:p>
            <a:pPr marL="0" indent="0" algn="just">
              <a:buNone/>
              <a:defRPr sz="1800">
                <a:latin typeface="Calibri"/>
              </a:defRPr>
            </a:pPr>
            <a:endParaRPr sz="2000" dirty="0"/>
          </a:p>
          <a:p>
            <a:pPr marL="0" indent="0" algn="just">
              <a:buNone/>
              <a:defRPr sz="1800">
                <a:latin typeface="Calibri"/>
              </a:defRPr>
            </a:pPr>
            <a:r>
              <a:rPr sz="2000" dirty="0"/>
              <a:t>• </a:t>
            </a:r>
            <a:r>
              <a:rPr lang="en-US" sz="2000" dirty="0"/>
              <a:t>Instead of writing rules, the system finds patterns from data and makes decisions.</a:t>
            </a:r>
          </a:p>
          <a:p>
            <a:pPr marL="0" indent="0" algn="just">
              <a:buNone/>
              <a:defRPr sz="1800">
                <a:latin typeface="Calibri"/>
              </a:defRPr>
            </a:pPr>
            <a:endParaRPr sz="2000" dirty="0"/>
          </a:p>
          <a:p>
            <a:pPr marL="0" indent="0">
              <a:buNone/>
              <a:defRPr sz="1800">
                <a:latin typeface="Calibri"/>
              </a:defRPr>
            </a:pPr>
            <a:r>
              <a:rPr sz="2000" dirty="0"/>
              <a:t>• </a:t>
            </a:r>
            <a:r>
              <a:rPr lang="en-US" sz="2000" dirty="0"/>
              <a:t>The more data it learns from, the better its performance becomes.</a:t>
            </a:r>
          </a:p>
          <a:p>
            <a:pPr marL="0" indent="0">
              <a:buNone/>
              <a:defRPr sz="1800">
                <a:latin typeface="Calibri"/>
              </a:defRPr>
            </a:pPr>
            <a:endParaRPr dirty="0"/>
          </a:p>
        </p:txBody>
      </p:sp>
      <p:pic>
        <p:nvPicPr>
          <p:cNvPr id="5" name="Picture 4">
            <a:extLst>
              <a:ext uri="{FF2B5EF4-FFF2-40B4-BE49-F238E27FC236}">
                <a16:creationId xmlns:a16="http://schemas.microsoft.com/office/drawing/2014/main" id="{066DACDB-C793-C51B-2187-8DF2D61964DB}"/>
              </a:ext>
            </a:extLst>
          </p:cNvPr>
          <p:cNvPicPr>
            <a:picLocks noChangeAspect="1"/>
          </p:cNvPicPr>
          <p:nvPr/>
        </p:nvPicPr>
        <p:blipFill>
          <a:blip r:embed="rId2"/>
          <a:stretch>
            <a:fillRect/>
          </a:stretch>
        </p:blipFill>
        <p:spPr>
          <a:xfrm>
            <a:off x="6000749" y="1666875"/>
            <a:ext cx="2552699" cy="2552699"/>
          </a:xfrm>
          <a:prstGeom prst="rect">
            <a:avLst/>
          </a:prstGeom>
        </p:spPr>
      </p:pic>
    </p:spTree>
    <p:extLst>
      <p:ext uri="{BB962C8B-B14F-4D97-AF65-F5344CB8AC3E}">
        <p14:creationId xmlns:p14="http://schemas.microsoft.com/office/powerpoint/2010/main" val="1848459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Machine Learning?</a:t>
            </a:r>
          </a:p>
        </p:txBody>
      </p:sp>
      <p:sp>
        <p:nvSpPr>
          <p:cNvPr id="3" name="Content Placeholder 2"/>
          <p:cNvSpPr>
            <a:spLocks noGrp="1"/>
          </p:cNvSpPr>
          <p:nvPr>
            <p:ph idx="1"/>
          </p:nvPr>
        </p:nvSpPr>
        <p:spPr>
          <a:xfrm>
            <a:off x="457200" y="1600200"/>
            <a:ext cx="8229600" cy="4525963"/>
          </a:xfrm>
        </p:spPr>
        <p:txBody>
          <a:bodyPr wrap="square">
            <a:normAutofit/>
          </a:bodyPr>
          <a:lstStyle/>
          <a:p>
            <a:pPr marL="0" indent="0" algn="just">
              <a:buNone/>
              <a:defRPr sz="1800">
                <a:latin typeface="Calibri"/>
              </a:defRPr>
            </a:pPr>
            <a:r>
              <a:rPr sz="2000" dirty="0"/>
              <a:t>• Machine Learning is teaching computers to learn from data</a:t>
            </a:r>
          </a:p>
          <a:p>
            <a:pPr marL="0" indent="0" algn="just">
              <a:buNone/>
              <a:defRPr sz="1800">
                <a:latin typeface="Calibri"/>
              </a:defRPr>
            </a:pPr>
            <a:r>
              <a:rPr sz="2000" dirty="0"/>
              <a:t>• Instead of programming every rule, we let the computer find patterns</a:t>
            </a:r>
          </a:p>
          <a:p>
            <a:pPr algn="just">
              <a:defRPr sz="1800">
                <a:latin typeface="Calibri"/>
              </a:defRPr>
            </a:pPr>
            <a:endParaRPr sz="2000" dirty="0"/>
          </a:p>
          <a:p>
            <a:pPr marL="0" indent="0" algn="just">
              <a:buNone/>
              <a:defRPr sz="1800">
                <a:latin typeface="Calibri"/>
              </a:defRPr>
            </a:pPr>
            <a:r>
              <a:rPr sz="2000" b="1" dirty="0"/>
              <a:t>Think of it like this:</a:t>
            </a:r>
          </a:p>
          <a:p>
            <a:pPr marL="0" indent="0" algn="just">
              <a:buNone/>
              <a:defRPr sz="1800">
                <a:latin typeface="Calibri"/>
              </a:defRPr>
            </a:pPr>
            <a:r>
              <a:rPr sz="2000" dirty="0"/>
              <a:t>• Traditional: You teach a child every single rule</a:t>
            </a:r>
          </a:p>
          <a:p>
            <a:pPr marL="0" indent="0" algn="just">
              <a:buNone/>
              <a:defRPr sz="1800">
                <a:latin typeface="Calibri"/>
              </a:defRPr>
            </a:pPr>
            <a:r>
              <a:rPr sz="2000" dirty="0"/>
              <a:t>• ML: You show examples and let them figure out the pattern</a:t>
            </a:r>
          </a:p>
          <a:p>
            <a:pPr algn="just">
              <a:defRPr sz="1800">
                <a:latin typeface="Calibri"/>
              </a:defRPr>
            </a:pPr>
            <a:endParaRPr sz="2000" dirty="0"/>
          </a:p>
          <a:p>
            <a:pPr marL="0" indent="0" algn="just">
              <a:buNone/>
              <a:defRPr sz="1800">
                <a:latin typeface="Calibri"/>
              </a:defRPr>
            </a:pPr>
            <a:r>
              <a:rPr sz="2000" dirty="0"/>
              <a:t>Example:</a:t>
            </a:r>
          </a:p>
          <a:p>
            <a:pPr marL="0" indent="0" algn="just">
              <a:buNone/>
              <a:defRPr sz="1800">
                <a:latin typeface="Calibri"/>
              </a:defRPr>
            </a:pPr>
            <a:r>
              <a:rPr sz="2000" dirty="0"/>
              <a:t>• Show 1000 cat photos → Computer learns what a cat looks like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200" b="1">
                <a:latin typeface="Calibri"/>
              </a:defRPr>
            </a:pPr>
            <a:r>
              <a:t>Traditional Programming vs Machine Learning</a:t>
            </a:r>
          </a:p>
        </p:txBody>
      </p:sp>
      <p:sp>
        <p:nvSpPr>
          <p:cNvPr id="3" name="TextBox 2"/>
          <p:cNvSpPr txBox="1"/>
          <p:nvPr/>
        </p:nvSpPr>
        <p:spPr>
          <a:xfrm>
            <a:off x="457200" y="1371600"/>
            <a:ext cx="4114800" cy="4401205"/>
          </a:xfrm>
          <a:prstGeom prst="rect">
            <a:avLst/>
          </a:prstGeom>
          <a:noFill/>
        </p:spPr>
        <p:txBody>
          <a:bodyPr wrap="square">
            <a:spAutoFit/>
          </a:bodyPr>
          <a:lstStyle/>
          <a:p>
            <a:pPr>
              <a:defRPr sz="1600">
                <a:latin typeface="Calibri"/>
              </a:defRPr>
            </a:pPr>
            <a:r>
              <a:rPr sz="2000" dirty="0"/>
              <a:t>Traditional Programming:</a:t>
            </a:r>
          </a:p>
          <a:p>
            <a:pPr>
              <a:defRPr sz="1600">
                <a:latin typeface="Calibri"/>
              </a:defRPr>
            </a:pPr>
            <a:endParaRPr sz="2000" dirty="0"/>
          </a:p>
          <a:p>
            <a:pPr>
              <a:defRPr sz="1600">
                <a:latin typeface="Calibri"/>
              </a:defRPr>
            </a:pPr>
            <a:r>
              <a:rPr sz="2000" dirty="0"/>
              <a:t>Input + Rules → Output</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Number</a:t>
            </a:r>
          </a:p>
          <a:p>
            <a:pPr>
              <a:defRPr sz="1600">
                <a:latin typeface="Calibri"/>
              </a:defRPr>
            </a:pPr>
            <a:r>
              <a:rPr sz="2000" dirty="0"/>
              <a:t>• Rule: If number &gt; 0, output 'Positive'</a:t>
            </a:r>
          </a:p>
          <a:p>
            <a:pPr>
              <a:defRPr sz="1600">
                <a:latin typeface="Calibri"/>
              </a:defRPr>
            </a:pPr>
            <a:r>
              <a:rPr sz="2000" dirty="0"/>
              <a:t>• Output: 'Positive' or 'Negative'</a:t>
            </a:r>
          </a:p>
          <a:p>
            <a:pPr>
              <a:defRPr sz="1600">
                <a:latin typeface="Calibri"/>
              </a:defRPr>
            </a:pPr>
            <a:endParaRPr sz="2000" dirty="0"/>
          </a:p>
          <a:p>
            <a:pPr>
              <a:defRPr sz="1600">
                <a:latin typeface="Calibri"/>
              </a:defRPr>
            </a:pPr>
            <a:r>
              <a:rPr sz="2000" dirty="0"/>
              <a:t>Limitations:</a:t>
            </a:r>
          </a:p>
          <a:p>
            <a:pPr>
              <a:defRPr sz="1600">
                <a:latin typeface="Calibri"/>
              </a:defRPr>
            </a:pPr>
            <a:r>
              <a:rPr sz="2000" dirty="0"/>
              <a:t>• Need to write all rules</a:t>
            </a:r>
          </a:p>
          <a:p>
            <a:pPr>
              <a:defRPr sz="1600">
                <a:latin typeface="Calibri"/>
              </a:defRPr>
            </a:pPr>
            <a:r>
              <a:rPr sz="2000" dirty="0"/>
              <a:t>• Can't handle complex patterns</a:t>
            </a:r>
          </a:p>
          <a:p>
            <a:pPr>
              <a:defRPr sz="1600">
                <a:latin typeface="Calibri"/>
              </a:defRPr>
            </a:pPr>
            <a:r>
              <a:rPr sz="2000" dirty="0"/>
              <a:t>• Hard to update</a:t>
            </a:r>
          </a:p>
        </p:txBody>
      </p:sp>
      <p:sp>
        <p:nvSpPr>
          <p:cNvPr id="4" name="TextBox 3"/>
          <p:cNvSpPr txBox="1"/>
          <p:nvPr/>
        </p:nvSpPr>
        <p:spPr>
          <a:xfrm>
            <a:off x="5029200" y="1371600"/>
            <a:ext cx="3819832" cy="4401205"/>
          </a:xfrm>
          <a:prstGeom prst="rect">
            <a:avLst/>
          </a:prstGeom>
          <a:noFill/>
        </p:spPr>
        <p:txBody>
          <a:bodyPr wrap="square">
            <a:spAutoFit/>
          </a:bodyPr>
          <a:lstStyle/>
          <a:p>
            <a:pPr>
              <a:defRPr sz="1600">
                <a:latin typeface="Calibri"/>
              </a:defRPr>
            </a:pPr>
            <a:r>
              <a:rPr sz="2000" dirty="0"/>
              <a:t>Machine Learning:</a:t>
            </a:r>
          </a:p>
          <a:p>
            <a:pPr>
              <a:defRPr sz="1600">
                <a:latin typeface="Calibri"/>
              </a:defRPr>
            </a:pPr>
            <a:endParaRPr sz="2000" dirty="0"/>
          </a:p>
          <a:p>
            <a:pPr>
              <a:defRPr sz="1600">
                <a:latin typeface="Calibri"/>
              </a:defRPr>
            </a:pPr>
            <a:r>
              <a:rPr sz="2000" dirty="0"/>
              <a:t>Input + Output → Rules</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1000 cat photos</a:t>
            </a:r>
          </a:p>
          <a:p>
            <a:pPr>
              <a:defRPr sz="1600">
                <a:latin typeface="Calibri"/>
              </a:defRPr>
            </a:pPr>
            <a:r>
              <a:rPr sz="2000" dirty="0"/>
              <a:t>• Output: Labels (cat/not cat)</a:t>
            </a:r>
          </a:p>
          <a:p>
            <a:pPr>
              <a:defRPr sz="1600">
                <a:latin typeface="Calibri"/>
              </a:defRPr>
            </a:pPr>
            <a:r>
              <a:rPr sz="2000" dirty="0"/>
              <a:t>• ML finds the rules automatically</a:t>
            </a:r>
          </a:p>
          <a:p>
            <a:pPr>
              <a:defRPr sz="1600">
                <a:latin typeface="Calibri"/>
              </a:defRPr>
            </a:pPr>
            <a:endParaRPr lang="en-US" sz="2000" dirty="0"/>
          </a:p>
          <a:p>
            <a:pPr>
              <a:defRPr sz="1600">
                <a:latin typeface="Calibri"/>
              </a:defRPr>
            </a:pPr>
            <a:endParaRPr sz="2000" dirty="0"/>
          </a:p>
          <a:p>
            <a:pPr>
              <a:defRPr sz="1600">
                <a:latin typeface="Calibri"/>
              </a:defRPr>
            </a:pPr>
            <a:r>
              <a:rPr sz="2000" dirty="0"/>
              <a:t>Advantages:</a:t>
            </a:r>
          </a:p>
          <a:p>
            <a:pPr>
              <a:defRPr sz="1600">
                <a:latin typeface="Calibri"/>
              </a:defRPr>
            </a:pPr>
            <a:r>
              <a:rPr sz="2000" dirty="0"/>
              <a:t>• Learns from examples</a:t>
            </a:r>
          </a:p>
          <a:p>
            <a:pPr>
              <a:defRPr sz="1600">
                <a:latin typeface="Calibri"/>
              </a:defRPr>
            </a:pPr>
            <a:r>
              <a:rPr sz="2000" dirty="0"/>
              <a:t>• Handles complex patterns</a:t>
            </a:r>
          </a:p>
          <a:p>
            <a:pPr>
              <a:defRPr sz="1600">
                <a:latin typeface="Calibri"/>
              </a:defRPr>
            </a:pPr>
            <a:r>
              <a:rPr sz="2000" dirty="0"/>
              <a:t>• Improves with more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4944E-B94C-3AC5-7189-78AF5906EBD1}"/>
              </a:ext>
            </a:extLst>
          </p:cNvPr>
          <p:cNvPicPr>
            <a:picLocks noChangeAspect="1"/>
          </p:cNvPicPr>
          <p:nvPr/>
        </p:nvPicPr>
        <p:blipFill>
          <a:blip r:embed="rId2"/>
          <a:srcRect l="1983" t="3917" r="2689" b="15167"/>
          <a:stretch>
            <a:fillRect/>
          </a:stretch>
        </p:blipFill>
        <p:spPr>
          <a:xfrm>
            <a:off x="1147604" y="2249406"/>
            <a:ext cx="6848791" cy="3099343"/>
          </a:xfrm>
          <a:prstGeom prst="rect">
            <a:avLst/>
          </a:prstGeom>
        </p:spPr>
      </p:pic>
      <p:sp>
        <p:nvSpPr>
          <p:cNvPr id="4" name="Title 3">
            <a:extLst>
              <a:ext uri="{FF2B5EF4-FFF2-40B4-BE49-F238E27FC236}">
                <a16:creationId xmlns:a16="http://schemas.microsoft.com/office/drawing/2014/main" id="{B382F718-D812-7AB1-82AC-238730D43FF9}"/>
              </a:ext>
            </a:extLst>
          </p:cNvPr>
          <p:cNvSpPr>
            <a:spLocks noGrp="1"/>
          </p:cNvSpPr>
          <p:nvPr>
            <p:ph type="ctrTitle"/>
          </p:nvPr>
        </p:nvSpPr>
        <p:spPr>
          <a:xfrm>
            <a:off x="685800" y="321289"/>
            <a:ext cx="7772400" cy="1470025"/>
          </a:xfrm>
        </p:spPr>
        <p:txBody>
          <a:bodyPr>
            <a:normAutofit/>
          </a:bodyPr>
          <a:lstStyle/>
          <a:p>
            <a:r>
              <a:rPr lang="en-US" dirty="0"/>
              <a:t>Traditional Programming Vs ML</a:t>
            </a:r>
          </a:p>
        </p:txBody>
      </p:sp>
    </p:spTree>
    <p:extLst>
      <p:ext uri="{BB962C8B-B14F-4D97-AF65-F5344CB8AC3E}">
        <p14:creationId xmlns:p14="http://schemas.microsoft.com/office/powerpoint/2010/main" val="205476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Why do we need Machine Learning?</a:t>
            </a:r>
          </a:p>
        </p:txBody>
      </p:sp>
      <p:sp>
        <p:nvSpPr>
          <p:cNvPr id="3" name="Content Placeholder 2"/>
          <p:cNvSpPr>
            <a:spLocks noGrp="1"/>
          </p:cNvSpPr>
          <p:nvPr>
            <p:ph idx="1"/>
          </p:nvPr>
        </p:nvSpPr>
        <p:spPr>
          <a:xfrm>
            <a:off x="457198" y="1628775"/>
            <a:ext cx="6360162" cy="4525963"/>
          </a:xfrm>
        </p:spPr>
        <p:txBody>
          <a:bodyPr wrap="square">
            <a:noAutofit/>
          </a:bodyPr>
          <a:lstStyle/>
          <a:p>
            <a:pPr marL="0" indent="0">
              <a:buNone/>
              <a:defRPr sz="1800">
                <a:latin typeface="Calibri"/>
              </a:defRPr>
            </a:pPr>
            <a:r>
              <a:rPr lang="en-US" sz="1600" b="1" dirty="0"/>
              <a:t>Machine Learning means teaching computers by examples, not by rules.</a:t>
            </a:r>
            <a:endParaRPr sz="1600" b="1" dirty="0"/>
          </a:p>
          <a:p>
            <a:pPr marL="0" indent="0">
              <a:buNone/>
              <a:defRPr sz="1800">
                <a:latin typeface="Calibri"/>
              </a:defRPr>
            </a:pPr>
            <a:r>
              <a:rPr sz="1600" b="1" dirty="0"/>
              <a:t>1. Pattern Recognition</a:t>
            </a:r>
          </a:p>
          <a:p>
            <a:pPr marL="400050" lvl="1" indent="0">
              <a:buNone/>
              <a:defRPr sz="1800">
                <a:latin typeface="Calibri"/>
              </a:defRPr>
            </a:pPr>
            <a:r>
              <a:rPr sz="1600" dirty="0"/>
              <a:t>• Recognizing faces in photos</a:t>
            </a:r>
            <a:endParaRPr lang="en-US" sz="1600" dirty="0"/>
          </a:p>
          <a:p>
            <a:pPr marL="400050" lvl="1" indent="0">
              <a:buNone/>
              <a:defRPr sz="1800">
                <a:latin typeface="Calibri"/>
              </a:defRPr>
            </a:pPr>
            <a:r>
              <a:rPr lang="en-US" sz="1600" dirty="0"/>
              <a:t>• Understanding speech</a:t>
            </a:r>
          </a:p>
          <a:p>
            <a:pPr marL="400050" lvl="1" indent="0">
              <a:buNone/>
              <a:defRPr sz="1800">
                <a:latin typeface="Calibri"/>
              </a:defRPr>
            </a:pPr>
            <a:r>
              <a:rPr lang="en-US" sz="1600" b="1" dirty="0"/>
              <a:t>No fixed rules, so ML learns from examples</a:t>
            </a:r>
          </a:p>
          <a:p>
            <a:pPr marL="400050" lvl="1" indent="0">
              <a:buNone/>
              <a:defRPr sz="1800">
                <a:latin typeface="Calibri"/>
              </a:defRPr>
            </a:pPr>
            <a:endParaRPr sz="1600" dirty="0"/>
          </a:p>
          <a:p>
            <a:pPr marL="0" indent="0">
              <a:buNone/>
              <a:defRPr sz="1800">
                <a:latin typeface="Calibri"/>
              </a:defRPr>
            </a:pPr>
            <a:r>
              <a:rPr sz="1600" b="1" dirty="0"/>
              <a:t>2. Too Many Rules</a:t>
            </a:r>
            <a:endParaRPr lang="en-US" sz="1600" b="1" dirty="0"/>
          </a:p>
          <a:p>
            <a:pPr marL="400050" lvl="1" indent="0">
              <a:buNone/>
              <a:defRPr sz="1800">
                <a:latin typeface="Calibri"/>
              </a:defRPr>
            </a:pPr>
            <a:r>
              <a:rPr lang="en-US" sz="1600" dirty="0"/>
              <a:t>• Email spam: Rules change constantly</a:t>
            </a:r>
          </a:p>
          <a:p>
            <a:pPr marL="400050" lvl="1" indent="0">
              <a:buNone/>
              <a:defRPr sz="1800">
                <a:latin typeface="Calibri"/>
              </a:defRPr>
            </a:pPr>
            <a:r>
              <a:rPr lang="en-US" sz="1600" dirty="0"/>
              <a:t>• Stock market: Millions of factors</a:t>
            </a:r>
          </a:p>
          <a:p>
            <a:pPr marL="400050" lvl="1" indent="0">
              <a:buNone/>
              <a:defRPr sz="1800">
                <a:latin typeface="Calibri"/>
              </a:defRPr>
            </a:pPr>
            <a:r>
              <a:rPr lang="en-US" sz="1600" b="1" dirty="0"/>
              <a:t>Rules change, ML adapts automatically</a:t>
            </a:r>
          </a:p>
          <a:p>
            <a:pPr marL="400050" lvl="1" indent="0">
              <a:buNone/>
              <a:defRPr sz="1800">
                <a:latin typeface="Calibri"/>
              </a:defRPr>
            </a:pPr>
            <a:endParaRPr sz="1600" b="1" dirty="0"/>
          </a:p>
          <a:p>
            <a:pPr marL="0" indent="0">
              <a:buNone/>
              <a:defRPr sz="1800">
                <a:latin typeface="Calibri"/>
              </a:defRPr>
            </a:pPr>
            <a:r>
              <a:rPr sz="1600" b="1" dirty="0"/>
              <a:t>3. Personalization</a:t>
            </a:r>
          </a:p>
          <a:p>
            <a:pPr marL="400050" lvl="1" indent="0">
              <a:buNone/>
              <a:defRPr sz="1800">
                <a:latin typeface="Calibri"/>
              </a:defRPr>
            </a:pPr>
            <a:r>
              <a:rPr sz="1600" dirty="0"/>
              <a:t>• Netflix recommendations</a:t>
            </a:r>
          </a:p>
          <a:p>
            <a:pPr marL="400050" lvl="1" indent="0">
              <a:buNone/>
              <a:defRPr sz="1800">
                <a:latin typeface="Calibri"/>
              </a:defRPr>
            </a:pPr>
            <a:r>
              <a:rPr sz="1600" dirty="0"/>
              <a:t>• YouTube video suggestions</a:t>
            </a:r>
            <a:endParaRPr lang="en-US" sz="1600" dirty="0"/>
          </a:p>
          <a:p>
            <a:pPr marL="400050" lvl="1" indent="0">
              <a:buNone/>
              <a:defRPr sz="1800">
                <a:latin typeface="Calibri"/>
              </a:defRPr>
            </a:pPr>
            <a:r>
              <a:rPr lang="en-US" sz="1600" b="1" dirty="0"/>
              <a:t>Different users get different results</a:t>
            </a:r>
          </a:p>
        </p:txBody>
      </p:sp>
      <p:pic>
        <p:nvPicPr>
          <p:cNvPr id="5" name="Picture 4">
            <a:extLst>
              <a:ext uri="{FF2B5EF4-FFF2-40B4-BE49-F238E27FC236}">
                <a16:creationId xmlns:a16="http://schemas.microsoft.com/office/drawing/2014/main" id="{2206659E-B452-E894-CADB-8CC3EA7E8BCA}"/>
              </a:ext>
            </a:extLst>
          </p:cNvPr>
          <p:cNvPicPr>
            <a:picLocks noChangeAspect="1"/>
          </p:cNvPicPr>
          <p:nvPr/>
        </p:nvPicPr>
        <p:blipFill>
          <a:blip r:embed="rId2"/>
          <a:srcRect b="9695"/>
          <a:stretch>
            <a:fillRect/>
          </a:stretch>
        </p:blipFill>
        <p:spPr>
          <a:xfrm>
            <a:off x="6943490" y="5011738"/>
            <a:ext cx="1317489" cy="1143000"/>
          </a:xfrm>
          <a:prstGeom prst="rect">
            <a:avLst/>
          </a:prstGeom>
        </p:spPr>
      </p:pic>
      <p:pic>
        <p:nvPicPr>
          <p:cNvPr id="7" name="Picture 6">
            <a:extLst>
              <a:ext uri="{FF2B5EF4-FFF2-40B4-BE49-F238E27FC236}">
                <a16:creationId xmlns:a16="http://schemas.microsoft.com/office/drawing/2014/main" id="{258A23A0-548C-3123-A49D-83B2401AC58A}"/>
              </a:ext>
            </a:extLst>
          </p:cNvPr>
          <p:cNvPicPr>
            <a:picLocks noChangeAspect="1"/>
          </p:cNvPicPr>
          <p:nvPr/>
        </p:nvPicPr>
        <p:blipFill>
          <a:blip r:embed="rId3"/>
          <a:srcRect b="6881"/>
          <a:stretch>
            <a:fillRect/>
          </a:stretch>
        </p:blipFill>
        <p:spPr>
          <a:xfrm>
            <a:off x="7072431" y="3429000"/>
            <a:ext cx="1059605" cy="1064342"/>
          </a:xfrm>
          <a:prstGeom prst="rect">
            <a:avLst/>
          </a:prstGeom>
        </p:spPr>
      </p:pic>
      <p:pic>
        <p:nvPicPr>
          <p:cNvPr id="9" name="Picture 8">
            <a:extLst>
              <a:ext uri="{FF2B5EF4-FFF2-40B4-BE49-F238E27FC236}">
                <a16:creationId xmlns:a16="http://schemas.microsoft.com/office/drawing/2014/main" id="{59E038A0-3F0B-FE63-3E4F-7650D917972E}"/>
              </a:ext>
            </a:extLst>
          </p:cNvPr>
          <p:cNvPicPr>
            <a:picLocks noChangeAspect="1"/>
          </p:cNvPicPr>
          <p:nvPr/>
        </p:nvPicPr>
        <p:blipFill>
          <a:blip r:embed="rId4"/>
          <a:srcRect l="17025" t="13339" r="18938" b="22421"/>
          <a:stretch>
            <a:fillRect/>
          </a:stretch>
        </p:blipFill>
        <p:spPr>
          <a:xfrm>
            <a:off x="6943490" y="1573469"/>
            <a:ext cx="1317489" cy="1425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Machine Learning</a:t>
            </a:r>
          </a:p>
        </p:txBody>
      </p:sp>
      <p:sp>
        <p:nvSpPr>
          <p:cNvPr id="3" name="Content Placeholder 2"/>
          <p:cNvSpPr>
            <a:spLocks noGrp="1"/>
          </p:cNvSpPr>
          <p:nvPr>
            <p:ph idx="1"/>
          </p:nvPr>
        </p:nvSpPr>
        <p:spPr>
          <a:xfrm>
            <a:off x="457200" y="1600200"/>
            <a:ext cx="8090105" cy="4525963"/>
          </a:xfrm>
        </p:spPr>
        <p:txBody>
          <a:bodyPr wrap="square">
            <a:normAutofit/>
          </a:bodyPr>
          <a:lstStyle/>
          <a:p>
            <a:pPr marL="0" indent="0">
              <a:buNone/>
              <a:defRPr sz="1800">
                <a:latin typeface="Calibri"/>
              </a:defRPr>
            </a:pPr>
            <a:r>
              <a:rPr dirty="0"/>
              <a:t>1. </a:t>
            </a:r>
            <a:r>
              <a:rPr sz="2000" b="1" dirty="0"/>
              <a:t>Supervised Learning</a:t>
            </a:r>
            <a:endParaRPr lang="en-US" sz="2000" b="1" dirty="0"/>
          </a:p>
          <a:p>
            <a:pPr marL="0" indent="0">
              <a:buNone/>
              <a:defRPr sz="1800">
                <a:latin typeface="Calibri"/>
              </a:defRPr>
            </a:pPr>
            <a:r>
              <a:rPr lang="en-US" sz="1800" dirty="0"/>
              <a:t>It</a:t>
            </a:r>
            <a:r>
              <a:rPr lang="en-US" sz="1800" b="1" dirty="0"/>
              <a:t> </a:t>
            </a:r>
            <a:r>
              <a:rPr lang="en-US" sz="1800" dirty="0"/>
              <a:t>is a type of Machine Learning where the model is trained using labeled data. The model learns the relationship between input and output and then makes predictions on new data. It has two types: classification and regression.</a:t>
            </a:r>
          </a:p>
          <a:p>
            <a:pPr marL="0" indent="0">
              <a:buNone/>
              <a:defRPr sz="1800">
                <a:latin typeface="Calibri"/>
              </a:defRPr>
            </a:pPr>
            <a:endParaRPr b="1" dirty="0"/>
          </a:p>
          <a:p>
            <a:pPr>
              <a:defRPr sz="1800">
                <a:latin typeface="Calibri"/>
              </a:defRPr>
            </a:pPr>
            <a:r>
              <a:rPr dirty="0"/>
              <a:t>Learning with labeled examples</a:t>
            </a:r>
          </a:p>
          <a:p>
            <a:pPr>
              <a:defRPr sz="1800">
                <a:latin typeface="Calibri"/>
              </a:defRPr>
            </a:pPr>
            <a:r>
              <a:rPr dirty="0"/>
              <a:t>Like learning with answer key</a:t>
            </a:r>
          </a:p>
          <a:p>
            <a:pPr>
              <a:defRPr sz="1800">
                <a:latin typeface="Calibri"/>
              </a:defRPr>
            </a:pPr>
            <a:endParaRPr dirty="0"/>
          </a:p>
        </p:txBody>
      </p:sp>
      <p:pic>
        <p:nvPicPr>
          <p:cNvPr id="5" name="Picture 4">
            <a:extLst>
              <a:ext uri="{FF2B5EF4-FFF2-40B4-BE49-F238E27FC236}">
                <a16:creationId xmlns:a16="http://schemas.microsoft.com/office/drawing/2014/main" id="{EF88D1C6-0768-E33E-32EF-DBB0E55A9906}"/>
              </a:ext>
            </a:extLst>
          </p:cNvPr>
          <p:cNvPicPr>
            <a:picLocks noChangeAspect="1"/>
          </p:cNvPicPr>
          <p:nvPr/>
        </p:nvPicPr>
        <p:blipFill>
          <a:blip r:embed="rId2"/>
          <a:stretch>
            <a:fillRect/>
          </a:stretch>
        </p:blipFill>
        <p:spPr>
          <a:xfrm>
            <a:off x="3913238" y="3132362"/>
            <a:ext cx="4997860" cy="29987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Supervised Learning</a:t>
            </a:r>
          </a:p>
        </p:txBody>
      </p:sp>
      <p:sp>
        <p:nvSpPr>
          <p:cNvPr id="3" name="Content Placeholder 2"/>
          <p:cNvSpPr>
            <a:spLocks noGrp="1"/>
          </p:cNvSpPr>
          <p:nvPr>
            <p:ph idx="1"/>
          </p:nvPr>
        </p:nvSpPr>
        <p:spPr>
          <a:xfrm>
            <a:off x="457200" y="1600200"/>
            <a:ext cx="5324168" cy="4525963"/>
          </a:xfrm>
        </p:spPr>
        <p:txBody>
          <a:bodyPr wrap="square">
            <a:normAutofit/>
          </a:bodyPr>
          <a:lstStyle/>
          <a:p>
            <a:pPr marL="0" indent="0">
              <a:buNone/>
              <a:defRPr sz="1800">
                <a:latin typeface="Calibri"/>
              </a:defRPr>
            </a:pPr>
            <a:r>
              <a:rPr dirty="0"/>
              <a:t>• We provide labeled training data</a:t>
            </a:r>
          </a:p>
          <a:p>
            <a:pPr marL="0" indent="0">
              <a:buNone/>
              <a:defRPr sz="1800">
                <a:latin typeface="Calibri"/>
              </a:defRPr>
            </a:pPr>
            <a:r>
              <a:rPr dirty="0"/>
              <a:t>• Model learns the relationship</a:t>
            </a:r>
          </a:p>
          <a:p>
            <a:pPr marL="0" indent="0">
              <a:buNone/>
              <a:defRPr sz="1800">
                <a:latin typeface="Calibri"/>
              </a:defRPr>
            </a:pPr>
            <a:r>
              <a:rPr dirty="0"/>
              <a:t>• Then predicts on new data</a:t>
            </a:r>
          </a:p>
          <a:p>
            <a:pPr>
              <a:defRPr sz="1800">
                <a:latin typeface="Calibri"/>
              </a:defRPr>
            </a:pPr>
            <a:endParaRPr dirty="0"/>
          </a:p>
          <a:p>
            <a:pPr marL="0" indent="0">
              <a:buNone/>
              <a:defRPr sz="1800">
                <a:latin typeface="Calibri"/>
              </a:defRPr>
            </a:pPr>
            <a:r>
              <a:rPr dirty="0"/>
              <a:t>Examples:</a:t>
            </a:r>
          </a:p>
          <a:p>
            <a:pPr marL="0" indent="0">
              <a:buNone/>
              <a:defRPr sz="1800">
                <a:latin typeface="Calibri"/>
              </a:defRPr>
            </a:pPr>
            <a:r>
              <a:rPr dirty="0"/>
              <a:t>• Images: Cat, Dog, or Bird</a:t>
            </a:r>
          </a:p>
          <a:p>
            <a:pPr marL="0" indent="0">
              <a:buNone/>
              <a:defRPr sz="1800">
                <a:latin typeface="Calibri"/>
              </a:defRPr>
            </a:pPr>
            <a:r>
              <a:rPr dirty="0"/>
              <a:t>• Grades: Predict student performance</a:t>
            </a:r>
          </a:p>
          <a:p>
            <a:pPr>
              <a:defRPr sz="1800">
                <a:latin typeface="Calibri"/>
              </a:defRPr>
            </a:pPr>
            <a:endParaRPr dirty="0"/>
          </a:p>
          <a:p>
            <a:pPr marL="0" indent="0">
              <a:buNone/>
              <a:defRPr sz="1800">
                <a:latin typeface="Calibri"/>
              </a:defRPr>
            </a:pPr>
            <a:r>
              <a:rPr dirty="0"/>
              <a:t>Two types:</a:t>
            </a:r>
          </a:p>
          <a:p>
            <a:pPr marL="0" indent="0">
              <a:buNone/>
              <a:defRPr sz="1800">
                <a:latin typeface="Calibri"/>
              </a:defRPr>
            </a:pPr>
            <a:r>
              <a:rPr dirty="0"/>
              <a:t>• Classification: Categories (spam/not spam)</a:t>
            </a:r>
          </a:p>
          <a:p>
            <a:pPr marL="0" indent="0">
              <a:buNone/>
              <a:defRPr sz="1800">
                <a:latin typeface="Calibri"/>
              </a:defRPr>
            </a:pPr>
            <a:r>
              <a:rPr dirty="0"/>
              <a:t>• Regression: Numbers (house price, temperature)</a:t>
            </a:r>
          </a:p>
          <a:p>
            <a:endParaRPr dirty="0"/>
          </a:p>
        </p:txBody>
      </p:sp>
      <p:sp>
        <p:nvSpPr>
          <p:cNvPr id="4" name="Rectangle 1">
            <a:extLst>
              <a:ext uri="{FF2B5EF4-FFF2-40B4-BE49-F238E27FC236}">
                <a16:creationId xmlns:a16="http://schemas.microsoft.com/office/drawing/2014/main" id="{5AB1CDD2-8AE6-BAC4-9768-2769142A8310}"/>
              </a:ext>
            </a:extLst>
          </p:cNvPr>
          <p:cNvSpPr>
            <a:spLocks noChangeArrowheads="1"/>
          </p:cNvSpPr>
          <p:nvPr/>
        </p:nvSpPr>
        <p:spPr bwMode="auto">
          <a:xfrm>
            <a:off x="5609303" y="1859339"/>
            <a:ext cx="316598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Pass / Fail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Marks out of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House Price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Spam / Not Spam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2F12-BFB6-2661-7D99-1D8317C4A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2297-9FC2-D793-E3F8-4B766F072348}"/>
              </a:ext>
            </a:extLst>
          </p:cNvPr>
          <p:cNvSpPr>
            <a:spLocks noGrp="1"/>
          </p:cNvSpPr>
          <p:nvPr>
            <p:ph type="title"/>
          </p:nvPr>
        </p:nvSpPr>
        <p:spPr/>
        <p:txBody>
          <a:bodyPr/>
          <a:lstStyle/>
          <a:p>
            <a:r>
              <a:rPr dirty="0"/>
              <a:t>Types of Machine Learning</a:t>
            </a:r>
          </a:p>
        </p:txBody>
      </p:sp>
      <p:sp>
        <p:nvSpPr>
          <p:cNvPr id="7" name="Content Placeholder 2">
            <a:extLst>
              <a:ext uri="{FF2B5EF4-FFF2-40B4-BE49-F238E27FC236}">
                <a16:creationId xmlns:a16="http://schemas.microsoft.com/office/drawing/2014/main" id="{3C6544EA-7445-067E-853B-7332E487231C}"/>
              </a:ext>
            </a:extLst>
          </p:cNvPr>
          <p:cNvSpPr>
            <a:spLocks noGrp="1"/>
          </p:cNvSpPr>
          <p:nvPr>
            <p:ph idx="1"/>
          </p:nvPr>
        </p:nvSpPr>
        <p:spPr>
          <a:xfrm>
            <a:off x="457200" y="1600200"/>
            <a:ext cx="8087032" cy="4525963"/>
          </a:xfrm>
        </p:spPr>
        <p:txBody>
          <a:bodyPr wrap="square">
            <a:normAutofit/>
          </a:bodyPr>
          <a:lstStyle/>
          <a:p>
            <a:pPr marL="0" indent="0">
              <a:buNone/>
              <a:defRPr sz="1800">
                <a:latin typeface="Calibri"/>
              </a:defRPr>
            </a:pPr>
            <a:r>
              <a:rPr lang="en-US" sz="1800" dirty="0"/>
              <a:t>2.</a:t>
            </a:r>
            <a:r>
              <a:rPr lang="en-US" sz="1800" b="1" dirty="0"/>
              <a:t> </a:t>
            </a:r>
            <a:r>
              <a:rPr lang="en-US" sz="2000" b="1" dirty="0"/>
              <a:t>Unsupervised Learning</a:t>
            </a:r>
            <a:r>
              <a:rPr lang="en-US" sz="2000" dirty="0"/>
              <a:t> </a:t>
            </a:r>
            <a:r>
              <a:rPr lang="en-US" sz="1800" dirty="0"/>
              <a:t>is a type of Machine Learning where no labeled data is provided. The model finds hidden patterns and structure in data.</a:t>
            </a:r>
          </a:p>
          <a:p>
            <a:pPr marL="0" indent="0">
              <a:buNone/>
              <a:defRPr sz="1800">
                <a:latin typeface="Calibri"/>
              </a:defRPr>
            </a:pPr>
            <a:endParaRPr lang="en-US" sz="1800" dirty="0"/>
          </a:p>
          <a:p>
            <a:pPr marL="0" indent="0">
              <a:buNone/>
              <a:defRPr sz="1800">
                <a:latin typeface="Calibri"/>
              </a:defRPr>
            </a:pPr>
            <a:r>
              <a:rPr lang="en-US" sz="1800" dirty="0"/>
              <a:t>Unsupervised learning finds hidden patterns and often groups similar data points without using labels</a:t>
            </a:r>
          </a:p>
          <a:p>
            <a:pPr marL="0" indent="0">
              <a:buNone/>
              <a:defRPr sz="1800">
                <a:latin typeface="Calibri"/>
              </a:defRPr>
            </a:pPr>
            <a:endParaRPr lang="en-US" sz="1800" b="1" dirty="0"/>
          </a:p>
          <a:p>
            <a:pPr marL="0" indent="0">
              <a:buNone/>
              <a:defRPr sz="1800">
                <a:latin typeface="Calibri"/>
              </a:defRPr>
            </a:pPr>
            <a:endParaRPr b="1" dirty="0"/>
          </a:p>
          <a:p>
            <a:pPr>
              <a:defRPr sz="1800">
                <a:latin typeface="Calibri"/>
              </a:defRPr>
            </a:pPr>
            <a:r>
              <a:rPr lang="en-US" dirty="0"/>
              <a:t>Finding patterns in unlabeled data</a:t>
            </a:r>
            <a:endParaRPr dirty="0"/>
          </a:p>
          <a:p>
            <a:pPr>
              <a:defRPr sz="1800">
                <a:latin typeface="Calibri"/>
              </a:defRPr>
            </a:pPr>
            <a:r>
              <a:rPr lang="en-US" dirty="0"/>
              <a:t>Like exploring without a map</a:t>
            </a:r>
            <a:endParaRPr dirty="0"/>
          </a:p>
          <a:p>
            <a:pPr>
              <a:defRPr sz="1800">
                <a:latin typeface="Calibri"/>
              </a:defRPr>
            </a:pPr>
            <a:endParaRPr dirty="0"/>
          </a:p>
        </p:txBody>
      </p:sp>
      <p:pic>
        <p:nvPicPr>
          <p:cNvPr id="9" name="Picture 8">
            <a:extLst>
              <a:ext uri="{FF2B5EF4-FFF2-40B4-BE49-F238E27FC236}">
                <a16:creationId xmlns:a16="http://schemas.microsoft.com/office/drawing/2014/main" id="{A2B76CE4-1B75-C3AC-40EC-DE6C5F2A5281}"/>
              </a:ext>
            </a:extLst>
          </p:cNvPr>
          <p:cNvPicPr>
            <a:picLocks noChangeAspect="1"/>
          </p:cNvPicPr>
          <p:nvPr/>
        </p:nvPicPr>
        <p:blipFill>
          <a:blip r:embed="rId2"/>
          <a:srcRect l="3089" t="3629" r="2517"/>
          <a:stretch>
            <a:fillRect/>
          </a:stretch>
        </p:blipFill>
        <p:spPr>
          <a:xfrm>
            <a:off x="4258333" y="3101441"/>
            <a:ext cx="4428467" cy="3207284"/>
          </a:xfrm>
          <a:prstGeom prst="rect">
            <a:avLst/>
          </a:prstGeom>
        </p:spPr>
      </p:pic>
    </p:spTree>
    <p:extLst>
      <p:ext uri="{BB962C8B-B14F-4D97-AF65-F5344CB8AC3E}">
        <p14:creationId xmlns:p14="http://schemas.microsoft.com/office/powerpoint/2010/main" val="2634350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Unsupervised Learning</a:t>
            </a:r>
          </a:p>
        </p:txBody>
      </p:sp>
      <p:sp>
        <p:nvSpPr>
          <p:cNvPr id="3" name="Content Placeholder 2"/>
          <p:cNvSpPr>
            <a:spLocks noGrp="1"/>
          </p:cNvSpPr>
          <p:nvPr>
            <p:ph idx="1"/>
          </p:nvPr>
        </p:nvSpPr>
        <p:spPr>
          <a:xfrm>
            <a:off x="457200" y="1600200"/>
            <a:ext cx="3878826" cy="4525963"/>
          </a:xfrm>
        </p:spPr>
        <p:txBody>
          <a:bodyPr wrap="square">
            <a:normAutofit/>
          </a:bodyPr>
          <a:lstStyle/>
          <a:p>
            <a:r>
              <a:rPr lang="en-US" sz="1800" dirty="0"/>
              <a:t>An online store has thousands of customers but </a:t>
            </a:r>
            <a:r>
              <a:rPr lang="en-US" sz="1800" b="1" dirty="0"/>
              <a:t>no labels</a:t>
            </a:r>
            <a:r>
              <a:rPr lang="en-US" sz="1800" dirty="0"/>
              <a:t> like “cheap buyer” or “premium buyer”.</a:t>
            </a:r>
          </a:p>
          <a:p>
            <a:endParaRPr lang="en-US" sz="1800" dirty="0"/>
          </a:p>
          <a:p>
            <a:r>
              <a:rPr lang="en-US" sz="1800" b="1" dirty="0"/>
              <a:t>What ML does:</a:t>
            </a:r>
            <a:endParaRPr lang="en-US" sz="1800" dirty="0"/>
          </a:p>
          <a:p>
            <a:r>
              <a:rPr lang="en-US" sz="1800" dirty="0"/>
              <a:t>Looks at buying frequency</a:t>
            </a:r>
          </a:p>
          <a:p>
            <a:r>
              <a:rPr lang="en-US" sz="1800" dirty="0"/>
              <a:t>Looks at money spent</a:t>
            </a:r>
          </a:p>
          <a:p>
            <a:r>
              <a:rPr lang="en-US" sz="1800" dirty="0"/>
              <a:t>Looks at product types</a:t>
            </a:r>
          </a:p>
          <a:p>
            <a:r>
              <a:rPr lang="en-US" sz="1800" b="1" dirty="0"/>
              <a:t>Result:</a:t>
            </a:r>
            <a:endParaRPr lang="en-US" sz="1800" dirty="0"/>
          </a:p>
          <a:p>
            <a:r>
              <a:rPr lang="en-US" sz="1800" dirty="0"/>
              <a:t>Group 1: High spenders</a:t>
            </a:r>
          </a:p>
          <a:p>
            <a:r>
              <a:rPr lang="en-US" sz="1800" dirty="0"/>
              <a:t>Group 2: Budget buyers</a:t>
            </a:r>
          </a:p>
          <a:p>
            <a:r>
              <a:rPr lang="en-US" sz="1800" dirty="0"/>
              <a:t>Group 3: Occasional buyers</a:t>
            </a:r>
          </a:p>
        </p:txBody>
      </p:sp>
      <p:sp>
        <p:nvSpPr>
          <p:cNvPr id="4" name="Content Placeholder 2">
            <a:extLst>
              <a:ext uri="{FF2B5EF4-FFF2-40B4-BE49-F238E27FC236}">
                <a16:creationId xmlns:a16="http://schemas.microsoft.com/office/drawing/2014/main" id="{748C6D74-D6BA-0DF4-F1AE-68F0E82C4C9C}"/>
              </a:ext>
            </a:extLst>
          </p:cNvPr>
          <p:cNvSpPr txBox="1">
            <a:spLocks/>
          </p:cNvSpPr>
          <p:nvPr/>
        </p:nvSpPr>
        <p:spPr>
          <a:xfrm>
            <a:off x="4404852" y="1600200"/>
            <a:ext cx="3878826" cy="4525963"/>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t>Students with different learning styles.</a:t>
            </a:r>
          </a:p>
          <a:p>
            <a:endParaRPr lang="en-US" sz="1800" dirty="0"/>
          </a:p>
          <a:p>
            <a:endParaRPr lang="en-US" sz="1800" dirty="0"/>
          </a:p>
          <a:p>
            <a:r>
              <a:rPr lang="en-US" sz="1800" b="1" dirty="0"/>
              <a:t>What ML does:</a:t>
            </a:r>
            <a:endParaRPr lang="en-US" sz="1800" dirty="0"/>
          </a:p>
          <a:p>
            <a:r>
              <a:rPr lang="en-US" sz="1800" dirty="0"/>
              <a:t>Groups students by performance, speed, and behavior</a:t>
            </a:r>
          </a:p>
          <a:p>
            <a:r>
              <a:rPr lang="en-US" sz="1800" dirty="0"/>
              <a:t>No labels like “good” or “weak”</a:t>
            </a:r>
          </a:p>
          <a:p>
            <a:r>
              <a:rPr lang="en-US" sz="1800" b="1" dirty="0"/>
              <a:t>Result:</a:t>
            </a:r>
            <a:endParaRPr lang="en-US" sz="1800" dirty="0"/>
          </a:p>
          <a:p>
            <a:r>
              <a:rPr lang="en-US" sz="1800" dirty="0"/>
              <a:t>Fast learners</a:t>
            </a:r>
          </a:p>
          <a:p>
            <a:r>
              <a:rPr lang="en-US" sz="1800" dirty="0"/>
              <a:t>Average learners</a:t>
            </a:r>
          </a:p>
          <a:p>
            <a:r>
              <a:rPr lang="en-US" sz="1800" dirty="0"/>
              <a:t>Needs-help learners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A425-745E-CA28-6C67-00F6173F3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01DFA-B877-3BD7-27D9-D8B6AEC3EFC7}"/>
              </a:ext>
            </a:extLst>
          </p:cNvPr>
          <p:cNvSpPr>
            <a:spLocks noGrp="1"/>
          </p:cNvSpPr>
          <p:nvPr>
            <p:ph type="title"/>
          </p:nvPr>
        </p:nvSpPr>
        <p:spPr/>
        <p:txBody>
          <a:bodyPr/>
          <a:lstStyle/>
          <a:p>
            <a:r>
              <a:t>Types of Machine Learning</a:t>
            </a:r>
          </a:p>
        </p:txBody>
      </p:sp>
      <p:sp>
        <p:nvSpPr>
          <p:cNvPr id="3" name="Content Placeholder 2">
            <a:extLst>
              <a:ext uri="{FF2B5EF4-FFF2-40B4-BE49-F238E27FC236}">
                <a16:creationId xmlns:a16="http://schemas.microsoft.com/office/drawing/2014/main" id="{862408AB-B658-314D-0845-FE50C8B05721}"/>
              </a:ext>
            </a:extLst>
          </p:cNvPr>
          <p:cNvSpPr>
            <a:spLocks noGrp="1"/>
          </p:cNvSpPr>
          <p:nvPr>
            <p:ph idx="1"/>
          </p:nvPr>
        </p:nvSpPr>
        <p:spPr/>
        <p:txBody>
          <a:bodyPr wrap="square">
            <a:normAutofit/>
          </a:bodyPr>
          <a:lstStyle/>
          <a:p>
            <a:pPr marL="0" indent="0">
              <a:buNone/>
              <a:defRPr sz="1800">
                <a:latin typeface="Calibri"/>
              </a:defRPr>
            </a:pPr>
            <a:r>
              <a:rPr lang="en-US" sz="1800" dirty="0"/>
              <a:t>3. </a:t>
            </a:r>
            <a:r>
              <a:rPr lang="en-US" sz="2000" b="1" dirty="0"/>
              <a:t>Reinforcement Learning</a:t>
            </a:r>
            <a:r>
              <a:rPr lang="en-US" sz="2000" dirty="0"/>
              <a:t> </a:t>
            </a:r>
            <a:r>
              <a:rPr lang="en-US" sz="1800" dirty="0"/>
              <a:t>is a type of Machine Learning where an agent learns by interacting with the environment. It receives </a:t>
            </a:r>
            <a:r>
              <a:rPr lang="en-US" sz="1800" b="1" dirty="0"/>
              <a:t>rewards for good actions</a:t>
            </a:r>
            <a:r>
              <a:rPr lang="en-US" sz="1800" dirty="0"/>
              <a:t> and </a:t>
            </a:r>
            <a:r>
              <a:rPr lang="en-US" sz="1800" b="1" dirty="0"/>
              <a:t>penalties for bad actions</a:t>
            </a:r>
            <a:r>
              <a:rPr lang="en-US" sz="1800" dirty="0"/>
              <a:t>. Over time, it learns the best actions to achieve its goal.</a:t>
            </a:r>
          </a:p>
          <a:p>
            <a:pPr marL="0" indent="0">
              <a:buNone/>
              <a:defRPr sz="1800">
                <a:latin typeface="Calibri"/>
              </a:defRPr>
            </a:pPr>
            <a:endParaRPr lang="en-US" sz="1800" dirty="0"/>
          </a:p>
          <a:p>
            <a:pPr marL="0" indent="0">
              <a:buNone/>
              <a:defRPr sz="1800">
                <a:latin typeface="Calibri"/>
              </a:defRPr>
            </a:pPr>
            <a:r>
              <a:rPr lang="en-US" sz="1800" dirty="0"/>
              <a:t>Reinforcement Learning = Learn by trying, get rewards or penalties, improve over time.</a:t>
            </a:r>
          </a:p>
          <a:p>
            <a:pPr marL="0" indent="0">
              <a:buNone/>
              <a:defRPr sz="1800">
                <a:latin typeface="Calibri"/>
              </a:defRPr>
            </a:pPr>
            <a:endParaRPr lang="en-US" sz="1800" dirty="0"/>
          </a:p>
          <a:p>
            <a:pPr marL="0" indent="0">
              <a:buNone/>
              <a:defRPr sz="1800">
                <a:latin typeface="Calibri"/>
              </a:defRPr>
            </a:pPr>
            <a:endParaRPr dirty="0"/>
          </a:p>
          <a:p>
            <a:pPr>
              <a:defRPr sz="1800">
                <a:latin typeface="Calibri"/>
              </a:defRPr>
            </a:pPr>
            <a:r>
              <a:rPr dirty="0"/>
              <a:t>Learning through trial and error</a:t>
            </a:r>
          </a:p>
          <a:p>
            <a:pPr>
              <a:defRPr sz="1800">
                <a:latin typeface="Calibri"/>
              </a:defRPr>
            </a:pPr>
            <a:r>
              <a:rPr dirty="0"/>
              <a:t>Like learning to ride a bike</a:t>
            </a:r>
          </a:p>
          <a:p>
            <a:pPr marL="0" indent="0">
              <a:buNone/>
            </a:pPr>
            <a:br>
              <a:rPr sz="1800" dirty="0"/>
            </a:br>
            <a:endParaRPr sz="1800" dirty="0"/>
          </a:p>
        </p:txBody>
      </p:sp>
      <p:pic>
        <p:nvPicPr>
          <p:cNvPr id="5" name="Picture 4">
            <a:extLst>
              <a:ext uri="{FF2B5EF4-FFF2-40B4-BE49-F238E27FC236}">
                <a16:creationId xmlns:a16="http://schemas.microsoft.com/office/drawing/2014/main" id="{D02AD3DD-8AB5-2B53-93A4-4E6A8D06E321}"/>
              </a:ext>
            </a:extLst>
          </p:cNvPr>
          <p:cNvPicPr>
            <a:picLocks noChangeAspect="1"/>
          </p:cNvPicPr>
          <p:nvPr/>
        </p:nvPicPr>
        <p:blipFill>
          <a:blip r:embed="rId2"/>
          <a:srcRect l="4789" t="2667" r="2817" b="7755"/>
          <a:stretch>
            <a:fillRect/>
          </a:stretch>
        </p:blipFill>
        <p:spPr>
          <a:xfrm>
            <a:off x="5195038" y="3199068"/>
            <a:ext cx="3332480" cy="3230880"/>
          </a:xfrm>
          <a:prstGeom prst="rect">
            <a:avLst/>
          </a:prstGeom>
        </p:spPr>
      </p:pic>
    </p:spTree>
    <p:extLst>
      <p:ext uri="{BB962C8B-B14F-4D97-AF65-F5344CB8AC3E}">
        <p14:creationId xmlns:p14="http://schemas.microsoft.com/office/powerpoint/2010/main" val="2457012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Reinforcement Learning</a:t>
            </a:r>
          </a:p>
        </p:txBody>
      </p:sp>
      <p:sp>
        <p:nvSpPr>
          <p:cNvPr id="3" name="Content Placeholder 2"/>
          <p:cNvSpPr>
            <a:spLocks noGrp="1"/>
          </p:cNvSpPr>
          <p:nvPr>
            <p:ph idx="1"/>
          </p:nvPr>
        </p:nvSpPr>
        <p:spPr/>
        <p:txBody>
          <a:bodyPr wrap="square">
            <a:normAutofit fontScale="92500" lnSpcReduction="10000"/>
          </a:bodyPr>
          <a:lstStyle/>
          <a:p>
            <a:pPr marL="0" indent="0">
              <a:buNone/>
              <a:defRPr sz="1800">
                <a:latin typeface="Calibri"/>
              </a:defRPr>
            </a:pPr>
            <a:r>
              <a:rPr lang="en-US" dirty="0"/>
              <a:t>Definition:</a:t>
            </a:r>
          </a:p>
          <a:p>
            <a:pPr marL="0" indent="0">
              <a:buNone/>
              <a:defRPr sz="1800">
                <a:latin typeface="Calibri"/>
              </a:defRPr>
            </a:pPr>
            <a:r>
              <a:rPr lang="en-US" dirty="0"/>
              <a:t>• Agent learns by interacting with environment</a:t>
            </a:r>
          </a:p>
          <a:p>
            <a:pPr marL="0" indent="0">
              <a:buNone/>
              <a:defRPr sz="1800">
                <a:latin typeface="Calibri"/>
              </a:defRPr>
            </a:pPr>
            <a:r>
              <a:rPr lang="en-US" dirty="0"/>
              <a:t>• Gets rewards for good actions</a:t>
            </a:r>
          </a:p>
          <a:p>
            <a:pPr marL="0" indent="0">
              <a:buNone/>
              <a:defRPr sz="1800">
                <a:latin typeface="Calibri"/>
              </a:defRPr>
            </a:pPr>
            <a:r>
              <a:rPr lang="en-US" dirty="0"/>
              <a:t>• Gets penalties for bad actions</a:t>
            </a:r>
          </a:p>
          <a:p>
            <a:pPr marL="0" indent="0">
              <a:buNone/>
              <a:defRPr sz="1800">
                <a:latin typeface="Calibri"/>
              </a:defRPr>
            </a:pPr>
            <a:endParaRPr lang="en-US" dirty="0"/>
          </a:p>
          <a:p>
            <a:pPr marL="0" indent="0">
              <a:buNone/>
              <a:defRPr sz="1800">
                <a:latin typeface="Calibri"/>
              </a:defRPr>
            </a:pPr>
            <a:r>
              <a:rPr lang="en-US" dirty="0"/>
              <a:t>Real-world examples:</a:t>
            </a:r>
          </a:p>
          <a:p>
            <a:pPr marL="0" indent="0">
              <a:buNone/>
              <a:defRPr sz="1800">
                <a:latin typeface="Calibri"/>
              </a:defRPr>
            </a:pPr>
            <a:r>
              <a:rPr lang="en-US" dirty="0"/>
              <a:t>• Game playing (Chess, Go)</a:t>
            </a:r>
          </a:p>
          <a:p>
            <a:pPr marL="0" indent="0">
              <a:buNone/>
              <a:defRPr sz="1800">
                <a:latin typeface="Calibri"/>
              </a:defRPr>
            </a:pPr>
            <a:r>
              <a:rPr lang="en-US" dirty="0"/>
              <a:t>   → Learn winning strategies</a:t>
            </a:r>
          </a:p>
          <a:p>
            <a:pPr marL="0" indent="0">
              <a:buNone/>
              <a:defRPr sz="1800">
                <a:latin typeface="Calibri"/>
              </a:defRPr>
            </a:pPr>
            <a:r>
              <a:rPr lang="en-US" dirty="0"/>
              <a:t>• Robot navigation</a:t>
            </a:r>
          </a:p>
          <a:p>
            <a:pPr marL="0" indent="0">
              <a:buNone/>
              <a:defRPr sz="1800">
                <a:latin typeface="Calibri"/>
              </a:defRPr>
            </a:pPr>
            <a:r>
              <a:rPr lang="en-US" dirty="0"/>
              <a:t>   → Learn to avoid obstacles</a:t>
            </a:r>
          </a:p>
          <a:p>
            <a:pPr marL="0" indent="0">
              <a:buNone/>
              <a:defRPr sz="1800">
                <a:latin typeface="Calibri"/>
              </a:defRPr>
            </a:pPr>
            <a:r>
              <a:rPr lang="en-US" dirty="0"/>
              <a:t>• Recommendation systems</a:t>
            </a:r>
          </a:p>
          <a:p>
            <a:pPr marL="0" indent="0">
              <a:buNone/>
              <a:defRPr sz="1800">
                <a:latin typeface="Calibri"/>
              </a:defRPr>
            </a:pPr>
            <a:r>
              <a:rPr lang="en-US" dirty="0"/>
              <a:t>   → Learn what users like</a:t>
            </a:r>
          </a:p>
          <a:p>
            <a:pPr marL="0" indent="0">
              <a:buNone/>
              <a:defRPr sz="1800">
                <a:latin typeface="Calibri"/>
              </a:defRPr>
            </a:pPr>
            <a:endParaRPr lang="en-US" dirty="0"/>
          </a:p>
          <a:p>
            <a:pPr marL="0" indent="0">
              <a:buNone/>
              <a:defRPr sz="1800">
                <a:latin typeface="Calibri"/>
              </a:defRPr>
            </a:pPr>
            <a:r>
              <a:rPr lang="en-US" dirty="0"/>
              <a:t>Key concept:</a:t>
            </a:r>
          </a:p>
          <a:p>
            <a:pPr marL="0" indent="0">
              <a:buNone/>
              <a:defRPr sz="1800">
                <a:latin typeface="Calibri"/>
              </a:defRPr>
            </a:pPr>
            <a:r>
              <a:rPr lang="en-US" dirty="0"/>
              <a:t>• Trial and error with feedback</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Email Spam Detection</a:t>
            </a:r>
          </a:p>
        </p:txBody>
      </p:sp>
      <p:sp>
        <p:nvSpPr>
          <p:cNvPr id="3" name="Content Placeholder 2"/>
          <p:cNvSpPr>
            <a:spLocks noGrp="1"/>
          </p:cNvSpPr>
          <p:nvPr>
            <p:ph idx="1"/>
          </p:nvPr>
        </p:nvSpPr>
        <p:spPr/>
        <p:txBody>
          <a:bodyPr wrap="square">
            <a:noAutofit/>
          </a:bodyPr>
          <a:lstStyle/>
          <a:p>
            <a:pPr marL="0" indent="0">
              <a:buNone/>
              <a:defRPr sz="1800">
                <a:latin typeface="Calibri"/>
              </a:defRPr>
            </a:pPr>
            <a:r>
              <a:rPr sz="1800" b="1" dirty="0"/>
              <a:t>Problem</a:t>
            </a:r>
            <a:r>
              <a:rPr sz="1800" dirty="0"/>
              <a:t>:</a:t>
            </a:r>
          </a:p>
          <a:p>
            <a:pPr marL="0" indent="0">
              <a:buNone/>
              <a:defRPr sz="1800">
                <a:latin typeface="Calibri"/>
              </a:defRPr>
            </a:pPr>
            <a:r>
              <a:rPr sz="1800" dirty="0"/>
              <a:t>• Millions of emails daily</a:t>
            </a:r>
          </a:p>
          <a:p>
            <a:pPr marL="0" indent="0">
              <a:buNone/>
              <a:defRPr sz="1800">
                <a:latin typeface="Calibri"/>
              </a:defRPr>
            </a:pPr>
            <a:r>
              <a:rPr sz="1800" dirty="0"/>
              <a:t>• Spam changes constantly</a:t>
            </a:r>
          </a:p>
          <a:p>
            <a:pPr marL="0" indent="0">
              <a:buNone/>
              <a:defRPr sz="1800">
                <a:latin typeface="Calibri"/>
              </a:defRPr>
            </a:pPr>
            <a:r>
              <a:rPr sz="1800" dirty="0"/>
              <a:t>• Can't write rules for everything</a:t>
            </a:r>
          </a:p>
          <a:p>
            <a:pPr>
              <a:defRPr sz="1800">
                <a:latin typeface="Calibri"/>
              </a:defRPr>
            </a:pPr>
            <a:endParaRPr sz="1800" dirty="0"/>
          </a:p>
          <a:p>
            <a:pPr marL="0" indent="0">
              <a:buNone/>
              <a:defRPr sz="1800">
                <a:latin typeface="Calibri"/>
              </a:defRPr>
            </a:pPr>
            <a:r>
              <a:rPr sz="1800" dirty="0"/>
              <a:t>ML Solution:</a:t>
            </a:r>
          </a:p>
          <a:p>
            <a:pPr marL="0" indent="0">
              <a:buNone/>
              <a:defRPr sz="1800">
                <a:latin typeface="Calibri"/>
              </a:defRPr>
            </a:pPr>
            <a:r>
              <a:rPr sz="1800" dirty="0"/>
              <a:t>• Train on thousands of emails</a:t>
            </a:r>
          </a:p>
          <a:p>
            <a:pPr marL="0" indent="0">
              <a:buNone/>
              <a:defRPr sz="1800">
                <a:latin typeface="Calibri"/>
              </a:defRPr>
            </a:pPr>
            <a:r>
              <a:rPr sz="1800" dirty="0"/>
              <a:t>• Learn patterns:</a:t>
            </a:r>
          </a:p>
          <a:p>
            <a:pPr marL="0" indent="0">
              <a:buNone/>
              <a:defRPr sz="1800">
                <a:latin typeface="Calibri"/>
              </a:defRPr>
            </a:pPr>
            <a:r>
              <a:rPr sz="1800" dirty="0"/>
              <a:t>  - Words like 'FREE', 'WIN', 'URGENT'</a:t>
            </a:r>
          </a:p>
          <a:p>
            <a:pPr marL="0" indent="0">
              <a:buNone/>
              <a:defRPr sz="1800">
                <a:latin typeface="Calibri"/>
              </a:defRPr>
            </a:pPr>
            <a:r>
              <a:rPr sz="1800" dirty="0"/>
              <a:t>  - Suspicious sender addresses</a:t>
            </a:r>
          </a:p>
          <a:p>
            <a:pPr marL="0" indent="0">
              <a:buNone/>
              <a:defRPr sz="1800">
                <a:latin typeface="Calibri"/>
              </a:defRPr>
            </a:pPr>
            <a:r>
              <a:rPr sz="1800" dirty="0"/>
              <a:t>  - Unusual formatting</a:t>
            </a:r>
          </a:p>
          <a:p>
            <a:pPr marL="0" indent="0">
              <a:buNone/>
              <a:defRPr sz="1800">
                <a:latin typeface="Calibri"/>
              </a:defRPr>
            </a:pPr>
            <a:r>
              <a:rPr sz="1800" dirty="0"/>
              <a:t>• Classify new emails automatically</a:t>
            </a:r>
          </a:p>
          <a:p>
            <a:pPr>
              <a:defRPr sz="1800">
                <a:latin typeface="Calibri"/>
              </a:defRPr>
            </a:pPr>
            <a:endParaRPr sz="1800" dirty="0"/>
          </a:p>
          <a:p>
            <a:pPr marL="0" indent="0">
              <a:buNone/>
              <a:defRPr sz="1800">
                <a:latin typeface="Calibri"/>
              </a:defRPr>
            </a:pPr>
            <a:r>
              <a:rPr sz="1800" dirty="0"/>
              <a:t>Result:</a:t>
            </a:r>
          </a:p>
          <a:p>
            <a:pPr marL="0" indent="0">
              <a:buNone/>
              <a:defRPr sz="1800">
                <a:latin typeface="Calibri"/>
              </a:defRPr>
            </a:pPr>
            <a:r>
              <a:rPr sz="1800" dirty="0"/>
              <a:t>• Gmail filters 99.9% of spam automatically</a:t>
            </a:r>
          </a:p>
          <a:p>
            <a:pPr marL="0" indent="0">
              <a:buNone/>
            </a:pPr>
            <a:endParaRPr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Real-world Example: Face Recognition</a:t>
            </a:r>
          </a:p>
        </p:txBody>
      </p:sp>
      <p:sp>
        <p:nvSpPr>
          <p:cNvPr id="3" name="Content Placeholder 2"/>
          <p:cNvSpPr>
            <a:spLocks noGrp="1"/>
          </p:cNvSpPr>
          <p:nvPr>
            <p:ph idx="1"/>
          </p:nvPr>
        </p:nvSpPr>
        <p:spPr/>
        <p:txBody>
          <a:bodyPr wrap="square">
            <a:normAutofit lnSpcReduction="10000"/>
          </a:bodyPr>
          <a:lstStyle/>
          <a:p>
            <a:pPr marL="0" indent="0">
              <a:buNone/>
              <a:defRPr sz="1800">
                <a:latin typeface="Calibri"/>
              </a:defRPr>
            </a:pPr>
            <a:r>
              <a:rPr dirty="0"/>
              <a:t>Problem:</a:t>
            </a:r>
          </a:p>
          <a:p>
            <a:pPr marL="0" indent="0">
              <a:buNone/>
              <a:defRPr sz="1800">
                <a:latin typeface="Calibri"/>
              </a:defRPr>
            </a:pPr>
            <a:r>
              <a:rPr dirty="0"/>
              <a:t>• Identify people in photos</a:t>
            </a:r>
          </a:p>
          <a:p>
            <a:pPr marL="0" indent="0">
              <a:buNone/>
              <a:defRPr sz="1800">
                <a:latin typeface="Calibri"/>
              </a:defRPr>
            </a:pPr>
            <a:r>
              <a:rPr dirty="0"/>
              <a:t>• Used in:</a:t>
            </a:r>
          </a:p>
          <a:p>
            <a:pPr marL="0" indent="0">
              <a:buNone/>
              <a:defRPr sz="1800">
                <a:latin typeface="Calibri"/>
              </a:defRPr>
            </a:pPr>
            <a:r>
              <a:rPr dirty="0"/>
              <a:t>  - Phone unlock</a:t>
            </a:r>
          </a:p>
          <a:p>
            <a:pPr marL="0" indent="0">
              <a:buNone/>
              <a:defRPr sz="1800">
                <a:latin typeface="Calibri"/>
              </a:defRPr>
            </a:pPr>
            <a:r>
              <a:rPr dirty="0"/>
              <a:t>  - Security systems</a:t>
            </a:r>
          </a:p>
          <a:p>
            <a:pPr>
              <a:defRPr sz="1800">
                <a:latin typeface="Calibri"/>
              </a:defRPr>
            </a:pPr>
            <a:endParaRPr dirty="0"/>
          </a:p>
          <a:p>
            <a:pPr marL="0" indent="0">
              <a:buNone/>
              <a:defRPr sz="1800">
                <a:latin typeface="Calibri"/>
              </a:defRPr>
            </a:pPr>
            <a:r>
              <a:rPr dirty="0"/>
              <a:t>ML Solution:</a:t>
            </a:r>
          </a:p>
          <a:p>
            <a:pPr marL="0" indent="0">
              <a:buNone/>
              <a:defRPr sz="1800">
                <a:latin typeface="Calibri"/>
              </a:defRPr>
            </a:pPr>
            <a:r>
              <a:rPr dirty="0"/>
              <a:t>• Train on millions of face images</a:t>
            </a:r>
          </a:p>
          <a:p>
            <a:pPr marL="0" indent="0">
              <a:buNone/>
              <a:defRPr sz="1800">
                <a:latin typeface="Calibri"/>
              </a:defRPr>
            </a:pPr>
            <a:r>
              <a:rPr dirty="0"/>
              <a:t>• Learn facial features:</a:t>
            </a:r>
          </a:p>
          <a:p>
            <a:pPr marL="0" indent="0">
              <a:buNone/>
              <a:defRPr sz="1800">
                <a:latin typeface="Calibri"/>
              </a:defRPr>
            </a:pPr>
            <a:r>
              <a:rPr dirty="0"/>
              <a:t>  - Eye shape, nose, mouth position</a:t>
            </a:r>
          </a:p>
          <a:p>
            <a:pPr marL="0" indent="0">
              <a:buNone/>
              <a:defRPr sz="1800">
                <a:latin typeface="Calibri"/>
              </a:defRPr>
            </a:pPr>
            <a:r>
              <a:rPr dirty="0"/>
              <a:t>  - Face structure patterns</a:t>
            </a:r>
            <a:endParaRPr lang="en-US" dirty="0"/>
          </a:p>
          <a:p>
            <a:pPr marL="0" indent="0">
              <a:buNone/>
              <a:defRPr sz="1800">
                <a:latin typeface="Calibri"/>
              </a:defRPr>
            </a:pPr>
            <a:endParaRPr dirty="0"/>
          </a:p>
          <a:p>
            <a:pPr marL="0" indent="0">
              <a:buNone/>
              <a:defRPr sz="1800">
                <a:latin typeface="Calibri"/>
              </a:defRPr>
            </a:pPr>
            <a:r>
              <a:rPr lang="en-US" dirty="0"/>
              <a:t>Result</a:t>
            </a:r>
            <a:r>
              <a:rPr dirty="0"/>
              <a:t>:</a:t>
            </a:r>
          </a:p>
          <a:p>
            <a:pPr marL="0" indent="0">
              <a:buNone/>
              <a:defRPr sz="1800">
                <a:latin typeface="Calibri"/>
              </a:defRPr>
            </a:pPr>
            <a:r>
              <a:rPr dirty="0"/>
              <a:t>• </a:t>
            </a:r>
            <a:r>
              <a:rPr lang="en-US" dirty="0"/>
              <a:t>Recognize faces in new photos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Recommendation Systems</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Netflix &amp; YouTube:</a:t>
            </a:r>
          </a:p>
          <a:p>
            <a:pPr marL="0" indent="0">
              <a:buNone/>
              <a:defRPr sz="1800">
                <a:latin typeface="Calibri"/>
              </a:defRPr>
            </a:pPr>
            <a:r>
              <a:rPr dirty="0"/>
              <a:t>• Problem: Too many videos to choose from</a:t>
            </a:r>
          </a:p>
          <a:p>
            <a:pPr marL="0" indent="0">
              <a:buNone/>
              <a:defRPr sz="1800">
                <a:latin typeface="Calibri"/>
              </a:defRPr>
            </a:pPr>
            <a:r>
              <a:rPr dirty="0"/>
              <a:t>• Solution: Recommend what you might like</a:t>
            </a:r>
          </a:p>
          <a:p>
            <a:pPr marL="0" indent="0">
              <a:buNone/>
              <a:defRPr sz="1800">
                <a:latin typeface="Calibri"/>
              </a:defRPr>
            </a:pPr>
            <a:endParaRPr dirty="0"/>
          </a:p>
          <a:p>
            <a:pPr marL="0" indent="0">
              <a:buNone/>
              <a:defRPr sz="1800">
                <a:latin typeface="Calibri"/>
              </a:defRPr>
            </a:pPr>
            <a:r>
              <a:rPr dirty="0"/>
              <a:t>How it works:</a:t>
            </a:r>
          </a:p>
          <a:p>
            <a:pPr marL="0" indent="0">
              <a:buNone/>
              <a:defRPr sz="1800">
                <a:latin typeface="Calibri"/>
              </a:defRPr>
            </a:pPr>
            <a:r>
              <a:rPr dirty="0"/>
              <a:t>• Track what you watch</a:t>
            </a:r>
          </a:p>
          <a:p>
            <a:pPr marL="0" indent="0">
              <a:buNone/>
              <a:defRPr sz="1800">
                <a:latin typeface="Calibri"/>
              </a:defRPr>
            </a:pPr>
            <a:r>
              <a:rPr dirty="0"/>
              <a:t>• Find users with similar tastes</a:t>
            </a:r>
          </a:p>
          <a:p>
            <a:pPr marL="0" indent="0">
              <a:buNone/>
              <a:defRPr sz="1800">
                <a:latin typeface="Calibri"/>
              </a:defRPr>
            </a:pPr>
            <a:r>
              <a:rPr dirty="0"/>
              <a:t>• Recommend what they liked</a:t>
            </a:r>
          </a:p>
          <a:p>
            <a:pPr>
              <a:defRPr sz="1800">
                <a:latin typeface="Calibri"/>
              </a:defRPr>
            </a:pPr>
            <a:endParaRPr dirty="0"/>
          </a:p>
          <a:p>
            <a:pPr marL="0" indent="0">
              <a:buNone/>
              <a:defRPr sz="1800">
                <a:latin typeface="Calibri"/>
              </a:defRPr>
            </a:pPr>
            <a:r>
              <a:rPr dirty="0"/>
              <a:t>Example:</a:t>
            </a:r>
          </a:p>
          <a:p>
            <a:pPr marL="0" indent="0">
              <a:buNone/>
              <a:defRPr sz="1800">
                <a:latin typeface="Calibri"/>
              </a:defRPr>
            </a:pPr>
            <a:r>
              <a:rPr dirty="0"/>
              <a:t>• You watched: Action movies</a:t>
            </a:r>
          </a:p>
          <a:p>
            <a:pPr marL="0" indent="0">
              <a:buNone/>
              <a:defRPr sz="1800">
                <a:latin typeface="Calibri"/>
              </a:defRPr>
            </a:pPr>
            <a:r>
              <a:rPr dirty="0"/>
              <a:t>• Similar users also watched: Sci-fi</a:t>
            </a:r>
          </a:p>
          <a:p>
            <a:pPr marL="0" indent="0">
              <a:buNone/>
              <a:defRPr sz="1800">
                <a:latin typeface="Calibri"/>
              </a:defRPr>
            </a:pPr>
            <a:r>
              <a:rPr dirty="0"/>
              <a:t>• Recommendation: Try 'Interstellar'</a:t>
            </a:r>
          </a:p>
          <a:p>
            <a:pPr>
              <a:defRPr sz="1800">
                <a:latin typeface="Calibri"/>
              </a:defRPr>
            </a:pPr>
            <a:endParaRPr dirty="0"/>
          </a:p>
          <a:p>
            <a:pPr marL="0" indent="0">
              <a:buNone/>
              <a:defRPr sz="1800">
                <a:latin typeface="Calibri"/>
              </a:defRPr>
            </a:pPr>
            <a:r>
              <a:rPr dirty="0"/>
              <a:t>Result:</a:t>
            </a:r>
          </a:p>
          <a:p>
            <a:pPr marL="0" indent="0">
              <a:buNone/>
              <a:defRPr sz="1800">
                <a:latin typeface="Calibri"/>
              </a:defRPr>
            </a:pPr>
            <a:r>
              <a:rPr dirty="0"/>
              <a:t>• 80% of Netflix views come from recommendations</a:t>
            </a:r>
          </a:p>
          <a:p>
            <a:pPr marL="0" indent="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Machine Learning Workflow</a:t>
            </a:r>
          </a:p>
        </p:txBody>
      </p:sp>
      <p:sp>
        <p:nvSpPr>
          <p:cNvPr id="3" name="Content Placeholder 2"/>
          <p:cNvSpPr>
            <a:spLocks noGrp="1"/>
          </p:cNvSpPr>
          <p:nvPr>
            <p:ph idx="1"/>
          </p:nvPr>
        </p:nvSpPr>
        <p:spPr/>
        <p:txBody>
          <a:bodyPr wrap="square">
            <a:normAutofit fontScale="85000" lnSpcReduction="20000"/>
          </a:bodyPr>
          <a:lstStyle/>
          <a:p>
            <a:pPr marL="0" indent="0">
              <a:buNone/>
              <a:defRPr sz="1800">
                <a:latin typeface="Calibri"/>
              </a:defRPr>
            </a:pPr>
            <a:r>
              <a:rPr dirty="0"/>
              <a:t>1. Data Collection</a:t>
            </a:r>
          </a:p>
          <a:p>
            <a:pPr marL="0" indent="0">
              <a:buNone/>
              <a:defRPr sz="1800">
                <a:latin typeface="Calibri"/>
              </a:defRPr>
            </a:pPr>
            <a:r>
              <a:rPr dirty="0"/>
              <a:t>   • Gather examples (photos, text, numbers)</a:t>
            </a:r>
          </a:p>
          <a:p>
            <a:pPr marL="0" indent="0">
              <a:buNone/>
              <a:defRPr sz="1800">
                <a:latin typeface="Calibri"/>
              </a:defRPr>
            </a:pPr>
            <a:endParaRPr dirty="0"/>
          </a:p>
          <a:p>
            <a:pPr marL="0" indent="0">
              <a:buNone/>
              <a:defRPr sz="1800">
                <a:latin typeface="Calibri"/>
              </a:defRPr>
            </a:pPr>
            <a:r>
              <a:rPr dirty="0"/>
              <a:t>2. Data Preprocessing</a:t>
            </a:r>
          </a:p>
          <a:p>
            <a:pPr marL="0" indent="0">
              <a:buNone/>
              <a:defRPr sz="1800">
                <a:latin typeface="Calibri"/>
              </a:defRPr>
            </a:pPr>
            <a:r>
              <a:rPr dirty="0"/>
              <a:t>   • Clean and organize data</a:t>
            </a:r>
          </a:p>
          <a:p>
            <a:pPr marL="0" indent="0">
              <a:buNone/>
              <a:defRPr sz="1800">
                <a:latin typeface="Calibri"/>
              </a:defRPr>
            </a:pPr>
            <a:r>
              <a:rPr dirty="0"/>
              <a:t>   • Remove errors and duplicates</a:t>
            </a:r>
          </a:p>
          <a:p>
            <a:pPr>
              <a:defRPr sz="1800">
                <a:latin typeface="Calibri"/>
              </a:defRPr>
            </a:pPr>
            <a:endParaRPr dirty="0"/>
          </a:p>
          <a:p>
            <a:pPr marL="0" indent="0">
              <a:buNone/>
              <a:defRPr sz="1800">
                <a:latin typeface="Calibri"/>
              </a:defRPr>
            </a:pPr>
            <a:r>
              <a:rPr dirty="0"/>
              <a:t>3. Feature Extraction</a:t>
            </a:r>
          </a:p>
          <a:p>
            <a:pPr marL="0" indent="0">
              <a:buNone/>
              <a:defRPr sz="1800">
                <a:latin typeface="Calibri"/>
              </a:defRPr>
            </a:pPr>
            <a:r>
              <a:rPr dirty="0"/>
              <a:t>   • Convert raw data into features</a:t>
            </a:r>
          </a:p>
          <a:p>
            <a:pPr>
              <a:defRPr sz="1800">
                <a:latin typeface="Calibri"/>
              </a:defRPr>
            </a:pPr>
            <a:endParaRPr dirty="0"/>
          </a:p>
          <a:p>
            <a:pPr marL="0" indent="0">
              <a:buNone/>
              <a:defRPr sz="1800">
                <a:latin typeface="Calibri"/>
              </a:defRPr>
            </a:pPr>
            <a:r>
              <a:rPr dirty="0"/>
              <a:t>4. Model Training</a:t>
            </a:r>
          </a:p>
          <a:p>
            <a:pPr marL="0" indent="0">
              <a:buNone/>
              <a:defRPr sz="1800">
                <a:latin typeface="Calibri"/>
              </a:defRPr>
            </a:pPr>
            <a:r>
              <a:rPr dirty="0"/>
              <a:t>   • Teach the model using data</a:t>
            </a:r>
          </a:p>
          <a:p>
            <a:pPr marL="0" indent="0">
              <a:buNone/>
              <a:defRPr sz="1800">
                <a:latin typeface="Calibri"/>
              </a:defRPr>
            </a:pPr>
            <a:endParaRPr dirty="0"/>
          </a:p>
          <a:p>
            <a:pPr marL="0" indent="0">
              <a:buNone/>
              <a:defRPr sz="1800">
                <a:latin typeface="Calibri"/>
              </a:defRPr>
            </a:pPr>
            <a:r>
              <a:rPr dirty="0"/>
              <a:t>5. Evaluation</a:t>
            </a:r>
          </a:p>
          <a:p>
            <a:pPr marL="0" indent="0">
              <a:buNone/>
              <a:defRPr sz="1800">
                <a:latin typeface="Calibri"/>
              </a:defRPr>
            </a:pPr>
            <a:r>
              <a:rPr dirty="0"/>
              <a:t>   • Test on new data</a:t>
            </a:r>
          </a:p>
          <a:p>
            <a:pPr marL="0" indent="0">
              <a:buNone/>
              <a:defRPr sz="1800">
                <a:latin typeface="Calibri"/>
              </a:defRPr>
            </a:pPr>
            <a:r>
              <a:rPr dirty="0"/>
              <a:t>   • Measure accuracy</a:t>
            </a:r>
          </a:p>
          <a:p>
            <a:pPr marL="0" indent="0">
              <a:buNone/>
              <a:defRPr sz="1800">
                <a:latin typeface="Calibri"/>
              </a:defRPr>
            </a:pPr>
            <a:endParaRPr dirty="0"/>
          </a:p>
          <a:p>
            <a:pPr marL="0" indent="0">
              <a:buNone/>
              <a:defRPr sz="1800">
                <a:latin typeface="Calibri"/>
              </a:defRPr>
            </a:pPr>
            <a:r>
              <a:rPr dirty="0"/>
              <a:t>6. Prediction</a:t>
            </a:r>
          </a:p>
          <a:p>
            <a:pPr marL="0" indent="0">
              <a:buNone/>
              <a:defRPr sz="1800">
                <a:latin typeface="Calibri"/>
              </a:defRPr>
            </a:pPr>
            <a:r>
              <a:rPr dirty="0"/>
              <a:t>   • Use model for real predictions</a:t>
            </a:r>
          </a:p>
          <a:p>
            <a:pPr marL="0" indent="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Key Takeaways</a:t>
            </a:r>
          </a:p>
        </p:txBody>
      </p:sp>
      <p:sp>
        <p:nvSpPr>
          <p:cNvPr id="3" name="Content Placeholder 2"/>
          <p:cNvSpPr>
            <a:spLocks noGrp="1"/>
          </p:cNvSpPr>
          <p:nvPr>
            <p:ph idx="1"/>
          </p:nvPr>
        </p:nvSpPr>
        <p:spPr/>
        <p:txBody>
          <a:bodyPr wrap="square">
            <a:normAutofit/>
          </a:bodyPr>
          <a:lstStyle/>
          <a:p>
            <a:pPr marL="0" indent="0">
              <a:buNone/>
              <a:defRPr sz="1800">
                <a:latin typeface="Calibri"/>
              </a:defRPr>
            </a:pPr>
            <a:r>
              <a:rPr dirty="0"/>
              <a:t>What we learned:</a:t>
            </a:r>
          </a:p>
          <a:p>
            <a:pPr>
              <a:defRPr sz="1800">
                <a:latin typeface="Calibri"/>
              </a:defRPr>
            </a:pPr>
            <a:endParaRPr dirty="0"/>
          </a:p>
          <a:p>
            <a:pPr marL="0" indent="0">
              <a:buNone/>
              <a:defRPr sz="1800">
                <a:latin typeface="Calibri"/>
              </a:defRPr>
            </a:pPr>
            <a:r>
              <a:rPr dirty="0"/>
              <a:t>✓ Machine Learning = Learning from data</a:t>
            </a:r>
          </a:p>
          <a:p>
            <a:pPr marL="0" indent="0">
              <a:buNone/>
              <a:defRPr sz="1800">
                <a:latin typeface="Calibri"/>
              </a:defRPr>
            </a:pPr>
            <a:r>
              <a:rPr dirty="0"/>
              <a:t>✓ Three types: Supervised, Unsupervised, Reinforcement</a:t>
            </a:r>
          </a:p>
          <a:p>
            <a:pPr marL="0" indent="0">
              <a:buNone/>
              <a:defRPr sz="1800">
                <a:latin typeface="Calibri"/>
              </a:defRPr>
            </a:pPr>
            <a:r>
              <a:rPr dirty="0"/>
              <a:t>✓ Used everywhere: Email, photos, recommendations</a:t>
            </a:r>
          </a:p>
          <a:p>
            <a:pPr marL="0" indent="0">
              <a:buNone/>
              <a:defRPr sz="1800">
                <a:latin typeface="Calibri"/>
              </a:defRPr>
            </a:pPr>
            <a:r>
              <a:rPr dirty="0"/>
              <a:t>✓ Workflow: Data → Features → Model → Prediction</a:t>
            </a:r>
          </a:p>
          <a:p>
            <a:pPr>
              <a:defRPr sz="1800">
                <a:latin typeface="Calibri"/>
              </a:defRPr>
            </a:pPr>
            <a:endParaRPr dirty="0"/>
          </a:p>
          <a:p>
            <a:pPr marL="0" indent="0">
              <a:buNone/>
              <a:defRPr sz="1800">
                <a:latin typeface="Calibri"/>
              </a:defRPr>
            </a:pPr>
            <a:r>
              <a:rPr dirty="0"/>
              <a:t>Next:</a:t>
            </a:r>
          </a:p>
          <a:p>
            <a:pPr marL="0" indent="0">
              <a:buNone/>
              <a:defRPr sz="1800">
                <a:latin typeface="Calibri"/>
              </a:defRPr>
            </a:pPr>
            <a:r>
              <a:rPr dirty="0"/>
              <a:t>→ How to extract features from data</a:t>
            </a:r>
          </a:p>
          <a:p>
            <a:pPr marL="0" indent="0">
              <a:buNone/>
              <a:defRPr sz="1800">
                <a:latin typeface="Calibri"/>
              </a:defRPr>
            </a:pPr>
            <a:r>
              <a:rPr dirty="0"/>
              <a:t>→ How classification works</a:t>
            </a:r>
          </a:p>
          <a:p>
            <a:pPr marL="0" indent="0">
              <a:buNone/>
              <a:defRPr sz="1800">
                <a:latin typeface="Calibri"/>
              </a:defRPr>
            </a:pPr>
            <a:r>
              <a:rPr dirty="0"/>
              <a:t>→ Practical examples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1552</TotalTime>
  <Words>1102</Words>
  <Application>Microsoft Office PowerPoint</Application>
  <PresentationFormat>On-screen Show (4:3)</PresentationFormat>
  <Paragraphs>223</Paragraphs>
  <Slides>18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Lecture # 6</vt:lpstr>
      <vt:lpstr>Introduction to Machine Learning</vt:lpstr>
      <vt:lpstr>Introduction to Machine Learning</vt:lpstr>
      <vt:lpstr>What is Machine Learning?</vt:lpstr>
      <vt:lpstr>PowerPoint Presentation</vt:lpstr>
      <vt:lpstr>Traditional Programming Vs ML</vt:lpstr>
      <vt:lpstr>Why do we need Machine Learning?</vt:lpstr>
      <vt:lpstr>Types of Machine Learning</vt:lpstr>
      <vt:lpstr>Supervised Learning</vt:lpstr>
      <vt:lpstr>Types of Machine Learning</vt:lpstr>
      <vt:lpstr>Unsupervised Learning</vt:lpstr>
      <vt:lpstr>Types of Machine Learning</vt:lpstr>
      <vt:lpstr>Reinforcement Learning</vt:lpstr>
      <vt:lpstr>Real-world Example: Email Spam Detection</vt:lpstr>
      <vt:lpstr>Real-world Example: Face Recognition</vt:lpstr>
      <vt:lpstr>Real-world Example: Recommendation Systems</vt:lpstr>
      <vt:lpstr>Machine Learning Workflow</vt:lpstr>
      <vt:lpstr>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Hussain</cp:lastModifiedBy>
  <cp:revision>31</cp:revision>
  <dcterms:created xsi:type="dcterms:W3CDTF">2013-01-27T09:14:16Z</dcterms:created>
  <dcterms:modified xsi:type="dcterms:W3CDTF">2026-04-29T05:52:29Z</dcterms:modified>
  <cp:category/>
</cp:coreProperties>
</file>