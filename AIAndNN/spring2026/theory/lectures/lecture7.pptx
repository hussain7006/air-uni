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84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5" r:id="rId15"/>
    <p:sldId id="306" r:id="rId16"/>
    <p:sldId id="307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1332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DA5460-0223-4DAF-A138-9183965676CE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D17024-63D9-4887-B91B-F9DC8F91D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436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Lecture # 7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K-Nearest Neighbors (KNN)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lang="en-US" sz="1800" b="1" dirty="0"/>
              <a:t>Definition: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sz="1800" dirty="0"/>
              <a:t>	K-Nearest Neighbors (KNN) is a </a:t>
            </a:r>
            <a:r>
              <a:rPr lang="en-US" sz="1800" b="1" dirty="0"/>
              <a:t>supervised machine learning algorithm</a:t>
            </a:r>
            <a:r>
              <a:rPr lang="en-US" sz="1800" dirty="0"/>
              <a:t> used for:</a:t>
            </a:r>
          </a:p>
          <a:p>
            <a:pPr marL="685800"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Classification</a:t>
            </a:r>
          </a:p>
          <a:p>
            <a:pPr marL="685800"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Regression</a:t>
            </a:r>
          </a:p>
          <a:p>
            <a:r>
              <a:rPr lang="en-US" sz="1800" dirty="0"/>
              <a:t>It makes predictions based on the </a:t>
            </a:r>
            <a:r>
              <a:rPr lang="en-US" sz="1800" b="1" dirty="0"/>
              <a:t>similarity</a:t>
            </a:r>
            <a:r>
              <a:rPr lang="en-US" sz="1800" dirty="0"/>
              <a:t> between data points.</a:t>
            </a:r>
          </a:p>
          <a:p>
            <a:endParaRPr lang="en-US" sz="1800" dirty="0"/>
          </a:p>
          <a:p>
            <a:r>
              <a:rPr lang="en-US" sz="1800" b="1" dirty="0"/>
              <a:t>Key:</a:t>
            </a:r>
            <a:br>
              <a:rPr lang="en-US" sz="1800" dirty="0"/>
            </a:br>
            <a:r>
              <a:rPr lang="en-US" sz="1800" dirty="0"/>
              <a:t>"Similar things exist close to each other"</a:t>
            </a:r>
          </a:p>
          <a:p>
            <a:pPr marL="0" indent="0">
              <a:buNone/>
              <a:defRPr sz="1800">
                <a:latin typeface="Calibri"/>
              </a:defRPr>
            </a:pPr>
            <a:endParaRPr lang="en-US" sz="18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F5380925-BD5F-4761-B789-E399B2FABC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26" r="20093"/>
          <a:stretch>
            <a:fillRect/>
          </a:stretch>
        </p:blipFill>
        <p:spPr>
          <a:xfrm>
            <a:off x="5053781" y="3528885"/>
            <a:ext cx="3480619" cy="29659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EFA29-816A-96EE-9D23-EF2E42704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it is Called K-Nearest Neighbors?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D67CB-26F8-BFB3-3447-0D7549198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/>
              <a:t>K</a:t>
            </a:r>
            <a:r>
              <a:rPr lang="en-US" sz="1800" dirty="0"/>
              <a:t> = Number of neighbors</a:t>
            </a:r>
          </a:p>
          <a:p>
            <a:endParaRPr lang="en-US" sz="1800" dirty="0"/>
          </a:p>
          <a:p>
            <a:r>
              <a:rPr lang="en-US" sz="1800" b="1" dirty="0"/>
              <a:t>Nearest</a:t>
            </a:r>
            <a:r>
              <a:rPr lang="en-US" sz="1800" dirty="0"/>
              <a:t> = Based on distance</a:t>
            </a:r>
          </a:p>
          <a:p>
            <a:endParaRPr lang="en-US" sz="1800" dirty="0"/>
          </a:p>
          <a:p>
            <a:r>
              <a:rPr lang="en-US" sz="1800" b="1" dirty="0"/>
              <a:t>Neighbors</a:t>
            </a:r>
            <a:r>
              <a:rPr lang="en-US" sz="1800" dirty="0"/>
              <a:t> = Closest data points</a:t>
            </a:r>
          </a:p>
          <a:p>
            <a:endParaRPr lang="en-US" sz="1800" dirty="0"/>
          </a:p>
          <a:p>
            <a:r>
              <a:rPr lang="en-US" sz="1800" dirty="0"/>
              <a:t>Example values of K:</a:t>
            </a:r>
          </a:p>
          <a:p>
            <a:r>
              <a:rPr lang="en-US" sz="1800" dirty="0"/>
              <a:t>K = 1 (Nearest neighbor only)</a:t>
            </a:r>
          </a:p>
          <a:p>
            <a:r>
              <a:rPr lang="en-US" sz="1800" dirty="0"/>
              <a:t>K = 3</a:t>
            </a:r>
          </a:p>
          <a:p>
            <a:r>
              <a:rPr lang="en-US" sz="1800" dirty="0"/>
              <a:t>K = 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990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F4744-8C19-D3B8-4966-E9A823C17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8C9DF-A4C1-DD26-7267-CD0C9C99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Simple Real-Life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3430A-9271-B599-5D92-7F0B19CA3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Imagine you moved to a new area and want to know your neighbors' language.</a:t>
            </a:r>
          </a:p>
          <a:p>
            <a:endParaRPr lang="en-US" sz="1800" dirty="0"/>
          </a:p>
          <a:p>
            <a:r>
              <a:rPr lang="en-US" sz="1800" dirty="0"/>
              <a:t>You ask your </a:t>
            </a:r>
            <a:r>
              <a:rPr lang="en-US" sz="1800" b="1" dirty="0"/>
              <a:t>5 nearest neighbors</a:t>
            </a:r>
            <a:r>
              <a:rPr lang="en-US" sz="1800" dirty="0"/>
              <a:t>:</a:t>
            </a:r>
          </a:p>
          <a:p>
            <a:r>
              <a:rPr lang="en-US" sz="1800" dirty="0"/>
              <a:t>3 speak Urdu</a:t>
            </a:r>
          </a:p>
          <a:p>
            <a:r>
              <a:rPr lang="en-US" sz="1800" dirty="0"/>
              <a:t>2 speak English</a:t>
            </a:r>
          </a:p>
          <a:p>
            <a:endParaRPr lang="en-US" sz="1800" dirty="0"/>
          </a:p>
          <a:p>
            <a:r>
              <a:rPr lang="en-US" sz="1800" dirty="0"/>
              <a:t> You will most likely speak </a:t>
            </a:r>
            <a:r>
              <a:rPr lang="en-US" sz="1800" b="1" dirty="0"/>
              <a:t>Urdu</a:t>
            </a:r>
            <a:r>
              <a:rPr lang="en-US" sz="1800" dirty="0"/>
              <a:t>.</a:t>
            </a:r>
          </a:p>
          <a:p>
            <a:endParaRPr lang="en-US" sz="1800" dirty="0"/>
          </a:p>
          <a:p>
            <a:r>
              <a:rPr lang="en-US" sz="1800" dirty="0"/>
              <a:t>This is exactly how </a:t>
            </a:r>
            <a:r>
              <a:rPr lang="en-US" sz="1800" b="1" dirty="0"/>
              <a:t>KNN works</a:t>
            </a:r>
            <a:r>
              <a:rPr lang="en-US" sz="1800" dirty="0"/>
              <a:t>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90434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213CF-0008-66F7-E6E7-AF19F3007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How KNN Works (Step-by-Step)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1CC89-6314-CB61-6C69-7934237ED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Choose the value of </a:t>
            </a:r>
            <a:r>
              <a:rPr lang="en-US" sz="1800" b="1" dirty="0"/>
              <a:t>K</a:t>
            </a:r>
          </a:p>
          <a:p>
            <a:endParaRPr lang="en-US" sz="1800" b="1" dirty="0"/>
          </a:p>
          <a:p>
            <a:r>
              <a:rPr lang="en-US" sz="1800" dirty="0"/>
              <a:t>Calculate distance between test point and all training points</a:t>
            </a:r>
          </a:p>
          <a:p>
            <a:endParaRPr lang="en-US" sz="1800" dirty="0"/>
          </a:p>
          <a:p>
            <a:r>
              <a:rPr lang="en-US" sz="1800" dirty="0"/>
              <a:t>Select </a:t>
            </a:r>
            <a:r>
              <a:rPr lang="en-US" sz="1800" b="1" dirty="0"/>
              <a:t>K nearest neighbors</a:t>
            </a:r>
          </a:p>
          <a:p>
            <a:endParaRPr lang="en-US" sz="1800" b="1" dirty="0"/>
          </a:p>
          <a:p>
            <a:r>
              <a:rPr lang="en-US" sz="1800" dirty="0"/>
              <a:t>Take </a:t>
            </a:r>
            <a:r>
              <a:rPr lang="en-US" sz="1800" b="1" dirty="0"/>
              <a:t>majority vote</a:t>
            </a:r>
            <a:r>
              <a:rPr lang="en-US" sz="1800" dirty="0"/>
              <a:t> (classification)</a:t>
            </a:r>
          </a:p>
          <a:p>
            <a:endParaRPr lang="en-US" sz="1800" dirty="0"/>
          </a:p>
          <a:p>
            <a:r>
              <a:rPr lang="en-US" sz="1800" dirty="0"/>
              <a:t>Assign the predicted class</a:t>
            </a:r>
          </a:p>
        </p:txBody>
      </p:sp>
    </p:spTree>
    <p:extLst>
      <p:ext uri="{BB962C8B-B14F-4D97-AF65-F5344CB8AC3E}">
        <p14:creationId xmlns:p14="http://schemas.microsoft.com/office/powerpoint/2010/main" val="3444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01CD8-2F9B-9E20-A1D5-925495F90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Distance Measures in KNN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FA6242-B9F6-A740-886D-8657F77FA2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b="1" u="sng" dirty="0"/>
                  <a:t>Euclidean Distance</a:t>
                </a:r>
                <a:endParaRPr lang="en-US" sz="1800" b="1" u="sng" dirty="0"/>
              </a:p>
              <a:p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</a:rPr>
                      <m:t>𝑫𝒊𝒔𝒕𝒂𝒏𝒄𝒆</m:t>
                    </m:r>
                    <m:r>
                      <a:rPr lang="en-US" sz="1800" b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endChr m:val=""/>
                            <m:ctrlPr>
                              <a:rPr lang="en-US" sz="1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sz="1800" b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sSup>
                              <m:sSupPr>
                                <m:ctrlPr>
                                  <a:rPr lang="en-US" sz="18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en-US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1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1800" b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endChr m:val=""/>
                                <m:ctrlPr>
                                  <a:rPr lang="en-US" sz="18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1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1800" b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8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18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sSup>
                                  <m:sSupPr>
                                    <m:ctrlPr>
                                      <a:rPr lang="en-US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"/>
                                        <m:endChr m:val=""/>
                                        <m:ctrlPr>
                                          <a:rPr lang="en-US" sz="1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1800" b="1" i="1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rad>
                  </m:oMath>
                </a14:m>
                <a:endParaRPr lang="en-US" sz="1800" b="1" dirty="0"/>
              </a:p>
              <a:p>
                <a:endParaRPr lang="en-US" sz="1800" dirty="0"/>
              </a:p>
              <a:p>
                <a:r>
                  <a:rPr lang="en-US" sz="1800" dirty="0"/>
                  <a:t>Other distances:</a:t>
                </a:r>
              </a:p>
              <a:p>
                <a:r>
                  <a:rPr lang="en-US" sz="1800" dirty="0"/>
                  <a:t>Manhattan Distance</a:t>
                </a:r>
              </a:p>
              <a:p>
                <a:r>
                  <a:rPr lang="en-US" sz="1800" dirty="0"/>
                  <a:t>Minkowski Distance</a:t>
                </a:r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FA6242-B9F6-A740-886D-8657F77FA2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0529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71D04-7C9C-B478-35F5-5DF16C88D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Dataset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D4CD796C-0CBA-A0FE-CFBE-A68320C3E5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962979"/>
              </p:ext>
            </p:extLst>
          </p:nvPr>
        </p:nvGraphicFramePr>
        <p:xfrm>
          <a:off x="457200" y="1364224"/>
          <a:ext cx="8229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7917247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824025377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03459162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4440320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Math 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Science 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455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2670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342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154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25762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EB80A0-1E09-42DE-492B-CE9D4D76635F}"/>
                  </a:ext>
                </a:extLst>
              </p:cNvPr>
              <p:cNvSpPr txBox="1"/>
              <p:nvPr/>
            </p:nvSpPr>
            <p:spPr>
              <a:xfrm>
                <a:off x="457200" y="3411271"/>
                <a:ext cx="8229600" cy="28720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New student 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Math = 50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Science = 55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Calculate distance from E to all students using Euclidean distance.</a:t>
                </a:r>
              </a:p>
              <a:p>
                <a:pPr>
                  <a:buNone/>
                </a:pPr>
                <a:r>
                  <a:rPr lang="en-US" dirty="0"/>
                  <a:t>Example (E to A):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endChr m:val="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80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50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85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55</m:t>
                                </m:r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"/>
                                        <m:endChr m:val="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rad>
                  </m:oMath>
                </a14:m>
                <a:br>
                  <a:rPr lang="ar-AE" dirty="0"/>
                </a:br>
                <a:endParaRPr lang="ar-AE" dirty="0"/>
              </a:p>
              <a:p>
                <a:pPr>
                  <a:buNone/>
                </a:pPr>
                <a:r>
                  <a:rPr lang="en-US" dirty="0"/>
                  <a:t>Repeat for B, C, D.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EB80A0-1E09-42DE-492B-CE9D4D766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411271"/>
                <a:ext cx="8229600" cy="2872005"/>
              </a:xfrm>
              <a:prstGeom prst="rect">
                <a:avLst/>
              </a:prstGeom>
              <a:blipFill>
                <a:blip r:embed="rId2"/>
                <a:stretch>
                  <a:fillRect l="-593" t="-1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3889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2E66F-D057-79C4-9551-35558F35F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Choosing the Value of 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5B34D7-0BCA-51EF-11D4-7147E21724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600200"/>
            <a:ext cx="82296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 K (K=1):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Sensitive to noise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K: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stable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0604E7-A459-C2E4-A29D-F591FAEA82F3}"/>
              </a:ext>
            </a:extLst>
          </p:cNvPr>
          <p:cNvSpPr txBox="1"/>
          <p:nvPr/>
        </p:nvSpPr>
        <p:spPr>
          <a:xfrm>
            <a:off x="457200" y="353708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Rule:</a:t>
            </a:r>
            <a:endParaRPr lang="en-US" dirty="0"/>
          </a:p>
          <a:p>
            <a:r>
              <a:rPr lang="en-US" dirty="0"/>
              <a:t>	Choose odd value (3,5,7)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44AC4-532D-D7C5-7F32-DD3F75C1EA16}"/>
              </a:ext>
            </a:extLst>
          </p:cNvPr>
          <p:cNvSpPr txBox="1"/>
          <p:nvPr/>
        </p:nvSpPr>
        <p:spPr>
          <a:xfrm>
            <a:off x="457200" y="4372958"/>
            <a:ext cx="8229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KNN has </a:t>
            </a:r>
            <a:r>
              <a:rPr lang="en-US" b="1" dirty="0"/>
              <a:t>no training phase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computation happens during </a:t>
            </a:r>
            <a:r>
              <a:rPr lang="en-US" b="1" dirty="0"/>
              <a:t>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dirty="0"/>
              <a:t>That is why KNN is called a </a:t>
            </a:r>
            <a:r>
              <a:rPr lang="en-US" b="1" dirty="0"/>
              <a:t>Lazy Learning 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366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1B55A-ADD4-45CD-B3A7-581F8B653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Advantages/Disadvantages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131C6-72BF-B213-AD4B-4D574D88A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Advantages of KNN</a:t>
            </a:r>
          </a:p>
          <a:p>
            <a:r>
              <a:rPr lang="en-US" sz="1800" dirty="0"/>
              <a:t>Simple and easy to understand</a:t>
            </a:r>
          </a:p>
          <a:p>
            <a:r>
              <a:rPr lang="en-US" sz="1800" dirty="0"/>
              <a:t>No training required</a:t>
            </a:r>
          </a:p>
          <a:p>
            <a:r>
              <a:rPr lang="en-US" sz="1800" dirty="0"/>
              <a:t>Works well with small datasets</a:t>
            </a:r>
          </a:p>
          <a:p>
            <a:pPr marL="0" indent="0">
              <a:buNone/>
            </a:pPr>
            <a:br>
              <a:rPr lang="en-US" sz="1800" dirty="0"/>
            </a:br>
            <a:endParaRPr lang="en-US" sz="1800" dirty="0"/>
          </a:p>
          <a:p>
            <a:r>
              <a:rPr lang="en-US" sz="1800" b="1" dirty="0"/>
              <a:t>Disadvantages of KNN</a:t>
            </a:r>
          </a:p>
          <a:p>
            <a:r>
              <a:rPr lang="en-US" sz="1800" dirty="0"/>
              <a:t>Slow for large datasets</a:t>
            </a:r>
          </a:p>
          <a:p>
            <a:r>
              <a:rPr lang="en-US" sz="1800" dirty="0"/>
              <a:t>Requires large memory</a:t>
            </a:r>
          </a:p>
          <a:p>
            <a:r>
              <a:rPr lang="en-US" sz="1800" dirty="0"/>
              <a:t>Sensitive to noise</a:t>
            </a:r>
          </a:p>
          <a:p>
            <a:r>
              <a:rPr lang="en-US" sz="1800" dirty="0"/>
              <a:t>Choice of K is critical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29329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4BA79-DD56-B01D-8BD4-04509C5F0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Applications:</a:t>
            </a:r>
            <a:endParaRPr lang="en-US" sz="1800" dirty="0"/>
          </a:p>
          <a:p>
            <a:r>
              <a:rPr lang="en-US" sz="1800" dirty="0"/>
              <a:t>Recommendation systems</a:t>
            </a:r>
          </a:p>
          <a:p>
            <a:r>
              <a:rPr lang="en-US" sz="1800" dirty="0"/>
              <a:t>Image classification</a:t>
            </a:r>
          </a:p>
          <a:p>
            <a:r>
              <a:rPr lang="en-US" sz="1800" dirty="0"/>
              <a:t>Medical diagnosis</a:t>
            </a:r>
          </a:p>
          <a:p>
            <a:r>
              <a:rPr lang="en-US" sz="1800" dirty="0"/>
              <a:t>Pattern recognition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2400" b="1" dirty="0"/>
              <a:t>KNN Summary:</a:t>
            </a:r>
          </a:p>
          <a:p>
            <a:r>
              <a:rPr lang="en-US" sz="1800" dirty="0"/>
              <a:t>Supervised ML algorithm</a:t>
            </a:r>
          </a:p>
          <a:p>
            <a:r>
              <a:rPr lang="en-US" sz="1800" dirty="0"/>
              <a:t>Uses distance to find neighbors</a:t>
            </a:r>
          </a:p>
          <a:p>
            <a:r>
              <a:rPr lang="en-US" sz="1800" dirty="0"/>
              <a:t>Predicts using majority voting</a:t>
            </a:r>
          </a:p>
          <a:p>
            <a:r>
              <a:rPr lang="en-US" sz="1800" dirty="0"/>
              <a:t>Simple and easy to understand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70684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331AC-A894-7448-FE9B-242401BBF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Training and Testing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81DE7-AEB9-A16D-8CEE-BF2F74C4D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In Machine Learning, we build models to </a:t>
            </a:r>
            <a:r>
              <a:rPr lang="en-US" sz="1800" b="1" dirty="0"/>
              <a:t>make predictions</a:t>
            </a:r>
            <a:r>
              <a:rPr lang="en-US" sz="1800" dirty="0"/>
              <a:t>. But predictions are </a:t>
            </a:r>
            <a:r>
              <a:rPr lang="en-US" sz="1800" b="1" dirty="0"/>
              <a:t>never perfect</a:t>
            </a:r>
            <a:r>
              <a:rPr lang="en-US" sz="1800" dirty="0"/>
              <a:t>. So, we need a way to </a:t>
            </a:r>
            <a:r>
              <a:rPr lang="en-US" sz="1800" b="1" dirty="0"/>
              <a:t>measure mistakes</a:t>
            </a:r>
            <a:r>
              <a:rPr lang="en-US" sz="1800" dirty="0"/>
              <a:t>. This measurement is called </a:t>
            </a:r>
            <a:r>
              <a:rPr lang="en-US" sz="1800" b="1" dirty="0"/>
              <a:t>Error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In Machine Learning, data is divided into:</a:t>
            </a:r>
          </a:p>
          <a:p>
            <a:r>
              <a:rPr lang="en-US" sz="1800" b="1" dirty="0"/>
              <a:t>Training Data</a:t>
            </a:r>
            <a:r>
              <a:rPr lang="en-US" sz="1800" dirty="0"/>
              <a:t> → Used to learn patterns</a:t>
            </a:r>
          </a:p>
          <a:p>
            <a:r>
              <a:rPr lang="en-US" sz="1800" b="1" dirty="0"/>
              <a:t>Testing Data</a:t>
            </a:r>
            <a:r>
              <a:rPr lang="en-US" sz="1800" dirty="0"/>
              <a:t> → Used to evaluate performance</a:t>
            </a:r>
          </a:p>
          <a:p>
            <a:r>
              <a:rPr lang="en-US" sz="1800" b="1" dirty="0"/>
              <a:t>Error</a:t>
            </a:r>
            <a:r>
              <a:rPr lang="en-US" sz="1800" dirty="0"/>
              <a:t> means the number of </a:t>
            </a:r>
            <a:r>
              <a:rPr lang="en-US" sz="1800" b="1" dirty="0"/>
              <a:t>wrong predictions</a:t>
            </a:r>
            <a:r>
              <a:rPr lang="en-US" sz="1800" dirty="0"/>
              <a:t> made by a model.</a:t>
            </a:r>
          </a:p>
          <a:p>
            <a:r>
              <a:rPr lang="en-US" sz="1800" dirty="0"/>
              <a:t>Errors help us understand </a:t>
            </a:r>
            <a:r>
              <a:rPr lang="en-US" sz="1800" b="1" dirty="0"/>
              <a:t>how good or bad</a:t>
            </a:r>
            <a:r>
              <a:rPr lang="en-US" sz="1800" dirty="0"/>
              <a:t> a model is.</a:t>
            </a:r>
          </a:p>
          <a:p>
            <a:endParaRPr lang="en-US" sz="1800" dirty="0"/>
          </a:p>
          <a:p>
            <a:r>
              <a:rPr lang="en-US" sz="1800" b="1" dirty="0"/>
              <a:t>Typical split:</a:t>
            </a:r>
          </a:p>
          <a:p>
            <a:pPr marL="0" indent="0">
              <a:buNone/>
            </a:pPr>
            <a:r>
              <a:rPr lang="en-US" sz="1800" dirty="0"/>
              <a:t>		</a:t>
            </a:r>
            <a:r>
              <a:rPr lang="en-US" sz="1600" dirty="0"/>
              <a:t>70% Training</a:t>
            </a:r>
          </a:p>
          <a:p>
            <a:pPr marL="0" indent="0">
              <a:buNone/>
            </a:pPr>
            <a:r>
              <a:rPr lang="en-US" sz="1600" dirty="0"/>
              <a:t>		30% Testing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51891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FF4B9-DE43-AE62-8835-F504CAC09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7200E-9EBE-6491-7A42-0B9A2966E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Definition:</a:t>
            </a:r>
            <a:br>
              <a:rPr lang="en-US" sz="1800" dirty="0"/>
            </a:br>
            <a:r>
              <a:rPr lang="en-US" sz="1800" dirty="0"/>
              <a:t>Training Error is the error calculated on the </a:t>
            </a:r>
            <a:r>
              <a:rPr lang="en-US" sz="1800" b="1" dirty="0"/>
              <a:t>training dataset</a:t>
            </a:r>
            <a:r>
              <a:rPr lang="en-US" sz="1800" dirty="0"/>
              <a:t>.</a:t>
            </a:r>
          </a:p>
          <a:p>
            <a:r>
              <a:rPr lang="en-US" sz="1800" dirty="0"/>
              <a:t>It shows:</a:t>
            </a:r>
          </a:p>
          <a:p>
            <a:r>
              <a:rPr lang="en-US" sz="1800" dirty="0"/>
              <a:t>How well the model learned the training data</a:t>
            </a:r>
          </a:p>
          <a:p>
            <a:r>
              <a:rPr lang="en-US" sz="1800" b="1" dirty="0"/>
              <a:t>Simple Words:</a:t>
            </a:r>
            <a:br>
              <a:rPr lang="en-US" sz="1800" dirty="0"/>
            </a:br>
            <a:r>
              <a:rPr lang="en-US" sz="1800" dirty="0"/>
              <a:t>"How many mistakes the model makes on data it has already seen."</a:t>
            </a:r>
          </a:p>
          <a:p>
            <a:endParaRPr lang="en-US" sz="1800" dirty="0"/>
          </a:p>
          <a:p>
            <a:r>
              <a:rPr lang="en-US" sz="1800" b="1" dirty="0"/>
              <a:t>Real-Life Example - Training Error</a:t>
            </a:r>
          </a:p>
          <a:p>
            <a:r>
              <a:rPr lang="en-US" sz="1800" dirty="0"/>
              <a:t>Imagine preparing for an exam using </a:t>
            </a:r>
            <a:r>
              <a:rPr lang="en-US" sz="1800" b="1" dirty="0"/>
              <a:t>past papers</a:t>
            </a:r>
            <a:r>
              <a:rPr lang="en-US" sz="1800" dirty="0"/>
              <a:t>.</a:t>
            </a:r>
          </a:p>
          <a:p>
            <a:r>
              <a:rPr lang="en-US" sz="1800" dirty="0"/>
              <a:t>You practice the same questions again and again</a:t>
            </a:r>
          </a:p>
          <a:p>
            <a:r>
              <a:rPr lang="en-US" sz="1800" dirty="0"/>
              <a:t>You score </a:t>
            </a:r>
            <a:r>
              <a:rPr lang="en-US" sz="1800" b="1" dirty="0"/>
              <a:t>95%</a:t>
            </a:r>
            <a:r>
              <a:rPr lang="en-US" sz="1800" dirty="0"/>
              <a:t> on those practice papers</a:t>
            </a:r>
          </a:p>
          <a:p>
            <a:r>
              <a:rPr lang="en-US" sz="1800" dirty="0"/>
              <a:t>This is like </a:t>
            </a:r>
            <a:r>
              <a:rPr lang="en-US" sz="1800" b="1" dirty="0"/>
              <a:t>low training error</a:t>
            </a:r>
            <a:r>
              <a:rPr lang="en-US" sz="1800" dirty="0"/>
              <a:t>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46929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B78CF-0D6F-A063-7DBC-DAF1BFF7B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66BE5-1C46-1240-B414-53FBA3586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Definition:</a:t>
            </a:r>
            <a:br>
              <a:rPr lang="en-US" sz="1800" dirty="0"/>
            </a:br>
            <a:r>
              <a:rPr lang="en-US" sz="1800" dirty="0"/>
              <a:t>Testing Error is the error calculated on the </a:t>
            </a:r>
            <a:r>
              <a:rPr lang="en-US" sz="1800" b="1" dirty="0"/>
              <a:t>testing dataset</a:t>
            </a:r>
            <a:r>
              <a:rPr lang="en-US" sz="1800" dirty="0"/>
              <a:t>.</a:t>
            </a:r>
          </a:p>
          <a:p>
            <a:r>
              <a:rPr lang="en-US" sz="1800" dirty="0"/>
              <a:t>It shows:</a:t>
            </a:r>
          </a:p>
          <a:p>
            <a:r>
              <a:rPr lang="en-US" sz="1800" dirty="0"/>
              <a:t>How well the model performs on </a:t>
            </a:r>
            <a:r>
              <a:rPr lang="en-US" sz="1800" b="1" dirty="0"/>
              <a:t>new, unseen data</a:t>
            </a:r>
            <a:endParaRPr lang="en-US" sz="1800" dirty="0"/>
          </a:p>
          <a:p>
            <a:r>
              <a:rPr lang="en-US" sz="1800" b="1" dirty="0"/>
              <a:t>Simple Words:</a:t>
            </a:r>
            <a:br>
              <a:rPr lang="en-US" sz="1800" dirty="0"/>
            </a:br>
            <a:r>
              <a:rPr lang="en-US" sz="1800" dirty="0"/>
              <a:t>"How many mistakes the model makes on new questions.“</a:t>
            </a:r>
          </a:p>
          <a:p>
            <a:endParaRPr lang="en-US" sz="1800" dirty="0"/>
          </a:p>
          <a:p>
            <a:r>
              <a:rPr lang="en-US" sz="1800" b="1" dirty="0"/>
              <a:t>Real-Life Example - Testing Error</a:t>
            </a:r>
          </a:p>
          <a:p>
            <a:r>
              <a:rPr lang="en-US" sz="1800" dirty="0"/>
              <a:t>In the </a:t>
            </a:r>
            <a:r>
              <a:rPr lang="en-US" sz="1800" b="1" dirty="0"/>
              <a:t>final exam</a:t>
            </a:r>
            <a:r>
              <a:rPr lang="en-US" sz="1800" dirty="0"/>
              <a:t>:</a:t>
            </a:r>
          </a:p>
          <a:p>
            <a:r>
              <a:rPr lang="en-US" sz="1800" dirty="0"/>
              <a:t>Questions are new</a:t>
            </a:r>
          </a:p>
          <a:p>
            <a:r>
              <a:rPr lang="en-US" sz="1800" dirty="0"/>
              <a:t>You score </a:t>
            </a:r>
            <a:r>
              <a:rPr lang="en-US" sz="1800" b="1" dirty="0"/>
              <a:t>60%</a:t>
            </a:r>
            <a:endParaRPr lang="en-US" sz="1800" dirty="0"/>
          </a:p>
          <a:p>
            <a:r>
              <a:rPr lang="en-US" sz="1800" dirty="0"/>
              <a:t>This is like </a:t>
            </a:r>
            <a:r>
              <a:rPr lang="en-US" sz="1800" b="1" dirty="0"/>
              <a:t>high testing error</a:t>
            </a:r>
            <a:r>
              <a:rPr lang="en-US" sz="1800" dirty="0"/>
              <a:t>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43191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02C96-AB9C-63CC-5FB7-A21BB8B72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1BFCB-4092-D87F-D44D-FA2126C75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Overfitting:</a:t>
            </a:r>
            <a:endParaRPr lang="en-US" sz="1800" dirty="0"/>
          </a:p>
          <a:p>
            <a:r>
              <a:rPr lang="en-US" sz="1800" dirty="0"/>
              <a:t>Model learns training data </a:t>
            </a:r>
            <a:r>
              <a:rPr lang="en-US" sz="1800" b="1" dirty="0"/>
              <a:t>too perfectly</a:t>
            </a:r>
            <a:endParaRPr lang="en-US" sz="1800" dirty="0"/>
          </a:p>
          <a:p>
            <a:r>
              <a:rPr lang="en-US" sz="1800" dirty="0"/>
              <a:t>Results:</a:t>
            </a:r>
          </a:p>
          <a:p>
            <a:r>
              <a:rPr lang="en-US" sz="1800" dirty="0"/>
              <a:t>Very low training error</a:t>
            </a:r>
          </a:p>
          <a:p>
            <a:r>
              <a:rPr lang="en-US" sz="1800" dirty="0"/>
              <a:t>Very high testing error</a:t>
            </a:r>
          </a:p>
          <a:p>
            <a:endParaRPr lang="en-US" sz="1800" dirty="0"/>
          </a:p>
          <a:p>
            <a:r>
              <a:rPr lang="en-US" sz="1800" b="1" dirty="0"/>
              <a:t>Real-Life Example - Overfitting</a:t>
            </a:r>
          </a:p>
          <a:p>
            <a:r>
              <a:rPr lang="en-US" sz="1800" dirty="0"/>
              <a:t>A student:</a:t>
            </a:r>
          </a:p>
          <a:p>
            <a:r>
              <a:rPr lang="en-US" sz="1800" dirty="0"/>
              <a:t>Memorizes answers instead of understanding concepts</a:t>
            </a:r>
          </a:p>
          <a:p>
            <a:r>
              <a:rPr lang="en-US" sz="1800" dirty="0"/>
              <a:t>Scores 100% in practice tests</a:t>
            </a:r>
          </a:p>
          <a:p>
            <a:r>
              <a:rPr lang="en-US" sz="1800" dirty="0"/>
              <a:t>Fails final exam</a:t>
            </a:r>
          </a:p>
          <a:p>
            <a:r>
              <a:rPr lang="en-US" sz="1800" dirty="0"/>
              <a:t>This is </a:t>
            </a:r>
            <a:r>
              <a:rPr lang="en-US" sz="1800" b="1" dirty="0"/>
              <a:t>Overfitting</a:t>
            </a:r>
            <a:r>
              <a:rPr lang="en-US" sz="1800" dirty="0"/>
              <a:t>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93153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5ADCF-C2DF-8DDC-153D-A972BEAB8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Underfitting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C687F-024F-8F3E-7251-30787A374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Underfitting:</a:t>
            </a:r>
            <a:endParaRPr lang="en-US" sz="1800" dirty="0"/>
          </a:p>
          <a:p>
            <a:r>
              <a:rPr lang="en-US" sz="1800" dirty="0"/>
              <a:t>Model is too simple</a:t>
            </a:r>
          </a:p>
          <a:p>
            <a:r>
              <a:rPr lang="en-US" sz="1800" dirty="0"/>
              <a:t>Does not learn patterns properly</a:t>
            </a:r>
          </a:p>
          <a:p>
            <a:pPr marL="0" indent="0">
              <a:buNone/>
            </a:pPr>
            <a:r>
              <a:rPr lang="en-US" sz="1800" b="1" dirty="0"/>
              <a:t>Results:</a:t>
            </a:r>
          </a:p>
          <a:p>
            <a:r>
              <a:rPr lang="en-US" sz="1800" dirty="0"/>
              <a:t>High training error</a:t>
            </a:r>
          </a:p>
          <a:p>
            <a:r>
              <a:rPr lang="en-US" sz="1800" dirty="0"/>
              <a:t>High testing error</a:t>
            </a:r>
          </a:p>
          <a:p>
            <a:endParaRPr lang="en-US" sz="1800" dirty="0"/>
          </a:p>
          <a:p>
            <a:r>
              <a:rPr lang="en-US" sz="1800" b="1" dirty="0"/>
              <a:t>Real-Life Example - Underfitting</a:t>
            </a:r>
          </a:p>
          <a:p>
            <a:pPr marL="0" indent="0">
              <a:buNone/>
            </a:pPr>
            <a:r>
              <a:rPr lang="en-US" sz="1800" dirty="0"/>
              <a:t>A student:</a:t>
            </a:r>
          </a:p>
          <a:p>
            <a:r>
              <a:rPr lang="en-US" sz="1800" dirty="0"/>
              <a:t>Does not study properly</a:t>
            </a:r>
          </a:p>
          <a:p>
            <a:r>
              <a:rPr lang="en-US" sz="1800" dirty="0"/>
              <a:t>Scores low in practice tests</a:t>
            </a:r>
          </a:p>
          <a:p>
            <a:r>
              <a:rPr lang="en-US" sz="1800" dirty="0"/>
              <a:t>Scores low in final exam</a:t>
            </a:r>
          </a:p>
          <a:p>
            <a:r>
              <a:rPr lang="en-US" sz="1800" dirty="0"/>
              <a:t>This is </a:t>
            </a:r>
            <a:r>
              <a:rPr lang="en-US" sz="1800" b="1" dirty="0"/>
              <a:t>Underfitting</a:t>
            </a:r>
            <a:r>
              <a:rPr lang="en-US" sz="1800" dirty="0"/>
              <a:t>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97173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1D8AF-087D-A29C-10E2-8B8CA4A27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Balanced Model (Good Fit)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A2BF1-FB70-0609-F0BE-54232EC86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037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Good Fit:</a:t>
            </a:r>
            <a:endParaRPr lang="en-US" sz="1800" dirty="0"/>
          </a:p>
          <a:p>
            <a:r>
              <a:rPr lang="en-US" sz="1800" dirty="0"/>
              <a:t>Training error is low</a:t>
            </a:r>
          </a:p>
          <a:p>
            <a:r>
              <a:rPr lang="en-US" sz="1800" dirty="0"/>
              <a:t>Testing error is also low</a:t>
            </a:r>
          </a:p>
          <a:p>
            <a:pPr marL="0" indent="0">
              <a:buNone/>
            </a:pPr>
            <a:r>
              <a:rPr lang="en-US" sz="1800" dirty="0"/>
              <a:t>Student:</a:t>
            </a:r>
          </a:p>
          <a:p>
            <a:r>
              <a:rPr lang="en-US" sz="1800" dirty="0"/>
              <a:t>Understands concepts</a:t>
            </a:r>
          </a:p>
          <a:p>
            <a:r>
              <a:rPr lang="en-US" sz="1800" dirty="0"/>
              <a:t>Performs well everywhere</a:t>
            </a:r>
          </a:p>
          <a:p>
            <a:endParaRPr lang="en-US" sz="1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A11A8A-3B5B-A92F-B632-4CA1676F04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276681"/>
              </p:ext>
            </p:extLst>
          </p:nvPr>
        </p:nvGraphicFramePr>
        <p:xfrm>
          <a:off x="555522" y="4224439"/>
          <a:ext cx="803295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910">
                  <a:extLst>
                    <a:ext uri="{9D8B030D-6E8A-4147-A177-3AD203B41FA5}">
                      <a16:colId xmlns:a16="http://schemas.microsoft.com/office/drawing/2014/main" val="852824011"/>
                    </a:ext>
                  </a:extLst>
                </a:gridCol>
                <a:gridCol w="1917290">
                  <a:extLst>
                    <a:ext uri="{9D8B030D-6E8A-4147-A177-3AD203B41FA5}">
                      <a16:colId xmlns:a16="http://schemas.microsoft.com/office/drawing/2014/main" val="1412147927"/>
                    </a:ext>
                  </a:extLst>
                </a:gridCol>
                <a:gridCol w="1808265">
                  <a:extLst>
                    <a:ext uri="{9D8B030D-6E8A-4147-A177-3AD203B41FA5}">
                      <a16:colId xmlns:a16="http://schemas.microsoft.com/office/drawing/2014/main" val="630573146"/>
                    </a:ext>
                  </a:extLst>
                </a:gridCol>
                <a:gridCol w="2719490">
                  <a:extLst>
                    <a:ext uri="{9D8B030D-6E8A-4147-A177-3AD203B41FA5}">
                      <a16:colId xmlns:a16="http://schemas.microsoft.com/office/drawing/2014/main" val="3089826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Testing Error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71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Underfitting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 too simple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1005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Overfitting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 memorized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135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Good 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 learned well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545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4935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2496</TotalTime>
  <Words>755</Words>
  <Application>Microsoft Office PowerPoint</Application>
  <PresentationFormat>On-screen Show (4:3)</PresentationFormat>
  <Paragraphs>194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 Math</vt:lpstr>
      <vt:lpstr>Office Theme</vt:lpstr>
      <vt:lpstr>Lecture # 7</vt:lpstr>
      <vt:lpstr>K-Nearest Neighbors (KNN)</vt:lpstr>
      <vt:lpstr>Why it is Called K-Nearest Neighbors?</vt:lpstr>
      <vt:lpstr>Simple Real-Life Analogy</vt:lpstr>
      <vt:lpstr>How KNN Works (Step-by-Step)</vt:lpstr>
      <vt:lpstr>Distance Measures in KNN</vt:lpstr>
      <vt:lpstr>Example Dataset</vt:lpstr>
      <vt:lpstr>Choosing the Value of K</vt:lpstr>
      <vt:lpstr>Advantages/Disadvantages</vt:lpstr>
      <vt:lpstr>PowerPoint Presentation</vt:lpstr>
      <vt:lpstr>Training and Testing Error</vt:lpstr>
      <vt:lpstr>Training Error</vt:lpstr>
      <vt:lpstr>Testing Error</vt:lpstr>
      <vt:lpstr>Overfitting Concept</vt:lpstr>
      <vt:lpstr>Underfitting Concept</vt:lpstr>
      <vt:lpstr>Balanced Model (Good Fit)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Hussain</cp:lastModifiedBy>
  <cp:revision>65</cp:revision>
  <dcterms:created xsi:type="dcterms:W3CDTF">2013-01-27T09:14:16Z</dcterms:created>
  <dcterms:modified xsi:type="dcterms:W3CDTF">2026-05-12T14:18:27Z</dcterms:modified>
  <cp:category/>
</cp:coreProperties>
</file>