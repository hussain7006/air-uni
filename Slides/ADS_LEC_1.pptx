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2E6B-60B2-235A-8D1B-0ABBAEA520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65476B-707A-A2C4-5FD6-8BA9C59D4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BC078-EC22-70A8-B05B-DE8ED3DE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76C4F-9F28-062A-D8C4-FCD7F065A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F464BB-D656-1405-EF52-ED262FD2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455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69F6A-473F-B681-FEDC-7582F0BE4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3D064-5432-0C14-807E-CD9C77B3AC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1B7CEC-4853-AEE1-3394-B462D791B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6307D-3A47-9F29-6640-A2CCF25A8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6B04D-6512-2175-BF19-7582E9D2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31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32E90-7262-76C2-1F94-0BE428542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FE91C-8D59-6C51-0D7A-4C14451DB2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FE4BA-0811-ACB8-AD41-2206483F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98471-3A58-237B-9105-E738F251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57DCF-1193-7675-00DC-53C67EA5A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5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62894-3C17-447A-C61F-376F5B473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C3AFD-2F80-114D-3E75-378C7A93D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F4D24-DC69-4CDD-E4EB-F4A6D0107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F7B1F7-4D14-83AD-C9E7-529A60B9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24B8F2-BC77-E89C-9679-ED411706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6D1B33-A05D-2B79-73B4-AB1C09542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BD8E-1F28-5376-FD73-D8726E4F9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BCB0B-FA60-9DFA-00D4-DC98F1230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BF5BA-A182-1695-90DF-7A5C57E62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5B978-6162-CF08-E25D-F5E358972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2B1BE-5050-DE80-037A-2FBACD868A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B0A3DB-B1A8-530B-7498-23AC7937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84FD4D-F2B9-0C9A-8106-81EF013D5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359DBF-F2EF-8E9D-47A3-9E2181874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88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6640-F56C-06F3-74C8-74CF21DA6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B4D5E-6A51-D71A-C01F-3F4142524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FA4A0-CE72-6BAE-C0BA-C9A81C24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E82F86-8369-64F8-3D4C-3AEC8945A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62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66A871-857C-47EC-51D1-B3A4E7765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BF1743-576E-F257-97B0-F65C88B09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6D2FA-B7C3-F45C-35CA-4C231AC2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76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C0FE-416B-ECF2-5C1C-212FF8CE9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BF758-F5C0-CEE5-9078-C304D5C30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79B4D-DA27-0B23-A586-7189D24A4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253113-57C4-E126-12FB-C165E2674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2FAD1-881E-80FF-8474-704603152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2B374-931B-73DA-6C70-9982B99BD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63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E591-5C97-2877-1D23-8AA8F0547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E54A6F-2734-0BD9-E5ED-101B5AA348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AC3249-0758-6EB3-2388-946864F1C4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E188D-9ABC-27DA-657A-34C0B4435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8023B-DB5E-CB97-893D-492111A58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A10E1C-0E10-243D-6A4E-576CB95C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459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D005B-2E0B-ED90-A1BD-F65FBB61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CA81D2-89DF-5B79-E976-74D6E48384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41EFE3-4D9B-8261-8383-78D761BB6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F737B-1282-1E22-D80C-7D8762A0E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606EA-A4A9-4D37-9972-4D17924E2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712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B0BD1F-E7C2-410C-4EF8-451EE27B34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FEBB05-1BB6-FC5C-8141-7C5B19006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0D071-F445-81A3-1318-E1B990F1C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FF58D-0549-6A07-65E1-248B4A440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83814-D9AC-CF19-7E51-1E14116D7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7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C3480-43C6-D12E-ED74-400E4A43C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256AB7-FB11-0910-2451-D4FE3F19B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6F641-BE9C-D7FB-725F-EE20BE507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05FD56-F25B-46BA-80F6-CCD95C0515B8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897C-2DD9-3553-03A6-68EBA5058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3EAF8-F4FC-4B2E-E0BA-C00E823CF9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1C5BC3-817B-482C-A8BA-958E8A489F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85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BA1BE-E91A-CC0D-EA60-472C14F83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17688"/>
            <a:ext cx="9144000" cy="1058862"/>
          </a:xfrm>
        </p:spPr>
        <p:txBody>
          <a:bodyPr/>
          <a:lstStyle/>
          <a:p>
            <a:r>
              <a:rPr lang="en-US" b="1" u="sng" dirty="0"/>
              <a:t>LEC #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F3538-6998-13E9-DC8D-06296BA842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35363"/>
            <a:ext cx="9144000" cy="684212"/>
          </a:xfrm>
        </p:spPr>
        <p:txBody>
          <a:bodyPr>
            <a:normAutofit lnSpcReduction="10000"/>
          </a:bodyPr>
          <a:lstStyle/>
          <a:p>
            <a:r>
              <a:rPr lang="en-US" sz="4400" b="1" dirty="0"/>
              <a:t>INTRODUCTION TO DATA STRUCTURES</a:t>
            </a:r>
          </a:p>
        </p:txBody>
      </p:sp>
    </p:spTree>
    <p:extLst>
      <p:ext uri="{BB962C8B-B14F-4D97-AF65-F5344CB8AC3E}">
        <p14:creationId xmlns:p14="http://schemas.microsoft.com/office/powerpoint/2010/main" val="23284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7CF0E-BC2F-C4A9-0AE4-881BD1908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4575"/>
          </a:xfrm>
        </p:spPr>
        <p:txBody>
          <a:bodyPr/>
          <a:lstStyle/>
          <a:p>
            <a:r>
              <a:rPr lang="en-US" b="1" u="sng" dirty="0"/>
              <a:t>Data: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CB119-ADD1-48AD-04D8-9F8BD99A5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9700"/>
            <a:ext cx="10515600" cy="4743450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Data</a:t>
            </a:r>
            <a:r>
              <a:rPr lang="en-US" dirty="0"/>
              <a:t> is any value or set of values that a computer program needs to </a:t>
            </a:r>
            <a:r>
              <a:rPr lang="en-US" b="1" dirty="0"/>
              <a:t>store</a:t>
            </a:r>
            <a:r>
              <a:rPr lang="en-US" dirty="0"/>
              <a:t> and </a:t>
            </a:r>
            <a:r>
              <a:rPr lang="en-US" b="1" dirty="0"/>
              <a:t>process</a:t>
            </a:r>
            <a:r>
              <a:rPr lang="en-US" dirty="0"/>
              <a:t> to achieve a goal.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Data is simply </a:t>
            </a:r>
            <a:r>
              <a:rPr lang="en-US" i="1" dirty="0"/>
              <a:t>information</a:t>
            </a:r>
            <a:r>
              <a:rPr lang="en-US" dirty="0"/>
              <a:t> that we can store and process on a computer.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Example: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Numbers like 5, 10, 15</a:t>
            </a:r>
          </a:p>
          <a:p>
            <a:pPr marL="0" indent="0">
              <a:buNone/>
            </a:pPr>
            <a:r>
              <a:rPr lang="en-US" dirty="0"/>
              <a:t>	Words like "Hello" or "Apple"</a:t>
            </a:r>
          </a:p>
          <a:p>
            <a:pPr marL="0" indent="0">
              <a:buNone/>
            </a:pPr>
            <a:r>
              <a:rPr lang="en-US" dirty="0"/>
              <a:t>	Temperature readings like 28°C</a:t>
            </a:r>
          </a:p>
          <a:p>
            <a:pPr marL="0" indent="0">
              <a:buNone/>
            </a:pPr>
            <a:r>
              <a:rPr lang="en-US" dirty="0"/>
              <a:t>	Student names, IDs, and marks in a database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45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9DAFA-B2AF-BFA6-0685-D5C1EFE5E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3625"/>
          </a:xfrm>
        </p:spPr>
        <p:txBody>
          <a:bodyPr/>
          <a:lstStyle/>
          <a:p>
            <a:r>
              <a:rPr lang="en-US" b="1" u="sng" dirty="0"/>
              <a:t>Data Structure?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1B823-A7C4-3F23-CD3F-A1AA72958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data structure</a:t>
            </a:r>
            <a:r>
              <a:rPr lang="en-US" dirty="0"/>
              <a:t> is a way of organizing data that is stored in computer.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/>
              <a:t>Examples:</a:t>
            </a:r>
          </a:p>
          <a:p>
            <a:r>
              <a:rPr lang="en-US" sz="2000" b="1" dirty="0"/>
              <a:t>List / Array:</a:t>
            </a:r>
            <a:r>
              <a:rPr lang="en-US" sz="2000" dirty="0"/>
              <a:t> like a row of boxes, each holding one item (like seats in a bus).</a:t>
            </a:r>
          </a:p>
          <a:p>
            <a:r>
              <a:rPr lang="en-US" sz="2000" b="1" dirty="0"/>
              <a:t>Stack:</a:t>
            </a:r>
            <a:r>
              <a:rPr lang="en-US" sz="2000" dirty="0"/>
              <a:t> like a stack of plates — you can only take the top one first (Last In, First Out).</a:t>
            </a:r>
          </a:p>
          <a:p>
            <a:r>
              <a:rPr lang="en-US" sz="2000" b="1" dirty="0"/>
              <a:t>Queue:</a:t>
            </a:r>
            <a:r>
              <a:rPr lang="en-US" sz="2000" dirty="0"/>
              <a:t> like a line at a ticket counter — first person in line is served first (First In, First Out).</a:t>
            </a:r>
          </a:p>
          <a:p>
            <a:r>
              <a:rPr lang="en-US" sz="2000" b="1" dirty="0"/>
              <a:t>Tree:</a:t>
            </a:r>
            <a:r>
              <a:rPr lang="en-US" sz="2000" dirty="0"/>
              <a:t> like a family tree, where one parent has children, and those children can have their own children</a:t>
            </a:r>
          </a:p>
        </p:txBody>
      </p:sp>
    </p:spTree>
    <p:extLst>
      <p:ext uri="{BB962C8B-B14F-4D97-AF65-F5344CB8AC3E}">
        <p14:creationId xmlns:p14="http://schemas.microsoft.com/office/powerpoint/2010/main" val="816269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C1F2D-E4CE-6D84-DFC8-879C8C7C6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1700"/>
          </a:xfrm>
        </p:spPr>
        <p:txBody>
          <a:bodyPr/>
          <a:lstStyle/>
          <a:p>
            <a:pPr algn="ctr"/>
            <a:r>
              <a:rPr lang="en-US" b="1" u="sng" dirty="0"/>
              <a:t>Classification of 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B6CD7-96E8-27E7-AC44-7C1455AA8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1228725"/>
          </a:xfrm>
        </p:spPr>
        <p:txBody>
          <a:bodyPr>
            <a:normAutofit/>
          </a:bodyPr>
          <a:lstStyle/>
          <a:p>
            <a:r>
              <a:rPr lang="en-US" sz="2400" b="1" dirty="0"/>
              <a:t>Data Structures are classified into: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Primitive Data Structures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Non-Primitive Data Structures</a:t>
            </a:r>
          </a:p>
          <a:p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F1EAF5-1EF4-3E92-55BB-7C529759CF80}"/>
              </a:ext>
            </a:extLst>
          </p:cNvPr>
          <p:cNvSpPr txBox="1">
            <a:spLocks/>
          </p:cNvSpPr>
          <p:nvPr/>
        </p:nvSpPr>
        <p:spPr>
          <a:xfrm>
            <a:off x="838200" y="3251199"/>
            <a:ext cx="5105400" cy="28670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Primitive Data Structures</a:t>
            </a:r>
          </a:p>
          <a:p>
            <a:pPr lvl="1"/>
            <a:r>
              <a:rPr lang="en-US" sz="2000" dirty="0"/>
              <a:t>Store a </a:t>
            </a:r>
            <a:r>
              <a:rPr lang="en-US" sz="2000" b="1" dirty="0"/>
              <a:t>single value</a:t>
            </a:r>
            <a:r>
              <a:rPr lang="en-US" sz="2000" dirty="0"/>
              <a:t> at a time</a:t>
            </a:r>
          </a:p>
          <a:p>
            <a:pPr marL="457200" lvl="1" indent="0">
              <a:buNone/>
            </a:pPr>
            <a:endParaRPr lang="en-US" sz="1600" dirty="0"/>
          </a:p>
          <a:p>
            <a:r>
              <a:rPr lang="en-US" sz="2000" b="1" dirty="0"/>
              <a:t>Examples:</a:t>
            </a:r>
          </a:p>
          <a:p>
            <a:pPr lvl="1"/>
            <a:r>
              <a:rPr lang="en-US" sz="2000" dirty="0"/>
              <a:t>Byte → 10,−5, </a:t>
            </a:r>
            <a:r>
              <a:rPr lang="en-US" sz="2000" b="1" dirty="0"/>
              <a:t>125                 </a:t>
            </a:r>
            <a:r>
              <a:rPr lang="en-US" sz="2000" b="1" dirty="0">
                <a:solidFill>
                  <a:schemeClr val="bg1"/>
                </a:solidFill>
              </a:rPr>
              <a:t>8 bits</a:t>
            </a:r>
            <a:r>
              <a:rPr lang="en-US" sz="2000" dirty="0">
                <a:solidFill>
                  <a:schemeClr val="bg1"/>
                </a:solidFill>
              </a:rPr>
              <a:t> (1 byte)</a:t>
            </a:r>
          </a:p>
          <a:p>
            <a:pPr lvl="1"/>
            <a:r>
              <a:rPr lang="en-US" sz="2000" dirty="0"/>
              <a:t>int</a:t>
            </a:r>
            <a:r>
              <a:rPr lang="en-US" sz="2200" dirty="0"/>
              <a:t> → 10, 20, -5,            </a:t>
            </a:r>
            <a:r>
              <a:rPr lang="en-US" sz="2000" dirty="0">
                <a:solidFill>
                  <a:schemeClr val="bg1"/>
                </a:solidFill>
              </a:rPr>
              <a:t>8 bits </a:t>
            </a:r>
            <a:r>
              <a:rPr lang="en-US" sz="2200" dirty="0">
                <a:solidFill>
                  <a:schemeClr val="bg1"/>
                </a:solidFill>
              </a:rPr>
              <a:t>(2 bytes)</a:t>
            </a:r>
          </a:p>
          <a:p>
            <a:pPr lvl="1"/>
            <a:r>
              <a:rPr lang="en-US" sz="2000" dirty="0"/>
              <a:t>float</a:t>
            </a:r>
            <a:r>
              <a:rPr lang="en-US" sz="2200" dirty="0"/>
              <a:t> → 3.14, -0.99       </a:t>
            </a:r>
            <a:r>
              <a:rPr lang="en-US" sz="2000" dirty="0">
                <a:solidFill>
                  <a:schemeClr val="bg1"/>
                </a:solidFill>
              </a:rPr>
              <a:t>32 bits (4 bytes)</a:t>
            </a:r>
          </a:p>
          <a:p>
            <a:pPr lvl="1"/>
            <a:r>
              <a:rPr lang="en-US" sz="2200" dirty="0"/>
              <a:t>Long → 1234567890   </a:t>
            </a:r>
            <a:r>
              <a:rPr lang="en-US" sz="2200" dirty="0">
                <a:solidFill>
                  <a:schemeClr val="bg1"/>
                </a:solidFill>
              </a:rPr>
              <a:t>64 bits (2 bytes)</a:t>
            </a:r>
          </a:p>
          <a:p>
            <a:pPr lvl="1"/>
            <a:r>
              <a:rPr lang="en-US" sz="2000" dirty="0"/>
              <a:t>char</a:t>
            </a:r>
            <a:r>
              <a:rPr lang="en-US" sz="2200" dirty="0"/>
              <a:t> → 'A', ‘b’	    </a:t>
            </a:r>
            <a:r>
              <a:rPr lang="en-US" sz="2000" dirty="0">
                <a:solidFill>
                  <a:schemeClr val="bg1"/>
                </a:solidFill>
              </a:rPr>
              <a:t>16 bits </a:t>
            </a:r>
            <a:r>
              <a:rPr lang="en-US" sz="2200" dirty="0">
                <a:solidFill>
                  <a:schemeClr val="bg1"/>
                </a:solidFill>
              </a:rPr>
              <a:t>(2 bytes)</a:t>
            </a:r>
          </a:p>
          <a:p>
            <a:pPr lvl="1"/>
            <a:r>
              <a:rPr lang="en-US" sz="2000" dirty="0"/>
              <a:t>bool</a:t>
            </a:r>
            <a:r>
              <a:rPr lang="en-US" sz="2200" dirty="0"/>
              <a:t> → true / false       </a:t>
            </a:r>
            <a:r>
              <a:rPr lang="en-US" sz="2000" dirty="0">
                <a:solidFill>
                  <a:schemeClr val="bg1"/>
                </a:solidFill>
              </a:rPr>
              <a:t>1 bit</a:t>
            </a:r>
            <a:endParaRPr lang="en-US" sz="2200" b="1" dirty="0">
              <a:solidFill>
                <a:schemeClr val="bg1"/>
              </a:solidFill>
            </a:endParaRPr>
          </a:p>
        </p:txBody>
      </p:sp>
      <p:pic>
        <p:nvPicPr>
          <p:cNvPr id="1027" name="Picture 3" descr="Primitive Data Structure: Types &amp; its Operations">
            <a:extLst>
              <a:ext uri="{FF2B5EF4-FFF2-40B4-BE49-F238E27FC236}">
                <a16:creationId xmlns:a16="http://schemas.microsoft.com/office/drawing/2014/main" id="{D2B666D9-0942-47DA-85AA-95A3E0C36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1266824"/>
            <a:ext cx="5613400" cy="4851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9611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BAEE-DBDB-FFDA-3476-226148C44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Non-Primitive Data Structures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B1DCAD-3662-1385-531C-B8166BEAF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1228725"/>
          </a:xfrm>
        </p:spPr>
        <p:txBody>
          <a:bodyPr>
            <a:normAutofit/>
          </a:bodyPr>
          <a:lstStyle/>
          <a:p>
            <a:r>
              <a:rPr lang="en-US" sz="2400" b="1" dirty="0"/>
              <a:t>Non-Primitive Data Structures</a:t>
            </a:r>
          </a:p>
          <a:p>
            <a:pPr lvl="1"/>
            <a:r>
              <a:rPr lang="en-US" sz="2000" dirty="0"/>
              <a:t>Derived from primitive data types.</a:t>
            </a:r>
          </a:p>
          <a:p>
            <a:pPr lvl="1"/>
            <a:r>
              <a:rPr lang="en-US" sz="2000" dirty="0"/>
              <a:t>Used to store </a:t>
            </a:r>
            <a:r>
              <a:rPr lang="en-US" sz="2000" b="1" dirty="0"/>
              <a:t>large or complex</a:t>
            </a:r>
            <a:r>
              <a:rPr lang="en-US" sz="2000" dirty="0"/>
              <a:t> data efficiently.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4C6F79-558D-688B-41FD-A66524648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625" y="731217"/>
            <a:ext cx="5158187" cy="516475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241E69-4A4C-90BD-A9E8-9F41A7D00784}"/>
              </a:ext>
            </a:extLst>
          </p:cNvPr>
          <p:cNvSpPr txBox="1"/>
          <p:nvPr/>
        </p:nvSpPr>
        <p:spPr>
          <a:xfrm>
            <a:off x="838200" y="4057650"/>
            <a:ext cx="5048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/>
              <a:t>Examples:</a:t>
            </a:r>
            <a:endParaRPr lang="en-US" sz="2400" dirty="0"/>
          </a:p>
          <a:p>
            <a:pPr>
              <a:buFont typeface="+mj-lt"/>
              <a:buAutoNum type="arabicPeriod"/>
            </a:pPr>
            <a:r>
              <a:rPr lang="en-US" b="1" dirty="0"/>
              <a:t>Array</a:t>
            </a:r>
            <a:r>
              <a:rPr lang="en-US" dirty="0"/>
              <a:t> – fixed size, easy access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Linked List</a:t>
            </a:r>
            <a:r>
              <a:rPr lang="en-US" dirty="0"/>
              <a:t> – flexible, can grow/shrink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Stack</a:t>
            </a:r>
            <a:r>
              <a:rPr lang="en-US" dirty="0"/>
              <a:t> – Last In First Out (LIFO)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Queue</a:t>
            </a:r>
            <a:r>
              <a:rPr lang="en-US" dirty="0"/>
              <a:t> – First In First Out (FIFO)</a:t>
            </a:r>
          </a:p>
        </p:txBody>
      </p:sp>
    </p:spTree>
    <p:extLst>
      <p:ext uri="{BB962C8B-B14F-4D97-AF65-F5344CB8AC3E}">
        <p14:creationId xmlns:p14="http://schemas.microsoft.com/office/powerpoint/2010/main" val="2910912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5FA1E-7FCF-8578-7E29-738FD5086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4650"/>
            <a:ext cx="10515600" cy="1006475"/>
          </a:xfrm>
        </p:spPr>
        <p:txBody>
          <a:bodyPr/>
          <a:lstStyle/>
          <a:p>
            <a:pPr algn="ctr"/>
            <a:r>
              <a:rPr lang="en-US" b="1" u="sng" dirty="0"/>
              <a:t>Summary Table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1526F5-9652-EF18-31C3-41753209AE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983848"/>
              </p:ext>
            </p:extLst>
          </p:nvPr>
        </p:nvGraphicFramePr>
        <p:xfrm>
          <a:off x="838200" y="1285875"/>
          <a:ext cx="10515600" cy="237172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665101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207994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685838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696448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40013384"/>
                    </a:ext>
                  </a:extLst>
                </a:gridCol>
              </a:tblGrid>
              <a:tr h="499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Category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Analogy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207423"/>
                  </a:ext>
                </a:extLst>
              </a:tr>
              <a:tr h="499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Primitive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int, float, char, bool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Basic types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int x = 5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Ingredients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760128"/>
                  </a:ext>
                </a:extLst>
              </a:tr>
              <a:tr h="499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Non-Primitive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Linear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Sequential storage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Array, Stack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Queue / Shelf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6478"/>
                  </a:ext>
                </a:extLst>
              </a:tr>
              <a:tr h="8737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Non-Primitive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Non-Linear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Hierarchical / Network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Tree, Graph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Family tree / Map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686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95A0AE-B9E0-DC42-2B2A-734209DD5B51}"/>
              </a:ext>
            </a:extLst>
          </p:cNvPr>
          <p:cNvSpPr txBox="1"/>
          <p:nvPr/>
        </p:nvSpPr>
        <p:spPr>
          <a:xfrm>
            <a:off x="838200" y="3939659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Key Takeaways: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09CF-7A72-AB71-CBD1-0127242DAC43}"/>
              </a:ext>
            </a:extLst>
          </p:cNvPr>
          <p:cNvSpPr txBox="1"/>
          <p:nvPr/>
        </p:nvSpPr>
        <p:spPr>
          <a:xfrm>
            <a:off x="1485900" y="4339769"/>
            <a:ext cx="9525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✅ Data structures help in </a:t>
            </a:r>
            <a:r>
              <a:rPr lang="en-US" b="1" dirty="0"/>
              <a:t>storing and organizing data efficiently</a:t>
            </a:r>
            <a:br>
              <a:rPr lang="en-US" dirty="0"/>
            </a:br>
            <a:r>
              <a:rPr lang="en-US" dirty="0"/>
              <a:t>✅ Two main types: </a:t>
            </a:r>
            <a:r>
              <a:rPr lang="en-US" b="1" dirty="0"/>
              <a:t>Primitive</a:t>
            </a:r>
            <a:r>
              <a:rPr lang="en-US" dirty="0"/>
              <a:t> and </a:t>
            </a:r>
            <a:r>
              <a:rPr lang="en-US" b="1" dirty="0"/>
              <a:t>Non-Primitive</a:t>
            </a:r>
            <a:br>
              <a:rPr lang="en-US" dirty="0"/>
            </a:br>
            <a:r>
              <a:rPr lang="en-US" dirty="0"/>
              <a:t>✅ Non-Primitive further divided into </a:t>
            </a:r>
            <a:r>
              <a:rPr lang="en-US" b="1" dirty="0"/>
              <a:t>Linear</a:t>
            </a:r>
            <a:r>
              <a:rPr lang="en-US" dirty="0"/>
              <a:t> and </a:t>
            </a:r>
            <a:r>
              <a:rPr lang="en-US" b="1" dirty="0"/>
              <a:t>Non-Linear</a:t>
            </a:r>
            <a:br>
              <a:rPr lang="en-US" dirty="0"/>
            </a:br>
            <a:r>
              <a:rPr lang="en-US" dirty="0"/>
              <a:t>✅ Each structure has its own </a:t>
            </a:r>
            <a:r>
              <a:rPr lang="en-US" b="1" dirty="0"/>
              <a:t>advantages and real-life analogies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553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1FD7B-0391-14CD-1798-028896468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What is an Algorithm?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A3E5C-57A8-3DD8-654F-11B713976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8050"/>
          </a:xfrm>
        </p:spPr>
        <p:txBody>
          <a:bodyPr>
            <a:normAutofit/>
          </a:bodyPr>
          <a:lstStyle/>
          <a:p>
            <a:r>
              <a:rPr lang="en-US" sz="2400" dirty="0"/>
              <a:t>An </a:t>
            </a:r>
            <a:r>
              <a:rPr lang="en-US" sz="2400" b="1" dirty="0"/>
              <a:t>algorithm</a:t>
            </a:r>
            <a:r>
              <a:rPr lang="en-US" sz="2400" dirty="0"/>
              <a:t> is a set of step-by-step instructions to solve a problem.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16CF44-C528-CD0B-57F4-9430D38B0DF9}"/>
              </a:ext>
            </a:extLst>
          </p:cNvPr>
          <p:cNvSpPr txBox="1"/>
          <p:nvPr/>
        </p:nvSpPr>
        <p:spPr>
          <a:xfrm>
            <a:off x="1019175" y="2733675"/>
            <a:ext cx="609600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/>
              <a:t>Example: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b="1" dirty="0"/>
              <a:t>Making tea algorithm:</a:t>
            </a:r>
            <a:endParaRPr lang="en-US" dirty="0"/>
          </a:p>
          <a:p>
            <a:pPr lvl="1">
              <a:buFont typeface="+mj-lt"/>
              <a:buAutoNum type="arabicPeriod"/>
            </a:pPr>
            <a:r>
              <a:rPr lang="en-US" dirty="0"/>
              <a:t>Boil water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Add tea leaves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Add milk and sugar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Stir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Serve</a:t>
            </a:r>
          </a:p>
        </p:txBody>
      </p:sp>
    </p:spTree>
    <p:extLst>
      <p:ext uri="{BB962C8B-B14F-4D97-AF65-F5344CB8AC3E}">
        <p14:creationId xmlns:p14="http://schemas.microsoft.com/office/powerpoint/2010/main" val="250314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A158-45D8-1358-49D3-7B6897212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The Big Picture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D5FD90A-C06C-2AC6-ACDF-210ED0B77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8237" y="2241918"/>
            <a:ext cx="99155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what we work 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Structures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organize the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Algorithms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perform actions on data (like searching, sorting, etc.).</a:t>
            </a:r>
          </a:p>
        </p:txBody>
      </p:sp>
    </p:spTree>
    <p:extLst>
      <p:ext uri="{BB962C8B-B14F-4D97-AF65-F5344CB8AC3E}">
        <p14:creationId xmlns:p14="http://schemas.microsoft.com/office/powerpoint/2010/main" val="4131242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32B8F-D1A3-87B7-C58F-1062213E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Flowchart Building Blocks</a:t>
            </a:r>
          </a:p>
        </p:txBody>
      </p:sp>
      <p:pic>
        <p:nvPicPr>
          <p:cNvPr id="5122" name="Picture 2" descr="Basic flowchart symbols">
            <a:extLst>
              <a:ext uri="{FF2B5EF4-FFF2-40B4-BE49-F238E27FC236}">
                <a16:creationId xmlns:a16="http://schemas.microsoft.com/office/drawing/2014/main" id="{5395C251-4427-85C0-4F9F-40A9297C3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6667500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26704E-0535-AF21-86EB-5F810CE90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655" y="1690688"/>
            <a:ext cx="2975721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953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0C2F-1EEB-A110-8E0D-66E857DD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5587"/>
            <a:ext cx="10515600" cy="1072694"/>
          </a:xfrm>
        </p:spPr>
        <p:txBody>
          <a:bodyPr/>
          <a:lstStyle/>
          <a:p>
            <a:pPr algn="ctr"/>
            <a:r>
              <a:rPr lang="en-US" b="1" u="sng" dirty="0"/>
              <a:t>Stepwise Refinement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C49532-AEE4-1BC9-9C85-AF0A37B955C0}"/>
              </a:ext>
            </a:extLst>
          </p:cNvPr>
          <p:cNvSpPr txBox="1"/>
          <p:nvPr/>
        </p:nvSpPr>
        <p:spPr>
          <a:xfrm>
            <a:off x="838200" y="1294487"/>
            <a:ext cx="9744075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Breaking a big problem into smaller, easier parts.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b="1" dirty="0"/>
              <a:t>Example: </a:t>
            </a:r>
          </a:p>
          <a:p>
            <a:r>
              <a:rPr lang="en-US" sz="2000" b="1" dirty="0"/>
              <a:t> Goal:</a:t>
            </a:r>
            <a:r>
              <a:rPr lang="en-US" sz="2000" dirty="0"/>
              <a:t> Take a number as input and check whether it is positive, negative, or zero.</a:t>
            </a:r>
          </a:p>
          <a:p>
            <a:endParaRPr lang="en-US" sz="20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 Start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Take input from the user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 Check if the number is greater than 0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b="1" dirty="0">
                <a:latin typeface="Arial" panose="020B0604020202020204" pitchFamily="34" charset="0"/>
              </a:rPr>
              <a:t>If yes → print “Positive”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b="1" dirty="0">
                <a:latin typeface="Arial" panose="020B0604020202020204" pitchFamily="34" charset="0"/>
              </a:rPr>
              <a:t>Else if number is less than 0 → print “Negative”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b="1" dirty="0">
                <a:latin typeface="Arial" panose="020B0604020202020204" pitchFamily="34" charset="0"/>
              </a:rPr>
              <a:t>Else → print “Zero”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b="1" dirty="0">
                <a:latin typeface="Arial" panose="020B0604020202020204" pitchFamily="34" charset="0"/>
              </a:rPr>
              <a:t>End</a:t>
            </a:r>
          </a:p>
          <a:p>
            <a:endParaRPr lang="en-US" sz="2000" dirty="0"/>
          </a:p>
          <a:p>
            <a:pPr>
              <a:buNone/>
            </a:pPr>
            <a:r>
              <a:rPr lang="en-US" sz="2000" dirty="0"/>
              <a:t> In programming, we do the same — solve the problem </a:t>
            </a:r>
            <a:r>
              <a:rPr lang="en-US" sz="2000" i="1" dirty="0"/>
              <a:t>step by step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13562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603</Words>
  <Application>Microsoft Office PowerPoint</Application>
  <PresentationFormat>Widescreen</PresentationFormat>
  <Paragraphs>102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Theme</vt:lpstr>
      <vt:lpstr>LEC # 1</vt:lpstr>
      <vt:lpstr>Data:</vt:lpstr>
      <vt:lpstr>Data Structure?</vt:lpstr>
      <vt:lpstr>Classification of Data Structures</vt:lpstr>
      <vt:lpstr>Non-Primitive Data Structures</vt:lpstr>
      <vt:lpstr>Summary Table</vt:lpstr>
      <vt:lpstr>What is an Algorithm?</vt:lpstr>
      <vt:lpstr>The Big Picture</vt:lpstr>
      <vt:lpstr>Flowchart Building Blocks</vt:lpstr>
      <vt:lpstr>Stepwise Refinement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Hussain</dc:creator>
  <cp:lastModifiedBy>Muhammad Hussain</cp:lastModifiedBy>
  <cp:revision>10</cp:revision>
  <dcterms:created xsi:type="dcterms:W3CDTF">2025-10-13T09:28:21Z</dcterms:created>
  <dcterms:modified xsi:type="dcterms:W3CDTF">2025-10-14T11:57:56Z</dcterms:modified>
</cp:coreProperties>
</file>