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452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A6EBA-3E3E-CAE6-B807-D41BA0B3F4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DE6C83-512B-69C0-620D-C335007E79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770108-EAD6-040E-B4D4-A50286F77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198D18-60DA-44A0-8BB7-8968EFFFEA5C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C2B7AF-BD88-34EA-C740-EC26CB44E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580B52-E4E5-CB32-B39D-846A83B5C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B7B9B5-DDD6-4A08-9E5F-02156C307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12516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1509A-CCD7-55A9-5839-BD5B4457D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A3D4B9-49E5-ACFB-C83D-20B7B2FC2B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E3CFE6-4376-52D5-6CAB-124407AB67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198D18-60DA-44A0-8BB7-8968EFFFEA5C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DFF3A6-4AF5-722B-DFD6-0CE818404A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C08B48-ED99-B331-B9B2-6F6E630EF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B7B9B5-DDD6-4A08-9E5F-02156C307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1506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EF52F-6D40-FB75-4240-A323FD683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8E7049-C6DE-0102-923B-C7980B7B2A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766E3F-B996-BF25-998E-85B1865AC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198D18-60DA-44A0-8BB7-8968EFFFEA5C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807FDE-69A7-ADA1-26D8-27915F14D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EACC03-F3F0-CE32-6556-946D33832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B7B9B5-DDD6-4A08-9E5F-02156C307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2781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85EFA-51AB-FEAD-6130-6800C4E25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B43E9-0FEF-3F0D-9978-816F02E5054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819A0-575C-5AB5-D333-FA77F5BC94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D5A188-73CE-F3B3-BAEA-6838B053E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198D18-60DA-44A0-8BB7-8968EFFFEA5C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99AD9B-A57E-5401-8059-DD469735B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0FC69A-12F2-AC3D-6771-A989BF85E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B7B9B5-DDD6-4A08-9E5F-02156C307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7522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79B62-3571-0550-4110-ADAD54A26D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41801B-7D73-61ED-0685-D2BD205713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AF4020-5C21-AF3C-020F-DAC1547BAD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E8336DA-B058-8EEE-C45C-2D3936886D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6F9F52-2685-006A-E420-5757D2B8F1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6079912-4BB8-DD35-5BB9-1F3F08EE4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198D18-60DA-44A0-8BB7-8968EFFFEA5C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A89357-B72E-F6D8-2A03-EF47895F76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75F8207-0B6C-F615-05D2-C59E57460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B7B9B5-DDD6-4A08-9E5F-02156C307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4185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5755A-0427-4B80-6CE7-A7A1525C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0CCFC1F-A7C6-0607-5C6F-33182A7C4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198D18-60DA-44A0-8BB7-8968EFFFEA5C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637579-AA33-5D25-7B26-AD845AB75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A1AAC6-02CA-5B3B-AD3A-7F005A630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B7B9B5-DDD6-4A08-9E5F-02156C307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4973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2A20C55-3A37-DC29-562E-6189B4E27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198D18-60DA-44A0-8BB7-8968EFFFEA5C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E33DDB-FF00-C2B0-C454-8F0975C34E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8FE7B4-74A8-4B81-AA71-709144414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B7B9B5-DDD6-4A08-9E5F-02156C307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5333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3403F-0C67-D593-115C-DD8BEED2C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CBCBB3-9921-158B-7729-DA1D8D80D1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B42240-9B9D-3A38-3A58-EEB330DC5A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566859-3C5E-7016-E90E-0F58E2660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198D18-60DA-44A0-8BB7-8968EFFFEA5C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9B369A-7050-0DB2-DDE3-5ECC06589E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87C729-C2D2-1D0D-2F8F-C9EFC64BB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B7B9B5-DDD6-4A08-9E5F-02156C307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9917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E0715-FD9F-1BBD-CBBF-7CE0284A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DF4FE37-6609-1B96-58DE-1D88BD30BB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1CB6F4-B6F2-8B51-E7A8-8ED99D6CCB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B67A0F-D9F9-E32E-CF9F-ABA5D8154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198D18-60DA-44A0-8BB7-8968EFFFEA5C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4FB193-44B0-5540-E5B4-43EFDE065C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5618C4-8887-6410-A54C-7D0456FBC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B7B9B5-DDD6-4A08-9E5F-02156C307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98114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683BF-AFAC-708D-3E7B-BD9CBEE39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99117F-6F86-AF47-1C69-E314967244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118943-916D-7323-2BAB-5515AEAD7F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198D18-60DA-44A0-8BB7-8968EFFFEA5C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378DDF-5437-12C2-E4DD-BFD2A29B6A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16992C-45F1-155E-1651-0BECE34F7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B7B9B5-DDD6-4A08-9E5F-02156C307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117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828F839-428B-A73D-A947-A2EBBDE1FE3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D522BB-CEF0-9EF0-9CBB-8837A22D5E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A549B3-2D7B-1638-DA54-7D274E924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198D18-60DA-44A0-8BB7-8968EFFFEA5C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BF5C8E-0611-C706-D19B-97A5160FCD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2630EF-A1CF-CD09-53AC-30F575FAB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B7B9B5-DDD6-4A08-9E5F-02156C307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7241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A1FFB8B-D4F0-4969-0F2C-5E6B62A7D6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D053C5-957C-F231-F19B-2317A707EF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517475-383E-1CAD-5D40-3319796E9C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198D18-60DA-44A0-8BB7-8968EFFFEA5C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EA0B9F-B589-0A77-76A3-0EAB5B7F06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525B2F-10F4-71CB-5499-5DC578DA13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B7B9B5-DDD6-4A08-9E5F-02156C3078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0662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D81AC7B6-5526-93E0-5DAA-0A8FBFDF8E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95400" y="819150"/>
            <a:ext cx="9144000" cy="4857749"/>
          </a:xfrm>
        </p:spPr>
        <p:txBody>
          <a:bodyPr>
            <a:normAutofit/>
          </a:bodyPr>
          <a:lstStyle/>
          <a:p>
            <a:r>
              <a:rPr lang="en-US" sz="4800" b="1" dirty="0"/>
              <a:t>Algorithms and Data Structures</a:t>
            </a:r>
          </a:p>
          <a:p>
            <a:br>
              <a:rPr lang="en-US" sz="3200" dirty="0"/>
            </a:br>
            <a:r>
              <a:rPr lang="en-US" sz="3200" b="1" dirty="0"/>
              <a:t>Muhammad Hussain</a:t>
            </a:r>
          </a:p>
          <a:p>
            <a:r>
              <a:rPr lang="en-US" sz="3200" dirty="0"/>
              <a:t>Lecturer, Air University</a:t>
            </a:r>
          </a:p>
          <a:p>
            <a:endParaRPr lang="en-US" sz="3200" dirty="0"/>
          </a:p>
          <a:p>
            <a:r>
              <a:rPr lang="en-US" sz="3200" dirty="0"/>
              <a:t>BE (Electrical), MS (Computer Science)</a:t>
            </a:r>
          </a:p>
          <a:p>
            <a:r>
              <a:rPr lang="en-US" sz="3200" dirty="0"/>
              <a:t>Contact: m.hussain7006@gmail.com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20DC75F-EBA9-97D6-9481-523212454DC1}"/>
              </a:ext>
            </a:extLst>
          </p:cNvPr>
          <p:cNvCxnSpPr/>
          <p:nvPr/>
        </p:nvCxnSpPr>
        <p:spPr>
          <a:xfrm>
            <a:off x="1476375" y="1781175"/>
            <a:ext cx="8963025" cy="0"/>
          </a:xfrm>
          <a:prstGeom prst="line">
            <a:avLst/>
          </a:prstGeom>
          <a:effectLst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5047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9F7C9-7A96-3F97-BF5E-39C9605A84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7456" y="392016"/>
            <a:ext cx="3866515" cy="936180"/>
          </a:xfrm>
        </p:spPr>
        <p:txBody>
          <a:bodyPr>
            <a:normAutofit/>
          </a:bodyPr>
          <a:lstStyle/>
          <a:p>
            <a:pPr algn="ctr"/>
            <a:r>
              <a:rPr lang="en-US" b="1" u="sng" dirty="0"/>
              <a:t>Course Outline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3975A833-749A-7F04-8F7C-A2E48AAFB6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1915961"/>
              </p:ext>
            </p:extLst>
          </p:nvPr>
        </p:nvGraphicFramePr>
        <p:xfrm>
          <a:off x="1590357" y="1428655"/>
          <a:ext cx="9049385" cy="1685418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{5C22544A-7EE6-4342-B048-85BDC9FD1C3A}</a:tableStyleId>
              </a:tblPr>
              <a:tblGrid>
                <a:gridCol w="832485">
                  <a:extLst>
                    <a:ext uri="{9D8B030D-6E8A-4147-A177-3AD203B41FA5}">
                      <a16:colId xmlns:a16="http://schemas.microsoft.com/office/drawing/2014/main" val="3023194220"/>
                    </a:ext>
                  </a:extLst>
                </a:gridCol>
                <a:gridCol w="3479800">
                  <a:extLst>
                    <a:ext uri="{9D8B030D-6E8A-4147-A177-3AD203B41FA5}">
                      <a16:colId xmlns:a16="http://schemas.microsoft.com/office/drawing/2014/main" val="3695787851"/>
                    </a:ext>
                  </a:extLst>
                </a:gridCol>
                <a:gridCol w="3479800">
                  <a:extLst>
                    <a:ext uri="{9D8B030D-6E8A-4147-A177-3AD203B41FA5}">
                      <a16:colId xmlns:a16="http://schemas.microsoft.com/office/drawing/2014/main" val="2530435128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279189831"/>
                    </a:ext>
                  </a:extLst>
                </a:gridCol>
              </a:tblGrid>
              <a:tr h="334645">
                <a:tc>
                  <a:txBody>
                    <a:bodyPr/>
                    <a:lstStyle/>
                    <a:p>
                      <a:pPr marL="186055" marR="183515" algn="ctr">
                        <a:lnSpc>
                          <a:spcPct val="107000"/>
                        </a:lnSpc>
                        <a:spcBef>
                          <a:spcPts val="245"/>
                        </a:spcBef>
                        <a:buNone/>
                      </a:pPr>
                      <a:r>
                        <a:rPr lang="en-US" sz="1200">
                          <a:effectLst/>
                        </a:rPr>
                        <a:t>Week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17475" marR="130810" algn="ctr">
                        <a:lnSpc>
                          <a:spcPct val="107000"/>
                        </a:lnSpc>
                        <a:spcBef>
                          <a:spcPts val="245"/>
                        </a:spcBef>
                        <a:buNone/>
                      </a:pPr>
                      <a:r>
                        <a:rPr lang="en-US" sz="1200">
                          <a:effectLst/>
                        </a:rPr>
                        <a:t>Lecture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4605" marR="0">
                        <a:lnSpc>
                          <a:spcPct val="107000"/>
                        </a:lnSpc>
                        <a:spcBef>
                          <a:spcPts val="245"/>
                        </a:spcBef>
                        <a:buNone/>
                      </a:pPr>
                      <a:r>
                        <a:rPr lang="en-US" sz="1200">
                          <a:effectLst/>
                        </a:rPr>
                        <a:t>Topics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33705" marR="0">
                        <a:lnSpc>
                          <a:spcPct val="107000"/>
                        </a:lnSpc>
                        <a:spcBef>
                          <a:spcPts val="245"/>
                        </a:spcBef>
                        <a:buNone/>
                      </a:pPr>
                      <a:r>
                        <a:rPr lang="en-US" sz="1200">
                          <a:effectLst/>
                        </a:rPr>
                        <a:t>CLOs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523075581"/>
                  </a:ext>
                </a:extLst>
              </a:tr>
              <a:tr h="538480">
                <a:tc rowSpan="2"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buNone/>
                      </a:pPr>
                      <a:r>
                        <a:rPr lang="en-US" sz="1300" dirty="0">
                          <a:effectLst/>
                        </a:rPr>
                        <a:t> </a:t>
                      </a:r>
                      <a:endParaRPr lang="en-US" sz="1100" dirty="0">
                        <a:effectLst/>
                      </a:endParaRPr>
                    </a:p>
                    <a:p>
                      <a:pPr marL="0" marR="0">
                        <a:lnSpc>
                          <a:spcPct val="107000"/>
                        </a:lnSpc>
                        <a:spcBef>
                          <a:spcPts val="1110"/>
                        </a:spcBef>
                        <a:buNone/>
                      </a:pPr>
                      <a:r>
                        <a:rPr lang="en-US" sz="1300" dirty="0">
                          <a:effectLst/>
                        </a:rPr>
                        <a:t>         </a:t>
                      </a:r>
                      <a:r>
                        <a:rPr lang="en-US" sz="1200" dirty="0">
                          <a:effectLst/>
                        </a:rPr>
                        <a:t>1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buNone/>
                      </a:pPr>
                      <a:r>
                        <a:rPr lang="en-US" sz="130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0" marR="0">
                        <a:lnSpc>
                          <a:spcPct val="107000"/>
                        </a:lnSpc>
                        <a:spcBef>
                          <a:spcPts val="1110"/>
                        </a:spcBef>
                        <a:buNone/>
                      </a:pPr>
                      <a:r>
                        <a:rPr lang="en-US" sz="1200">
                          <a:effectLst/>
                        </a:rPr>
                        <a:t>           1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buNone/>
                      </a:pPr>
                      <a:r>
                        <a:rPr lang="en-US" sz="1200" dirty="0">
                          <a:effectLst/>
                        </a:rPr>
                        <a:t>Introduction</a:t>
                      </a:r>
                      <a:r>
                        <a:rPr lang="en-US" sz="1200" spc="-15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to</a:t>
                      </a:r>
                      <a:r>
                        <a:rPr lang="en-US" sz="1200" spc="-10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Data</a:t>
                      </a:r>
                      <a:r>
                        <a:rPr lang="en-US" sz="1200" spc="-15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Structures</a:t>
                      </a:r>
                      <a:endParaRPr lang="en-US" sz="1100" dirty="0">
                        <a:effectLst/>
                      </a:endParaRPr>
                    </a:p>
                    <a:p>
                      <a:pPr marL="14605" marR="1096645">
                        <a:lnSpc>
                          <a:spcPct val="107000"/>
                        </a:lnSpc>
                        <a:buNone/>
                      </a:pPr>
                      <a:r>
                        <a:rPr lang="en-US" sz="1200" dirty="0">
                          <a:effectLst/>
                        </a:rPr>
                        <a:t>What</a:t>
                      </a:r>
                      <a:r>
                        <a:rPr lang="en-US" sz="1200" spc="-20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is</a:t>
                      </a:r>
                      <a:r>
                        <a:rPr lang="en-US" sz="1200" spc="-15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Data?</a:t>
                      </a:r>
                      <a:r>
                        <a:rPr lang="en-US" sz="1200" spc="-15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What</a:t>
                      </a:r>
                      <a:r>
                        <a:rPr lang="en-US" sz="1200" spc="-15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is</a:t>
                      </a:r>
                      <a:r>
                        <a:rPr lang="en-US" sz="1200" spc="-15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Data</a:t>
                      </a:r>
                      <a:r>
                        <a:rPr lang="en-US" sz="1200" spc="-15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Structure?</a:t>
                      </a:r>
                      <a:r>
                        <a:rPr lang="en-US" sz="1200" spc="-285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Classification</a:t>
                      </a:r>
                      <a:r>
                        <a:rPr lang="en-US" sz="1200" spc="-5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of</a:t>
                      </a:r>
                      <a:r>
                        <a:rPr lang="en-US" sz="1200" spc="-5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Data Structure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buNone/>
                      </a:pPr>
                      <a:r>
                        <a:rPr lang="en-US" sz="130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0" marR="0">
                        <a:lnSpc>
                          <a:spcPct val="107000"/>
                        </a:lnSpc>
                        <a:spcBef>
                          <a:spcPts val="1110"/>
                        </a:spcBef>
                        <a:buNone/>
                      </a:pPr>
                      <a:r>
                        <a:rPr lang="en-US" sz="1300">
                          <a:effectLst/>
                        </a:rPr>
                        <a:t>         </a:t>
                      </a:r>
                      <a:r>
                        <a:rPr lang="en-US" sz="1200">
                          <a:effectLst/>
                        </a:rPr>
                        <a:t>CLO_1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660476148"/>
                  </a:ext>
                </a:extLst>
              </a:tr>
              <a:tr h="68135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buNone/>
                      </a:pPr>
                      <a:r>
                        <a:rPr lang="en-US" sz="130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0" marR="0">
                        <a:lnSpc>
                          <a:spcPct val="107000"/>
                        </a:lnSpc>
                        <a:spcBef>
                          <a:spcPts val="25"/>
                        </a:spcBef>
                        <a:buNone/>
                      </a:pPr>
                      <a:r>
                        <a:rPr lang="en-US" sz="170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7620" marR="0" algn="ctr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2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4605" marR="0">
                        <a:lnSpc>
                          <a:spcPct val="107000"/>
                        </a:lnSpc>
                        <a:buNone/>
                      </a:pPr>
                      <a:r>
                        <a:rPr lang="en-US" sz="1200" dirty="0">
                          <a:effectLst/>
                        </a:rPr>
                        <a:t>Introduction</a:t>
                      </a:r>
                      <a:r>
                        <a:rPr lang="en-US" sz="1200" spc="-10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to</a:t>
                      </a:r>
                      <a:r>
                        <a:rPr lang="en-US" sz="1200" spc="-5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Algorithms</a:t>
                      </a:r>
                      <a:endParaRPr lang="en-US" sz="1100" dirty="0">
                        <a:effectLst/>
                      </a:endParaRPr>
                    </a:p>
                    <a:p>
                      <a:pPr marL="14605" marR="0">
                        <a:lnSpc>
                          <a:spcPct val="107000"/>
                        </a:lnSpc>
                        <a:buNone/>
                      </a:pPr>
                      <a:r>
                        <a:rPr lang="en-US" sz="1200" dirty="0">
                          <a:effectLst/>
                        </a:rPr>
                        <a:t>The</a:t>
                      </a:r>
                      <a:r>
                        <a:rPr lang="en-US" sz="1200" spc="-10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Big Picture</a:t>
                      </a:r>
                      <a:endParaRPr lang="en-US" sz="1100" dirty="0">
                        <a:effectLst/>
                      </a:endParaRPr>
                    </a:p>
                    <a:p>
                      <a:pPr marL="14605" marR="1805940">
                        <a:lnSpc>
                          <a:spcPct val="107000"/>
                        </a:lnSpc>
                        <a:buNone/>
                      </a:pPr>
                      <a:r>
                        <a:rPr lang="en-US" sz="1200" dirty="0">
                          <a:effectLst/>
                        </a:rPr>
                        <a:t>Flowchart</a:t>
                      </a:r>
                      <a:r>
                        <a:rPr lang="en-US" sz="1200" spc="-45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Building</a:t>
                      </a:r>
                      <a:r>
                        <a:rPr lang="en-US" sz="1200" spc="-40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Blocks</a:t>
                      </a:r>
                      <a:r>
                        <a:rPr lang="en-US" sz="1200" spc="-285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Stepwise</a:t>
                      </a:r>
                      <a:r>
                        <a:rPr lang="en-US" sz="1200" spc="-5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Refinements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buNone/>
                      </a:pPr>
                      <a:r>
                        <a:rPr lang="en-US" sz="1300" dirty="0">
                          <a:effectLst/>
                        </a:rPr>
                        <a:t> </a:t>
                      </a:r>
                      <a:endParaRPr lang="en-US" sz="1100" dirty="0">
                        <a:effectLst/>
                      </a:endParaRPr>
                    </a:p>
                    <a:p>
                      <a:pPr marL="0" marR="0">
                        <a:lnSpc>
                          <a:spcPct val="107000"/>
                        </a:lnSpc>
                        <a:spcBef>
                          <a:spcPts val="25"/>
                        </a:spcBef>
                        <a:buNone/>
                      </a:pPr>
                      <a:r>
                        <a:rPr lang="en-US" sz="1700" dirty="0">
                          <a:effectLst/>
                        </a:rPr>
                        <a:t> </a:t>
                      </a:r>
                      <a:endParaRPr lang="en-US" sz="1100" dirty="0">
                        <a:effectLst/>
                      </a:endParaRPr>
                    </a:p>
                    <a:p>
                      <a:pPr marL="403860" marR="0">
                        <a:lnSpc>
                          <a:spcPct val="107000"/>
                        </a:lnSpc>
                        <a:buNone/>
                      </a:pPr>
                      <a:r>
                        <a:rPr lang="en-US" sz="1200" dirty="0">
                          <a:effectLst/>
                        </a:rPr>
                        <a:t>CLO_1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77940321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235CCD07-AC6A-B5E2-7C79-4891BEC930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9851209"/>
              </p:ext>
            </p:extLst>
          </p:nvPr>
        </p:nvGraphicFramePr>
        <p:xfrm>
          <a:off x="1590357" y="3114073"/>
          <a:ext cx="9049385" cy="1491298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{5C22544A-7EE6-4342-B048-85BDC9FD1C3A}</a:tableStyleId>
              </a:tblPr>
              <a:tblGrid>
                <a:gridCol w="832485">
                  <a:extLst>
                    <a:ext uri="{9D8B030D-6E8A-4147-A177-3AD203B41FA5}">
                      <a16:colId xmlns:a16="http://schemas.microsoft.com/office/drawing/2014/main" val="3640523981"/>
                    </a:ext>
                  </a:extLst>
                </a:gridCol>
                <a:gridCol w="3479800">
                  <a:extLst>
                    <a:ext uri="{9D8B030D-6E8A-4147-A177-3AD203B41FA5}">
                      <a16:colId xmlns:a16="http://schemas.microsoft.com/office/drawing/2014/main" val="2033535730"/>
                    </a:ext>
                  </a:extLst>
                </a:gridCol>
                <a:gridCol w="3479800">
                  <a:extLst>
                    <a:ext uri="{9D8B030D-6E8A-4147-A177-3AD203B41FA5}">
                      <a16:colId xmlns:a16="http://schemas.microsoft.com/office/drawing/2014/main" val="3066296442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2612077450"/>
                    </a:ext>
                  </a:extLst>
                </a:gridCol>
              </a:tblGrid>
              <a:tr h="913765">
                <a:tc rowSpan="2"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10"/>
                        </a:spcBef>
                        <a:buNone/>
                      </a:pPr>
                      <a:r>
                        <a:rPr lang="en-US" sz="130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3810" marR="0" algn="ctr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2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buNone/>
                      </a:pPr>
                      <a:r>
                        <a:rPr lang="en-US" sz="1300" dirty="0">
                          <a:effectLst/>
                        </a:rPr>
                        <a:t> </a:t>
                      </a:r>
                      <a:endParaRPr lang="en-US" sz="1100" dirty="0">
                        <a:effectLst/>
                      </a:endParaRPr>
                    </a:p>
                    <a:p>
                      <a:pPr marL="0" marR="0">
                        <a:lnSpc>
                          <a:spcPct val="107000"/>
                        </a:lnSpc>
                        <a:buNone/>
                      </a:pPr>
                      <a:r>
                        <a:rPr lang="en-US" sz="1300" dirty="0">
                          <a:effectLst/>
                        </a:rPr>
                        <a:t> </a:t>
                      </a:r>
                      <a:endParaRPr lang="en-US" sz="1100" dirty="0">
                        <a:effectLst/>
                      </a:endParaRPr>
                    </a:p>
                    <a:p>
                      <a:pPr marL="0" marR="0">
                        <a:lnSpc>
                          <a:spcPct val="107000"/>
                        </a:lnSpc>
                        <a:spcBef>
                          <a:spcPts val="35"/>
                        </a:spcBef>
                        <a:buNone/>
                      </a:pPr>
                      <a:r>
                        <a:rPr lang="en-US" sz="1550" dirty="0">
                          <a:effectLst/>
                        </a:rPr>
                        <a:t> </a:t>
                      </a:r>
                      <a:endParaRPr lang="en-US" sz="1100" dirty="0">
                        <a:effectLst/>
                      </a:endParaRPr>
                    </a:p>
                    <a:p>
                      <a:pPr marL="7620" marR="0" algn="ctr">
                        <a:lnSpc>
                          <a:spcPct val="107000"/>
                        </a:lnSpc>
                        <a:buNone/>
                      </a:pPr>
                      <a:r>
                        <a:rPr lang="en-US" sz="1200" dirty="0">
                          <a:effectLst/>
                        </a:rPr>
                        <a:t>3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4605" marR="2074545">
                        <a:lnSpc>
                          <a:spcPct val="107000"/>
                        </a:lnSpc>
                        <a:spcBef>
                          <a:spcPts val="65"/>
                        </a:spcBef>
                        <a:buNone/>
                      </a:pPr>
                      <a:r>
                        <a:rPr lang="en-US" sz="1200">
                          <a:effectLst/>
                        </a:rPr>
                        <a:t>Analysis of Algorithm</a:t>
                      </a:r>
                      <a:r>
                        <a:rPr lang="en-US" sz="1200" spc="-29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Time Complexity</a:t>
                      </a:r>
                      <a:endParaRPr lang="en-US" sz="1100">
                        <a:effectLst/>
                      </a:endParaRPr>
                    </a:p>
                    <a:p>
                      <a:pPr marL="14605" marR="0">
                        <a:lnSpc>
                          <a:spcPct val="107000"/>
                        </a:lnSpc>
                        <a:spcBef>
                          <a:spcPts val="25"/>
                        </a:spcBef>
                        <a:buNone/>
                      </a:pPr>
                      <a:r>
                        <a:rPr lang="en-US" sz="1200">
                          <a:effectLst/>
                        </a:rPr>
                        <a:t>Worst</a:t>
                      </a:r>
                      <a:r>
                        <a:rPr lang="en-US" sz="1200" spc="-1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Case</a:t>
                      </a:r>
                      <a:r>
                        <a:rPr lang="en-US" sz="1200" spc="-1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Analysis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buNone/>
                      </a:pPr>
                      <a:r>
                        <a:rPr lang="en-US" sz="130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0" marR="0">
                        <a:lnSpc>
                          <a:spcPct val="107000"/>
                        </a:lnSpc>
                        <a:buNone/>
                      </a:pPr>
                      <a:r>
                        <a:rPr lang="en-US" sz="130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0" marR="0">
                        <a:lnSpc>
                          <a:spcPct val="107000"/>
                        </a:lnSpc>
                        <a:spcBef>
                          <a:spcPts val="35"/>
                        </a:spcBef>
                        <a:buNone/>
                      </a:pPr>
                      <a:r>
                        <a:rPr lang="en-US" sz="155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387350" marR="381000" algn="ctr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CLO_1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312345617"/>
                  </a:ext>
                </a:extLst>
              </a:tr>
              <a:tr h="3365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145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7620" marR="0" algn="ctr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4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4605" marR="148082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Worst</a:t>
                      </a:r>
                      <a:r>
                        <a:rPr lang="en-US" sz="1200" spc="-3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Case</a:t>
                      </a:r>
                      <a:r>
                        <a:rPr lang="en-US" sz="1200" spc="-3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Analysis</a:t>
                      </a:r>
                      <a:r>
                        <a:rPr lang="en-US" sz="1200" spc="-3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continues..</a:t>
                      </a:r>
                      <a:r>
                        <a:rPr lang="en-US" sz="1200" spc="-28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Space</a:t>
                      </a:r>
                      <a:r>
                        <a:rPr lang="en-US" sz="1200" spc="-1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Complexity</a:t>
                      </a:r>
                      <a:endParaRPr lang="en-US" sz="1100">
                        <a:effectLst/>
                      </a:endParaRPr>
                    </a:p>
                    <a:p>
                      <a:pPr marL="14605" marR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Time-Space</a:t>
                      </a:r>
                      <a:r>
                        <a:rPr lang="en-US" sz="1200" spc="-2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Trade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Off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1450" dirty="0">
                          <a:effectLst/>
                        </a:rPr>
                        <a:t> </a:t>
                      </a:r>
                      <a:endParaRPr lang="en-US" sz="1100" dirty="0">
                        <a:effectLst/>
                      </a:endParaRPr>
                    </a:p>
                    <a:p>
                      <a:pPr marL="387350" marR="381000" algn="ctr">
                        <a:lnSpc>
                          <a:spcPct val="107000"/>
                        </a:lnSpc>
                        <a:buNone/>
                      </a:pPr>
                      <a:r>
                        <a:rPr lang="en-US" sz="1200" dirty="0">
                          <a:effectLst/>
                        </a:rPr>
                        <a:t>CLO_1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009484030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A7694C92-8295-A330-BA89-680322A7DA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4442725"/>
              </p:ext>
            </p:extLst>
          </p:nvPr>
        </p:nvGraphicFramePr>
        <p:xfrm>
          <a:off x="1590356" y="4605371"/>
          <a:ext cx="9049385" cy="924433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{5C22544A-7EE6-4342-B048-85BDC9FD1C3A}</a:tableStyleId>
              </a:tblPr>
              <a:tblGrid>
                <a:gridCol w="832485">
                  <a:extLst>
                    <a:ext uri="{9D8B030D-6E8A-4147-A177-3AD203B41FA5}">
                      <a16:colId xmlns:a16="http://schemas.microsoft.com/office/drawing/2014/main" val="2455333560"/>
                    </a:ext>
                  </a:extLst>
                </a:gridCol>
                <a:gridCol w="3479800">
                  <a:extLst>
                    <a:ext uri="{9D8B030D-6E8A-4147-A177-3AD203B41FA5}">
                      <a16:colId xmlns:a16="http://schemas.microsoft.com/office/drawing/2014/main" val="4165362968"/>
                    </a:ext>
                  </a:extLst>
                </a:gridCol>
                <a:gridCol w="3479800">
                  <a:extLst>
                    <a:ext uri="{9D8B030D-6E8A-4147-A177-3AD203B41FA5}">
                      <a16:colId xmlns:a16="http://schemas.microsoft.com/office/drawing/2014/main" val="3397504897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513775386"/>
                    </a:ext>
                  </a:extLst>
                </a:gridCol>
              </a:tblGrid>
              <a:tr h="315595">
                <a:tc rowSpan="2"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buNone/>
                      </a:pPr>
                      <a:r>
                        <a:rPr lang="en-US" sz="1300" dirty="0">
                          <a:effectLst/>
                        </a:rPr>
                        <a:t> </a:t>
                      </a:r>
                      <a:endParaRPr lang="en-US" sz="1100" dirty="0">
                        <a:effectLst/>
                      </a:endParaRPr>
                    </a:p>
                    <a:p>
                      <a:pPr marL="0" marR="0">
                        <a:lnSpc>
                          <a:spcPct val="107000"/>
                        </a:lnSpc>
                        <a:buNone/>
                      </a:pPr>
                      <a:r>
                        <a:rPr lang="en-US" sz="1300" dirty="0">
                          <a:effectLst/>
                        </a:rPr>
                        <a:t> </a:t>
                      </a:r>
                      <a:endParaRPr lang="en-US" sz="1100" dirty="0">
                        <a:effectLst/>
                      </a:endParaRPr>
                    </a:p>
                    <a:p>
                      <a:pPr marL="0" marR="0">
                        <a:lnSpc>
                          <a:spcPct val="107000"/>
                        </a:lnSpc>
                        <a:spcBef>
                          <a:spcPts val="50"/>
                        </a:spcBef>
                        <a:buNone/>
                      </a:pPr>
                      <a:r>
                        <a:rPr lang="en-US" sz="1850" dirty="0">
                          <a:effectLst/>
                        </a:rPr>
                        <a:t> </a:t>
                      </a:r>
                      <a:endParaRPr lang="en-US" sz="1100" dirty="0">
                        <a:effectLst/>
                      </a:endParaRPr>
                    </a:p>
                    <a:p>
                      <a:pPr marL="3810" marR="0" algn="ctr">
                        <a:lnSpc>
                          <a:spcPct val="107000"/>
                        </a:lnSpc>
                        <a:buNone/>
                      </a:pPr>
                      <a:r>
                        <a:rPr lang="en-US" sz="1200" dirty="0">
                          <a:effectLst/>
                        </a:rPr>
                        <a:t>3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buNone/>
                      </a:pPr>
                      <a:r>
                        <a:rPr lang="en-US" sz="130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0" marR="0" algn="ctr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5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4605" marR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Big-O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Notation</a:t>
                      </a:r>
                      <a:endParaRPr lang="en-US" sz="1100">
                        <a:effectLst/>
                      </a:endParaRPr>
                    </a:p>
                    <a:p>
                      <a:pPr marL="14605" marR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Scalability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of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Algorithms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1100">
                          <a:effectLst/>
                        </a:rPr>
                        <a:t> </a:t>
                      </a:r>
                    </a:p>
                    <a:p>
                      <a:pPr marL="387350" marR="381000" algn="ctr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CLO_1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065386089"/>
                  </a:ext>
                </a:extLst>
              </a:tr>
              <a:tr h="28702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buNone/>
                      </a:pPr>
                      <a:r>
                        <a:rPr lang="en-US" sz="130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0" marR="0" algn="ctr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6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4605" marR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Arrays</a:t>
                      </a:r>
                      <a:endParaRPr lang="en-US" sz="1100">
                        <a:effectLst/>
                      </a:endParaRPr>
                    </a:p>
                    <a:p>
                      <a:pPr marL="14605" marR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Insertion</a:t>
                      </a:r>
                      <a:r>
                        <a:rPr lang="en-US" sz="1200" spc="-1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and</a:t>
                      </a:r>
                      <a:r>
                        <a:rPr lang="en-US" sz="1200" spc="-1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Deletion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operations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buNone/>
                      </a:pPr>
                      <a:r>
                        <a:rPr lang="en-US" sz="1300" dirty="0">
                          <a:effectLst/>
                        </a:rPr>
                        <a:t>          </a:t>
                      </a:r>
                      <a:r>
                        <a:rPr lang="en-US" sz="1200" dirty="0">
                          <a:effectLst/>
                        </a:rPr>
                        <a:t>CLO_2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953598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768531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443ECE5-9E54-E9A6-7F03-06D95FD0D6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1695335"/>
              </p:ext>
            </p:extLst>
          </p:nvPr>
        </p:nvGraphicFramePr>
        <p:xfrm>
          <a:off x="1580832" y="649827"/>
          <a:ext cx="9049385" cy="1571880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{5C22544A-7EE6-4342-B048-85BDC9FD1C3A}</a:tableStyleId>
              </a:tblPr>
              <a:tblGrid>
                <a:gridCol w="832485">
                  <a:extLst>
                    <a:ext uri="{9D8B030D-6E8A-4147-A177-3AD203B41FA5}">
                      <a16:colId xmlns:a16="http://schemas.microsoft.com/office/drawing/2014/main" val="2069388754"/>
                    </a:ext>
                  </a:extLst>
                </a:gridCol>
                <a:gridCol w="3479800">
                  <a:extLst>
                    <a:ext uri="{9D8B030D-6E8A-4147-A177-3AD203B41FA5}">
                      <a16:colId xmlns:a16="http://schemas.microsoft.com/office/drawing/2014/main" val="408369293"/>
                    </a:ext>
                  </a:extLst>
                </a:gridCol>
                <a:gridCol w="3479800">
                  <a:extLst>
                    <a:ext uri="{9D8B030D-6E8A-4147-A177-3AD203B41FA5}">
                      <a16:colId xmlns:a16="http://schemas.microsoft.com/office/drawing/2014/main" val="1643964239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714638866"/>
                    </a:ext>
                  </a:extLst>
                </a:gridCol>
              </a:tblGrid>
              <a:tr h="624205">
                <a:tc rowSpan="2"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buNone/>
                      </a:pPr>
                      <a:r>
                        <a:rPr lang="en-US" sz="130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0" marR="0">
                        <a:lnSpc>
                          <a:spcPct val="107000"/>
                        </a:lnSpc>
                        <a:buNone/>
                      </a:pPr>
                      <a:r>
                        <a:rPr lang="en-US" sz="130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0" marR="0">
                        <a:lnSpc>
                          <a:spcPct val="107000"/>
                        </a:lnSpc>
                        <a:buNone/>
                      </a:pPr>
                      <a:r>
                        <a:rPr lang="en-US" sz="130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0" marR="0">
                        <a:lnSpc>
                          <a:spcPct val="107000"/>
                        </a:lnSpc>
                        <a:spcBef>
                          <a:spcPts val="45"/>
                        </a:spcBef>
                        <a:buNone/>
                      </a:pPr>
                      <a:r>
                        <a:rPr lang="en-US" sz="125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3810" marR="0" algn="ctr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4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buNone/>
                      </a:pPr>
                      <a:r>
                        <a:rPr lang="en-US" sz="130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0" marR="0" algn="ctr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7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4605" marR="0">
                        <a:lnSpc>
                          <a:spcPct val="107000"/>
                        </a:lnSpc>
                        <a:spcBef>
                          <a:spcPts val="55"/>
                        </a:spcBef>
                        <a:buNone/>
                      </a:pPr>
                      <a:r>
                        <a:rPr lang="en-US" sz="1200">
                          <a:effectLst/>
                        </a:rPr>
                        <a:t>Searching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and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Sorting</a:t>
                      </a:r>
                      <a:endParaRPr lang="en-US" sz="1100">
                        <a:effectLst/>
                      </a:endParaRPr>
                    </a:p>
                    <a:p>
                      <a:pPr marL="14605" marR="1933575">
                        <a:lnSpc>
                          <a:spcPct val="107000"/>
                        </a:lnSpc>
                        <a:spcBef>
                          <a:spcPts val="185"/>
                        </a:spcBef>
                        <a:buNone/>
                      </a:pPr>
                      <a:r>
                        <a:rPr lang="en-US" sz="1200">
                          <a:effectLst/>
                        </a:rPr>
                        <a:t>Linear</a:t>
                      </a:r>
                      <a:r>
                        <a:rPr lang="en-US" sz="1200" spc="-4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Search</a:t>
                      </a:r>
                      <a:r>
                        <a:rPr lang="en-US" sz="1200" spc="-4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Algorithm</a:t>
                      </a:r>
                      <a:r>
                        <a:rPr lang="en-US" sz="1200" spc="-28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Binary Search Algorithm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buNone/>
                      </a:pPr>
                      <a:r>
                        <a:rPr lang="en-US" sz="130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0" marR="381000" algn="ctr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          CLO_1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4101634479"/>
                  </a:ext>
                </a:extLst>
              </a:tr>
              <a:tr h="28702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55"/>
                        </a:spcBef>
                        <a:buNone/>
                      </a:pPr>
                      <a:r>
                        <a:rPr lang="en-US" sz="145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7620" marR="0" algn="ctr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8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4605" marR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Hashing</a:t>
                      </a:r>
                      <a:r>
                        <a:rPr lang="en-US" sz="1200" spc="-1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techniques</a:t>
                      </a:r>
                      <a:endParaRPr lang="en-US" sz="1100">
                        <a:effectLst/>
                      </a:endParaRPr>
                    </a:p>
                    <a:p>
                      <a:pPr marL="14605" marR="1544320">
                        <a:lnSpc>
                          <a:spcPct val="107000"/>
                        </a:lnSpc>
                        <a:spcBef>
                          <a:spcPts val="25"/>
                        </a:spcBef>
                        <a:buNone/>
                      </a:pPr>
                      <a:r>
                        <a:rPr lang="en-US" sz="1200">
                          <a:effectLst/>
                        </a:rPr>
                        <a:t>Hash</a:t>
                      </a:r>
                      <a:r>
                        <a:rPr lang="en-US" sz="1200" spc="-2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Table</a:t>
                      </a:r>
                      <a:r>
                        <a:rPr lang="en-US" sz="1200" spc="-2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and</a:t>
                      </a:r>
                      <a:r>
                        <a:rPr lang="en-US" sz="1200" spc="-2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Hash</a:t>
                      </a:r>
                      <a:r>
                        <a:rPr lang="en-US" sz="1200" spc="-2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functions</a:t>
                      </a:r>
                      <a:r>
                        <a:rPr lang="en-US" sz="1200" spc="-28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Collision</a:t>
                      </a:r>
                      <a:r>
                        <a:rPr lang="en-US" sz="1200" spc="-1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resolution</a:t>
                      </a:r>
                      <a:r>
                        <a:rPr lang="en-US" sz="1200" spc="-1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techniques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buNone/>
                      </a:pPr>
                      <a:r>
                        <a:rPr lang="en-US" sz="1300" dirty="0">
                          <a:effectLst/>
                        </a:rPr>
                        <a:t> </a:t>
                      </a:r>
                      <a:endParaRPr lang="en-US" sz="1100" dirty="0">
                        <a:effectLst/>
                      </a:endParaRPr>
                    </a:p>
                    <a:p>
                      <a:pPr marL="0" marR="381000">
                        <a:lnSpc>
                          <a:spcPct val="107000"/>
                        </a:lnSpc>
                        <a:buNone/>
                      </a:pPr>
                      <a:r>
                        <a:rPr lang="en-US" sz="1450" dirty="0">
                          <a:effectLst/>
                        </a:rPr>
                        <a:t>        </a:t>
                      </a:r>
                      <a:r>
                        <a:rPr lang="en-US" sz="1200" dirty="0">
                          <a:effectLst/>
                        </a:rPr>
                        <a:t>CLO_1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880500701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E67D9E8-CF01-2B48-CC5D-562EA011CB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549147"/>
              </p:ext>
            </p:extLst>
          </p:nvPr>
        </p:nvGraphicFramePr>
        <p:xfrm>
          <a:off x="1580832" y="2222151"/>
          <a:ext cx="9049385" cy="839343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{5C22544A-7EE6-4342-B048-85BDC9FD1C3A}</a:tableStyleId>
              </a:tblPr>
              <a:tblGrid>
                <a:gridCol w="832485">
                  <a:extLst>
                    <a:ext uri="{9D8B030D-6E8A-4147-A177-3AD203B41FA5}">
                      <a16:colId xmlns:a16="http://schemas.microsoft.com/office/drawing/2014/main" val="1172727110"/>
                    </a:ext>
                  </a:extLst>
                </a:gridCol>
                <a:gridCol w="3479800">
                  <a:extLst>
                    <a:ext uri="{9D8B030D-6E8A-4147-A177-3AD203B41FA5}">
                      <a16:colId xmlns:a16="http://schemas.microsoft.com/office/drawing/2014/main" val="889263594"/>
                    </a:ext>
                  </a:extLst>
                </a:gridCol>
                <a:gridCol w="3479800">
                  <a:extLst>
                    <a:ext uri="{9D8B030D-6E8A-4147-A177-3AD203B41FA5}">
                      <a16:colId xmlns:a16="http://schemas.microsoft.com/office/drawing/2014/main" val="2883597347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3148044975"/>
                    </a:ext>
                  </a:extLst>
                </a:gridCol>
              </a:tblGrid>
              <a:tr h="384175">
                <a:tc rowSpan="2"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50"/>
                        </a:spcBef>
                        <a:spcAft>
                          <a:spcPts val="5"/>
                        </a:spcAft>
                        <a:buNone/>
                      </a:pPr>
                      <a:r>
                        <a:rPr lang="en-US" sz="80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0" marR="0">
                        <a:lnSpc>
                          <a:spcPts val="100"/>
                        </a:lnSpc>
                        <a:buNone/>
                        <a:tabLst>
                          <a:tab pos="739775" algn="l"/>
                        </a:tabLst>
                      </a:pPr>
                      <a:r>
                        <a:rPr lang="en-US" sz="100">
                          <a:effectLst/>
                        </a:rPr>
                        <a:t>	</a:t>
                      </a:r>
                      <a:r>
                        <a:rPr lang="en-US" sz="1100">
                          <a:effectLst/>
                        </a:rPr>
                        <a:t> </a:t>
                      </a:r>
                    </a:p>
                    <a:p>
                      <a:pPr marL="0" marR="0">
                        <a:lnSpc>
                          <a:spcPct val="107000"/>
                        </a:lnSpc>
                        <a:buNone/>
                      </a:pPr>
                      <a:r>
                        <a:rPr lang="en-US" sz="130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0" marR="0">
                        <a:lnSpc>
                          <a:spcPct val="107000"/>
                        </a:lnSpc>
                        <a:spcBef>
                          <a:spcPts val="35"/>
                        </a:spcBef>
                        <a:buNone/>
                      </a:pPr>
                      <a:r>
                        <a:rPr lang="en-US" sz="105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3810" marR="0" algn="ctr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5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935"/>
                        </a:spcBef>
                        <a:buNone/>
                      </a:pPr>
                      <a:r>
                        <a:rPr lang="en-US" sz="1200">
                          <a:effectLst/>
                        </a:rPr>
                        <a:t>9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4605" marR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Linear</a:t>
                      </a:r>
                      <a:r>
                        <a:rPr lang="en-US" sz="1200" spc="-1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and</a:t>
                      </a:r>
                      <a:r>
                        <a:rPr lang="en-US" sz="1200" spc="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Quadratic</a:t>
                      </a:r>
                      <a:r>
                        <a:rPr lang="en-US" sz="1200" spc="-1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probing</a:t>
                      </a:r>
                      <a:endParaRPr lang="en-US" sz="1100">
                        <a:effectLst/>
                      </a:endParaRPr>
                    </a:p>
                    <a:p>
                      <a:pPr marL="14605" marR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Double</a:t>
                      </a:r>
                      <a:r>
                        <a:rPr lang="en-US" sz="1200" spc="-1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hashing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381000" algn="ctr">
                        <a:lnSpc>
                          <a:spcPct val="107000"/>
                        </a:lnSpc>
                        <a:spcBef>
                          <a:spcPts val="935"/>
                        </a:spcBef>
                        <a:buNone/>
                      </a:pPr>
                      <a:r>
                        <a:rPr lang="en-US" sz="1200">
                          <a:effectLst/>
                        </a:rPr>
                        <a:t>         CLO_1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94405266"/>
                  </a:ext>
                </a:extLst>
              </a:tr>
              <a:tr h="39560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45"/>
                        </a:spcBef>
                        <a:buNone/>
                      </a:pPr>
                      <a:r>
                        <a:rPr lang="en-US" sz="165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117475" marR="110490" algn="ctr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10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4605" marR="1026795">
                        <a:lnSpc>
                          <a:spcPct val="107000"/>
                        </a:lnSpc>
                        <a:spcBef>
                          <a:spcPts val="90"/>
                        </a:spcBef>
                        <a:buNone/>
                      </a:pPr>
                      <a:r>
                        <a:rPr lang="en-US" sz="1200">
                          <a:effectLst/>
                        </a:rPr>
                        <a:t>Selection</a:t>
                      </a:r>
                      <a:r>
                        <a:rPr lang="en-US" sz="1200" spc="-2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and</a:t>
                      </a:r>
                      <a:r>
                        <a:rPr lang="en-US" sz="1200" spc="-1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Insertion</a:t>
                      </a:r>
                      <a:r>
                        <a:rPr lang="en-US" sz="1200" spc="-2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Sort</a:t>
                      </a:r>
                      <a:r>
                        <a:rPr lang="en-US" sz="1200" spc="-2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Algorithms</a:t>
                      </a:r>
                      <a:r>
                        <a:rPr lang="en-US" sz="1200" spc="-28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Bubble Sort Algorithm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buNone/>
                      </a:pPr>
                      <a:r>
                        <a:rPr lang="en-US" sz="1300" dirty="0">
                          <a:effectLst/>
                        </a:rPr>
                        <a:t> </a:t>
                      </a:r>
                      <a:endParaRPr lang="en-US" sz="1100" dirty="0">
                        <a:effectLst/>
                      </a:endParaRPr>
                    </a:p>
                    <a:p>
                      <a:pPr marL="0" marR="381000" algn="ctr">
                        <a:lnSpc>
                          <a:spcPct val="107000"/>
                        </a:lnSpc>
                        <a:buNone/>
                      </a:pPr>
                      <a:r>
                        <a:rPr lang="en-US" sz="1200" dirty="0">
                          <a:effectLst/>
                        </a:rPr>
                        <a:t>          CLO_1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03855652"/>
                  </a:ext>
                </a:extLst>
              </a:tr>
            </a:tbl>
          </a:graphicData>
        </a:graphic>
      </p:graphicFrame>
      <p:grpSp>
        <p:nvGrpSpPr>
          <p:cNvPr id="6" name="Group 5">
            <a:extLst>
              <a:ext uri="{FF2B5EF4-FFF2-40B4-BE49-F238E27FC236}">
                <a16:creationId xmlns:a16="http://schemas.microsoft.com/office/drawing/2014/main" id="{4FEC02DE-EA0E-01E5-3A21-9B10C32475DC}"/>
              </a:ext>
            </a:extLst>
          </p:cNvPr>
          <p:cNvGrpSpPr>
            <a:grpSpLocks/>
          </p:cNvGrpSpPr>
          <p:nvPr/>
        </p:nvGrpSpPr>
        <p:grpSpPr bwMode="auto">
          <a:xfrm>
            <a:off x="1581150" y="2221707"/>
            <a:ext cx="12700" cy="12700"/>
            <a:chOff x="0" y="0"/>
            <a:chExt cx="19" cy="2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85D59E1-2EAB-C855-F899-9D59248E9B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19" cy="20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DB590A1A-7072-41CA-CEA7-78D9B1C28A29}"/>
              </a:ext>
            </a:extLst>
          </p:cNvPr>
          <p:cNvGrpSpPr>
            <a:grpSpLocks/>
          </p:cNvGrpSpPr>
          <p:nvPr/>
        </p:nvGrpSpPr>
        <p:grpSpPr bwMode="auto">
          <a:xfrm>
            <a:off x="1581150" y="2221707"/>
            <a:ext cx="12700" cy="12700"/>
            <a:chOff x="0" y="0"/>
            <a:chExt cx="20" cy="2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F562523-88D5-4429-57B1-817A9E825A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20" cy="20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anchor="t" anchorCtr="0" upright="1">
              <a:noAutofit/>
            </a:bodyPr>
            <a:lstStyle/>
            <a:p>
              <a:endParaRPr lang="en-US"/>
            </a:p>
          </p:txBody>
        </p:sp>
      </p:grp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D3EA3EE-4F43-50B1-4111-CE316A7AA3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2237049"/>
              </p:ext>
            </p:extLst>
          </p:nvPr>
        </p:nvGraphicFramePr>
        <p:xfrm>
          <a:off x="1593850" y="3061494"/>
          <a:ext cx="9049385" cy="1155066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{5C22544A-7EE6-4342-B048-85BDC9FD1C3A}</a:tableStyleId>
              </a:tblPr>
              <a:tblGrid>
                <a:gridCol w="832485">
                  <a:extLst>
                    <a:ext uri="{9D8B030D-6E8A-4147-A177-3AD203B41FA5}">
                      <a16:colId xmlns:a16="http://schemas.microsoft.com/office/drawing/2014/main" val="3215372109"/>
                    </a:ext>
                  </a:extLst>
                </a:gridCol>
                <a:gridCol w="3479800">
                  <a:extLst>
                    <a:ext uri="{9D8B030D-6E8A-4147-A177-3AD203B41FA5}">
                      <a16:colId xmlns:a16="http://schemas.microsoft.com/office/drawing/2014/main" val="1228030631"/>
                    </a:ext>
                  </a:extLst>
                </a:gridCol>
                <a:gridCol w="3479800">
                  <a:extLst>
                    <a:ext uri="{9D8B030D-6E8A-4147-A177-3AD203B41FA5}">
                      <a16:colId xmlns:a16="http://schemas.microsoft.com/office/drawing/2014/main" val="2764299252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2226351486"/>
                    </a:ext>
                  </a:extLst>
                </a:gridCol>
              </a:tblGrid>
              <a:tr h="252730">
                <a:tc rowSpan="2"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buNone/>
                      </a:pPr>
                      <a:r>
                        <a:rPr lang="en-US" sz="130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0" marR="0">
                        <a:lnSpc>
                          <a:spcPct val="107000"/>
                        </a:lnSpc>
                        <a:buNone/>
                      </a:pPr>
                      <a:r>
                        <a:rPr lang="en-US" sz="130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0" marR="0">
                        <a:lnSpc>
                          <a:spcPct val="107000"/>
                        </a:lnSpc>
                        <a:buNone/>
                      </a:pPr>
                      <a:r>
                        <a:rPr lang="en-US" sz="130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0" marR="0">
                        <a:lnSpc>
                          <a:spcPct val="107000"/>
                        </a:lnSpc>
                        <a:spcBef>
                          <a:spcPts val="20"/>
                        </a:spcBef>
                        <a:buNone/>
                      </a:pPr>
                      <a:r>
                        <a:rPr lang="en-US" sz="100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2540" marR="0" algn="ctr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6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110490" algn="ctr">
                        <a:lnSpc>
                          <a:spcPct val="107000"/>
                        </a:lnSpc>
                        <a:spcBef>
                          <a:spcPts val="830"/>
                        </a:spcBef>
                        <a:buNone/>
                      </a:pPr>
                      <a:r>
                        <a:rPr lang="en-US" sz="1200">
                          <a:effectLst/>
                        </a:rPr>
                        <a:t>11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4605" marR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Quick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Sort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Algorithm</a:t>
                      </a:r>
                      <a:endParaRPr lang="en-US" sz="1100">
                        <a:effectLst/>
                      </a:endParaRPr>
                    </a:p>
                    <a:p>
                      <a:pPr marL="14605" marR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Complexity</a:t>
                      </a:r>
                      <a:r>
                        <a:rPr lang="en-US" sz="1200" spc="-1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comparison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381000">
                        <a:lnSpc>
                          <a:spcPct val="107000"/>
                        </a:lnSpc>
                        <a:spcBef>
                          <a:spcPts val="830"/>
                        </a:spcBef>
                        <a:buNone/>
                      </a:pPr>
                      <a:r>
                        <a:rPr lang="en-US" sz="1300">
                          <a:effectLst/>
                        </a:rPr>
                        <a:t>          </a:t>
                      </a:r>
                      <a:r>
                        <a:rPr lang="en-US" sz="1200">
                          <a:effectLst/>
                        </a:rPr>
                        <a:t>CLO_1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846110646"/>
                  </a:ext>
                </a:extLst>
              </a:tr>
              <a:tr h="51562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buNone/>
                      </a:pPr>
                      <a:r>
                        <a:rPr lang="en-US" sz="130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117475" marR="110490" algn="ctr">
                        <a:lnSpc>
                          <a:spcPct val="107000"/>
                        </a:lnSpc>
                        <a:spcBef>
                          <a:spcPts val="1160"/>
                        </a:spcBef>
                        <a:buNone/>
                      </a:pPr>
                      <a:r>
                        <a:rPr lang="en-US" sz="1200">
                          <a:effectLst/>
                        </a:rPr>
                        <a:t>12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4605" marR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Stack</a:t>
                      </a:r>
                      <a:endParaRPr lang="en-US" sz="1100">
                        <a:effectLst/>
                      </a:endParaRPr>
                    </a:p>
                    <a:p>
                      <a:pPr marL="14605" marR="214757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Operations on Stack</a:t>
                      </a:r>
                      <a:r>
                        <a:rPr lang="en-US" sz="1200" spc="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Expression</a:t>
                      </a:r>
                      <a:r>
                        <a:rPr lang="en-US" sz="1200" spc="-7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Notations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381000">
                        <a:lnSpc>
                          <a:spcPct val="107000"/>
                        </a:lnSpc>
                        <a:spcBef>
                          <a:spcPts val="1160"/>
                        </a:spcBef>
                        <a:buNone/>
                      </a:pPr>
                      <a:r>
                        <a:rPr lang="en-US" sz="1300" dirty="0">
                          <a:effectLst/>
                        </a:rPr>
                        <a:t>        </a:t>
                      </a:r>
                      <a:r>
                        <a:rPr lang="en-US" sz="1200" dirty="0">
                          <a:effectLst/>
                        </a:rPr>
                        <a:t>CLO_2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1141900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F6C56E8-DEE3-E535-0F21-D482A63AEF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8657001"/>
              </p:ext>
            </p:extLst>
          </p:nvPr>
        </p:nvGraphicFramePr>
        <p:xfrm>
          <a:off x="1593850" y="4216560"/>
          <a:ext cx="9070975" cy="1008254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{5C22544A-7EE6-4342-B048-85BDC9FD1C3A}</a:tableStyleId>
              </a:tblPr>
              <a:tblGrid>
                <a:gridCol w="832485">
                  <a:extLst>
                    <a:ext uri="{9D8B030D-6E8A-4147-A177-3AD203B41FA5}">
                      <a16:colId xmlns:a16="http://schemas.microsoft.com/office/drawing/2014/main" val="410921114"/>
                    </a:ext>
                  </a:extLst>
                </a:gridCol>
                <a:gridCol w="3484245">
                  <a:extLst>
                    <a:ext uri="{9D8B030D-6E8A-4147-A177-3AD203B41FA5}">
                      <a16:colId xmlns:a16="http://schemas.microsoft.com/office/drawing/2014/main" val="1919411830"/>
                    </a:ext>
                  </a:extLst>
                </a:gridCol>
                <a:gridCol w="3484245">
                  <a:extLst>
                    <a:ext uri="{9D8B030D-6E8A-4147-A177-3AD203B41FA5}">
                      <a16:colId xmlns:a16="http://schemas.microsoft.com/office/drawing/2014/main" val="1082480184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3027274369"/>
                    </a:ext>
                  </a:extLst>
                </a:gridCol>
              </a:tblGrid>
              <a:tr h="366395">
                <a:tc rowSpan="2"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buNone/>
                      </a:pPr>
                      <a:r>
                        <a:rPr lang="en-US" sz="130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0" marR="0">
                        <a:lnSpc>
                          <a:spcPct val="107000"/>
                        </a:lnSpc>
                        <a:spcBef>
                          <a:spcPts val="50"/>
                        </a:spcBef>
                        <a:buNone/>
                      </a:pPr>
                      <a:r>
                        <a:rPr lang="en-US" sz="150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5715" marR="0" algn="ctr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7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45"/>
                        </a:spcBef>
                        <a:buNone/>
                      </a:pPr>
                      <a:r>
                        <a:rPr lang="en-US" sz="150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284480" marR="292735" algn="ctr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13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1430" marR="2136775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Applications</a:t>
                      </a:r>
                      <a:r>
                        <a:rPr lang="en-US" sz="1200" spc="-4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of</a:t>
                      </a:r>
                      <a:r>
                        <a:rPr lang="en-US" sz="1200" spc="-4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Stack</a:t>
                      </a:r>
                      <a:r>
                        <a:rPr lang="en-US" sz="1200" spc="-28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Recursion</a:t>
                      </a:r>
                      <a:endParaRPr lang="en-US" sz="1100">
                        <a:effectLst/>
                      </a:endParaRPr>
                    </a:p>
                    <a:p>
                      <a:pPr marL="11430" marR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Tower</a:t>
                      </a:r>
                      <a:r>
                        <a:rPr lang="en-US" sz="1200" spc="-1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of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Hanoi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381000" algn="ctr">
                        <a:lnSpc>
                          <a:spcPct val="107000"/>
                        </a:lnSpc>
                        <a:buNone/>
                      </a:pPr>
                      <a:r>
                        <a:rPr lang="en-US" sz="1500">
                          <a:effectLst/>
                        </a:rPr>
                        <a:t>      </a:t>
                      </a:r>
                      <a:r>
                        <a:rPr lang="en-US" sz="1200">
                          <a:effectLst/>
                        </a:rPr>
                        <a:t>CLO_2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597131803"/>
                  </a:ext>
                </a:extLst>
              </a:tr>
              <a:tr h="2984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50"/>
                        </a:spcBef>
                        <a:buNone/>
                      </a:pPr>
                      <a:r>
                        <a:rPr lang="en-US" sz="150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284480" marR="292735" algn="ctr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14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1430" marR="1610995">
                        <a:lnSpc>
                          <a:spcPct val="107000"/>
                        </a:lnSpc>
                        <a:spcBef>
                          <a:spcPts val="110"/>
                        </a:spcBef>
                        <a:buNone/>
                      </a:pPr>
                      <a:r>
                        <a:rPr lang="en-US" sz="1200">
                          <a:effectLst/>
                        </a:rPr>
                        <a:t>Infix to Postfix Conversion</a:t>
                      </a:r>
                      <a:r>
                        <a:rPr lang="en-US" sz="1200" spc="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Evaluating</a:t>
                      </a:r>
                      <a:r>
                        <a:rPr lang="en-US" sz="1200" spc="-4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Postfix</a:t>
                      </a:r>
                      <a:r>
                        <a:rPr lang="en-US" sz="1200" spc="-3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Expression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50"/>
                        </a:spcBef>
                        <a:buNone/>
                      </a:pPr>
                      <a:r>
                        <a:rPr lang="en-US" sz="1500" dirty="0">
                          <a:effectLst/>
                        </a:rPr>
                        <a:t> </a:t>
                      </a:r>
                      <a:endParaRPr lang="en-US" sz="1100" dirty="0">
                        <a:effectLst/>
                      </a:endParaRPr>
                    </a:p>
                    <a:p>
                      <a:pPr marL="378460" marR="381000" algn="ctr">
                        <a:lnSpc>
                          <a:spcPct val="107000"/>
                        </a:lnSpc>
                        <a:buNone/>
                      </a:pPr>
                      <a:r>
                        <a:rPr lang="en-US" sz="1200" dirty="0">
                          <a:effectLst/>
                        </a:rPr>
                        <a:t>CLO_2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5193459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808459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B427F074-5479-7CE7-D692-ED9811ADA1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5812380"/>
              </p:ext>
            </p:extLst>
          </p:nvPr>
        </p:nvGraphicFramePr>
        <p:xfrm>
          <a:off x="1622425" y="900464"/>
          <a:ext cx="9070975" cy="1376173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{5C22544A-7EE6-4342-B048-85BDC9FD1C3A}</a:tableStyleId>
              </a:tblPr>
              <a:tblGrid>
                <a:gridCol w="832485">
                  <a:extLst>
                    <a:ext uri="{9D8B030D-6E8A-4147-A177-3AD203B41FA5}">
                      <a16:colId xmlns:a16="http://schemas.microsoft.com/office/drawing/2014/main" val="463213250"/>
                    </a:ext>
                  </a:extLst>
                </a:gridCol>
                <a:gridCol w="3484245">
                  <a:extLst>
                    <a:ext uri="{9D8B030D-6E8A-4147-A177-3AD203B41FA5}">
                      <a16:colId xmlns:a16="http://schemas.microsoft.com/office/drawing/2014/main" val="4091233306"/>
                    </a:ext>
                  </a:extLst>
                </a:gridCol>
                <a:gridCol w="3484245">
                  <a:extLst>
                    <a:ext uri="{9D8B030D-6E8A-4147-A177-3AD203B41FA5}">
                      <a16:colId xmlns:a16="http://schemas.microsoft.com/office/drawing/2014/main" val="36667404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992838027"/>
                    </a:ext>
                  </a:extLst>
                </a:gridCol>
              </a:tblGrid>
              <a:tr h="738505">
                <a:tc rowSpan="2"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buNone/>
                      </a:pPr>
                      <a:r>
                        <a:rPr lang="en-US" sz="1300" dirty="0">
                          <a:effectLst/>
                        </a:rPr>
                        <a:t> </a:t>
                      </a:r>
                      <a:endParaRPr lang="en-US" sz="1100" dirty="0">
                        <a:effectLst/>
                      </a:endParaRPr>
                    </a:p>
                    <a:p>
                      <a:pPr marL="0" marR="0">
                        <a:lnSpc>
                          <a:spcPct val="107000"/>
                        </a:lnSpc>
                        <a:spcBef>
                          <a:spcPts val="50"/>
                        </a:spcBef>
                        <a:buNone/>
                      </a:pPr>
                      <a:r>
                        <a:rPr lang="en-US" sz="1500" dirty="0">
                          <a:effectLst/>
                        </a:rPr>
                        <a:t> </a:t>
                      </a:r>
                      <a:endParaRPr lang="en-US" sz="1100" dirty="0">
                        <a:effectLst/>
                      </a:endParaRPr>
                    </a:p>
                    <a:p>
                      <a:pPr marL="5715" marR="0" algn="ctr">
                        <a:lnSpc>
                          <a:spcPct val="107000"/>
                        </a:lnSpc>
                        <a:buNone/>
                      </a:pPr>
                      <a:r>
                        <a:rPr lang="en-US" sz="1200" dirty="0">
                          <a:effectLst/>
                        </a:rPr>
                        <a:t>8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55"/>
                        </a:spcBef>
                        <a:buNone/>
                      </a:pPr>
                      <a:r>
                        <a:rPr lang="en-US" sz="185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284480" marR="292735" algn="ctr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15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1430" marR="0">
                        <a:lnSpc>
                          <a:spcPct val="107000"/>
                        </a:lnSpc>
                        <a:spcBef>
                          <a:spcPts val="455"/>
                        </a:spcBef>
                        <a:buNone/>
                      </a:pPr>
                      <a:r>
                        <a:rPr lang="en-US" sz="1200">
                          <a:effectLst/>
                        </a:rPr>
                        <a:t>Queues</a:t>
                      </a:r>
                      <a:endParaRPr lang="en-US" sz="1100">
                        <a:effectLst/>
                      </a:endParaRPr>
                    </a:p>
                    <a:p>
                      <a:pPr marL="11430" marR="2162175">
                        <a:lnSpc>
                          <a:spcPct val="107000"/>
                        </a:lnSpc>
                        <a:spcBef>
                          <a:spcPts val="165"/>
                        </a:spcBef>
                        <a:buNone/>
                      </a:pPr>
                      <a:r>
                        <a:rPr lang="en-US" sz="1200">
                          <a:effectLst/>
                        </a:rPr>
                        <a:t>Operations</a:t>
                      </a:r>
                      <a:r>
                        <a:rPr lang="en-US" sz="1200" spc="-4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on</a:t>
                      </a:r>
                      <a:r>
                        <a:rPr lang="en-US" sz="1200" spc="-4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Queue</a:t>
                      </a:r>
                      <a:r>
                        <a:rPr lang="en-US" sz="1200" spc="-28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Circular</a:t>
                      </a:r>
                      <a:r>
                        <a:rPr lang="en-US" sz="1200" spc="-1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Queue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55"/>
                        </a:spcBef>
                        <a:buNone/>
                      </a:pPr>
                      <a:r>
                        <a:rPr lang="en-US" sz="185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378460" marR="381000" algn="ctr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CLO_2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123102010"/>
                  </a:ext>
                </a:extLst>
              </a:tr>
              <a:tr h="37782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50"/>
                        </a:spcBef>
                        <a:buNone/>
                      </a:pPr>
                      <a:r>
                        <a:rPr lang="en-US" sz="150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284480" marR="292735" algn="ctr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16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1430" marR="1941830">
                        <a:lnSpc>
                          <a:spcPct val="107000"/>
                        </a:lnSpc>
                        <a:spcBef>
                          <a:spcPts val="110"/>
                        </a:spcBef>
                        <a:buNone/>
                      </a:pPr>
                      <a:r>
                        <a:rPr lang="en-US" sz="1200">
                          <a:effectLst/>
                        </a:rPr>
                        <a:t>Input Restricted Deque</a:t>
                      </a:r>
                      <a:r>
                        <a:rPr lang="en-US" sz="1200" spc="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Output</a:t>
                      </a:r>
                      <a:r>
                        <a:rPr lang="en-US" sz="1200" spc="-4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Restricted</a:t>
                      </a:r>
                      <a:r>
                        <a:rPr lang="en-US" sz="1200" spc="-4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Deque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50"/>
                        </a:spcBef>
                        <a:buNone/>
                      </a:pPr>
                      <a:r>
                        <a:rPr lang="en-US" sz="1500" dirty="0">
                          <a:effectLst/>
                        </a:rPr>
                        <a:t> </a:t>
                      </a:r>
                      <a:endParaRPr lang="en-US" sz="1100" dirty="0">
                        <a:effectLst/>
                      </a:endParaRPr>
                    </a:p>
                    <a:p>
                      <a:pPr marL="378460" marR="393700" algn="ctr">
                        <a:lnSpc>
                          <a:spcPct val="107000"/>
                        </a:lnSpc>
                        <a:buNone/>
                      </a:pPr>
                      <a:r>
                        <a:rPr lang="en-US" sz="1200" dirty="0">
                          <a:effectLst/>
                        </a:rPr>
                        <a:t>CLO_2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699258742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0FCDC97-7A8E-5065-20BF-447F580264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9719654"/>
              </p:ext>
            </p:extLst>
          </p:nvPr>
        </p:nvGraphicFramePr>
        <p:xfrm>
          <a:off x="1622425" y="2352837"/>
          <a:ext cx="9070975" cy="477520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{5C22544A-7EE6-4342-B048-85BDC9FD1C3A}</a:tableStyleId>
              </a:tblPr>
              <a:tblGrid>
                <a:gridCol w="825500">
                  <a:extLst>
                    <a:ext uri="{9D8B030D-6E8A-4147-A177-3AD203B41FA5}">
                      <a16:colId xmlns:a16="http://schemas.microsoft.com/office/drawing/2014/main" val="775602504"/>
                    </a:ext>
                  </a:extLst>
                </a:gridCol>
                <a:gridCol w="6972300">
                  <a:extLst>
                    <a:ext uri="{9D8B030D-6E8A-4147-A177-3AD203B41FA5}">
                      <a16:colId xmlns:a16="http://schemas.microsoft.com/office/drawing/2014/main" val="2134776303"/>
                    </a:ext>
                  </a:extLst>
                </a:gridCol>
                <a:gridCol w="1273175">
                  <a:extLst>
                    <a:ext uri="{9D8B030D-6E8A-4147-A177-3AD203B41FA5}">
                      <a16:colId xmlns:a16="http://schemas.microsoft.com/office/drawing/2014/main" val="3010078551"/>
                    </a:ext>
                  </a:extLst>
                </a:gridCol>
              </a:tblGrid>
              <a:tr h="477520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50"/>
                        </a:spcBef>
                        <a:buNone/>
                      </a:pPr>
                      <a:r>
                        <a:rPr lang="en-US" sz="115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5715" marR="0" algn="ctr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9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518285" marR="1887220" algn="ctr">
                        <a:lnSpc>
                          <a:spcPct val="107000"/>
                        </a:lnSpc>
                        <a:spcBef>
                          <a:spcPts val="690"/>
                        </a:spcBef>
                        <a:buNone/>
                      </a:pPr>
                      <a:r>
                        <a:rPr lang="en-US" sz="1200" dirty="0">
                          <a:effectLst/>
                        </a:rPr>
                        <a:t>MID</a:t>
                      </a:r>
                      <a:r>
                        <a:rPr lang="en-US" sz="1200" spc="-5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TERM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96240" marR="350520">
                        <a:lnSpc>
                          <a:spcPct val="107000"/>
                        </a:lnSpc>
                        <a:buNone/>
                      </a:pPr>
                      <a:r>
                        <a:rPr lang="en-US" sz="1200" dirty="0">
                          <a:effectLst/>
                        </a:rPr>
                        <a:t>CLO_1,</a:t>
                      </a:r>
                      <a:r>
                        <a:rPr lang="en-US" sz="1200" spc="-290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CLO_2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727789398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DB28BFA-6450-5A71-8208-7C68FD6B14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2905223"/>
              </p:ext>
            </p:extLst>
          </p:nvPr>
        </p:nvGraphicFramePr>
        <p:xfrm>
          <a:off x="1622424" y="2870991"/>
          <a:ext cx="9070975" cy="1118553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{5C22544A-7EE6-4342-B048-85BDC9FD1C3A}</a:tableStyleId>
              </a:tblPr>
              <a:tblGrid>
                <a:gridCol w="832485">
                  <a:extLst>
                    <a:ext uri="{9D8B030D-6E8A-4147-A177-3AD203B41FA5}">
                      <a16:colId xmlns:a16="http://schemas.microsoft.com/office/drawing/2014/main" val="3848219464"/>
                    </a:ext>
                  </a:extLst>
                </a:gridCol>
                <a:gridCol w="3484245">
                  <a:extLst>
                    <a:ext uri="{9D8B030D-6E8A-4147-A177-3AD203B41FA5}">
                      <a16:colId xmlns:a16="http://schemas.microsoft.com/office/drawing/2014/main" val="992562973"/>
                    </a:ext>
                  </a:extLst>
                </a:gridCol>
                <a:gridCol w="3484245">
                  <a:extLst>
                    <a:ext uri="{9D8B030D-6E8A-4147-A177-3AD203B41FA5}">
                      <a16:colId xmlns:a16="http://schemas.microsoft.com/office/drawing/2014/main" val="1513180220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1089325057"/>
                    </a:ext>
                  </a:extLst>
                </a:gridCol>
              </a:tblGrid>
              <a:tr h="520700">
                <a:tc rowSpan="2"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buNone/>
                      </a:pPr>
                      <a:r>
                        <a:rPr lang="en-US" sz="130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0" marR="0">
                        <a:lnSpc>
                          <a:spcPct val="107000"/>
                        </a:lnSpc>
                        <a:buNone/>
                      </a:pPr>
                      <a:r>
                        <a:rPr lang="en-US" sz="130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0" marR="302260" algn="ctr">
                        <a:lnSpc>
                          <a:spcPct val="107000"/>
                        </a:lnSpc>
                        <a:buNone/>
                      </a:pPr>
                      <a:r>
                        <a:rPr lang="en-US" sz="1300">
                          <a:effectLst/>
                        </a:rPr>
                        <a:t>      </a:t>
                      </a:r>
                      <a:r>
                        <a:rPr lang="en-US" sz="1200">
                          <a:effectLst/>
                        </a:rPr>
                        <a:t>10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150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284480" marR="292735" algn="ctr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17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1430" marR="0">
                        <a:lnSpc>
                          <a:spcPct val="107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1200">
                          <a:effectLst/>
                        </a:rPr>
                        <a:t>Linked</a:t>
                      </a:r>
                      <a:r>
                        <a:rPr lang="en-US" sz="1200" spc="-1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List</a:t>
                      </a:r>
                      <a:endParaRPr lang="en-US" sz="1100">
                        <a:effectLst/>
                      </a:endParaRPr>
                    </a:p>
                    <a:p>
                      <a:pPr marL="11430" marR="1380490">
                        <a:lnSpc>
                          <a:spcPct val="107000"/>
                        </a:lnSpc>
                        <a:spcBef>
                          <a:spcPts val="170"/>
                        </a:spcBef>
                        <a:buNone/>
                      </a:pPr>
                      <a:r>
                        <a:rPr lang="en-US" sz="1200">
                          <a:effectLst/>
                        </a:rPr>
                        <a:t>Representation of Linked list in C</a:t>
                      </a:r>
                      <a:r>
                        <a:rPr lang="en-US" sz="1200" spc="-28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Insertion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on Singly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Linked List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84810" marR="393700" algn="ctr">
                        <a:lnSpc>
                          <a:spcPts val="1325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CLO_2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403440081"/>
                  </a:ext>
                </a:extLst>
              </a:tr>
              <a:tr h="51562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292735" algn="ctr">
                        <a:lnSpc>
                          <a:spcPct val="107000"/>
                        </a:lnSpc>
                        <a:spcBef>
                          <a:spcPts val="860"/>
                        </a:spcBef>
                        <a:buNone/>
                      </a:pPr>
                      <a:r>
                        <a:rPr lang="en-US" sz="1200">
                          <a:effectLst/>
                        </a:rPr>
                        <a:t>       18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1430" marR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Insertion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on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Singly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Linked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List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continues..</a:t>
                      </a:r>
                      <a:endParaRPr lang="en-US" sz="1100">
                        <a:effectLst/>
                      </a:endParaRPr>
                    </a:p>
                    <a:p>
                      <a:pPr marL="11430" marR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Searching</a:t>
                      </a:r>
                      <a:r>
                        <a:rPr lang="en-US" sz="1200" spc="-1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in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Linked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List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84810" marR="393700" algn="ctr">
                        <a:lnSpc>
                          <a:spcPct val="107000"/>
                        </a:lnSpc>
                        <a:spcBef>
                          <a:spcPts val="615"/>
                        </a:spcBef>
                        <a:buNone/>
                      </a:pPr>
                      <a:r>
                        <a:rPr lang="en-US" sz="1200" dirty="0">
                          <a:effectLst/>
                        </a:rPr>
                        <a:t>CLO_2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526948168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A2A4C21-B8BA-BE22-3E33-9FE3EB15D8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557785"/>
              </p:ext>
            </p:extLst>
          </p:nvPr>
        </p:nvGraphicFramePr>
        <p:xfrm>
          <a:off x="1622424" y="3989544"/>
          <a:ext cx="9070975" cy="567945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{5C22544A-7EE6-4342-B048-85BDC9FD1C3A}</a:tableStyleId>
              </a:tblPr>
              <a:tblGrid>
                <a:gridCol w="832485">
                  <a:extLst>
                    <a:ext uri="{9D8B030D-6E8A-4147-A177-3AD203B41FA5}">
                      <a16:colId xmlns:a16="http://schemas.microsoft.com/office/drawing/2014/main" val="2558130709"/>
                    </a:ext>
                  </a:extLst>
                </a:gridCol>
                <a:gridCol w="3484245">
                  <a:extLst>
                    <a:ext uri="{9D8B030D-6E8A-4147-A177-3AD203B41FA5}">
                      <a16:colId xmlns:a16="http://schemas.microsoft.com/office/drawing/2014/main" val="319733028"/>
                    </a:ext>
                  </a:extLst>
                </a:gridCol>
                <a:gridCol w="3484245">
                  <a:extLst>
                    <a:ext uri="{9D8B030D-6E8A-4147-A177-3AD203B41FA5}">
                      <a16:colId xmlns:a16="http://schemas.microsoft.com/office/drawing/2014/main" val="2590147075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4257558822"/>
                    </a:ext>
                  </a:extLst>
                </a:gridCol>
              </a:tblGrid>
              <a:tr h="215900">
                <a:tc rowSpan="2">
                  <a:txBody>
                    <a:bodyPr/>
                    <a:lstStyle/>
                    <a:p>
                      <a:pPr marL="0" marR="302260" algn="ctr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        11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292735" algn="ctr">
                        <a:lnSpc>
                          <a:spcPct val="107000"/>
                        </a:lnSpc>
                        <a:buNone/>
                      </a:pPr>
                      <a:r>
                        <a:rPr lang="en-US" sz="1550" dirty="0">
                          <a:effectLst/>
                        </a:rPr>
                        <a:t>       </a:t>
                      </a:r>
                      <a:r>
                        <a:rPr lang="en-US" sz="1200" dirty="0">
                          <a:effectLst/>
                        </a:rPr>
                        <a:t>19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1430" marR="155067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Deletion on Singly Linked List</a:t>
                      </a:r>
                      <a:r>
                        <a:rPr lang="en-US" sz="1200" spc="-28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Types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of Linked Lists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38100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         CLO_2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4230770054"/>
                  </a:ext>
                </a:extLst>
              </a:tr>
              <a:tr h="10350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292735" algn="ctr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         20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Stack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and Queue</a:t>
                      </a:r>
                      <a:r>
                        <a:rPr lang="en-US" sz="1200" spc="-1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using Linked</a:t>
                      </a:r>
                      <a:r>
                        <a:rPr lang="en-US" sz="1200" spc="-1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List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381000">
                        <a:lnSpc>
                          <a:spcPct val="107000"/>
                        </a:lnSpc>
                        <a:buNone/>
                      </a:pPr>
                      <a:r>
                        <a:rPr lang="en-US" sz="1200" dirty="0">
                          <a:effectLst/>
                        </a:rPr>
                        <a:t>        CLO_2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449681867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57161F0-A948-D154-F76D-C25C490CC1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6515799"/>
              </p:ext>
            </p:extLst>
          </p:nvPr>
        </p:nvGraphicFramePr>
        <p:xfrm>
          <a:off x="1622424" y="4567014"/>
          <a:ext cx="9090844" cy="1208596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{5C22544A-7EE6-4342-B048-85BDC9FD1C3A}</a:tableStyleId>
              </a:tblPr>
              <a:tblGrid>
                <a:gridCol w="832485">
                  <a:extLst>
                    <a:ext uri="{9D8B030D-6E8A-4147-A177-3AD203B41FA5}">
                      <a16:colId xmlns:a16="http://schemas.microsoft.com/office/drawing/2014/main" val="3730215802"/>
                    </a:ext>
                  </a:extLst>
                </a:gridCol>
                <a:gridCol w="3484245">
                  <a:extLst>
                    <a:ext uri="{9D8B030D-6E8A-4147-A177-3AD203B41FA5}">
                      <a16:colId xmlns:a16="http://schemas.microsoft.com/office/drawing/2014/main" val="847416285"/>
                    </a:ext>
                  </a:extLst>
                </a:gridCol>
                <a:gridCol w="3484245">
                  <a:extLst>
                    <a:ext uri="{9D8B030D-6E8A-4147-A177-3AD203B41FA5}">
                      <a16:colId xmlns:a16="http://schemas.microsoft.com/office/drawing/2014/main" val="2391608819"/>
                    </a:ext>
                  </a:extLst>
                </a:gridCol>
                <a:gridCol w="1260475">
                  <a:extLst>
                    <a:ext uri="{9D8B030D-6E8A-4147-A177-3AD203B41FA5}">
                      <a16:colId xmlns:a16="http://schemas.microsoft.com/office/drawing/2014/main" val="556325960"/>
                    </a:ext>
                  </a:extLst>
                </a:gridCol>
                <a:gridCol w="29394">
                  <a:extLst>
                    <a:ext uri="{9D8B030D-6E8A-4147-A177-3AD203B41FA5}">
                      <a16:colId xmlns:a16="http://schemas.microsoft.com/office/drawing/2014/main" val="3092625853"/>
                    </a:ext>
                  </a:extLst>
                </a:gridCol>
              </a:tblGrid>
              <a:tr h="480695">
                <a:tc rowSpan="2"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0" marR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0" marR="302260" algn="ctr">
                        <a:lnSpc>
                          <a:spcPct val="107000"/>
                        </a:lnSpc>
                        <a:spcBef>
                          <a:spcPts val="905"/>
                        </a:spcBef>
                        <a:buNone/>
                      </a:pPr>
                      <a:r>
                        <a:rPr lang="en-US" sz="1100">
                          <a:effectLst/>
                        </a:rPr>
                        <a:t>12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45"/>
                        </a:spcBef>
                        <a:buNone/>
                      </a:pPr>
                      <a:r>
                        <a:rPr lang="en-US" sz="1750" dirty="0">
                          <a:effectLst/>
                        </a:rPr>
                        <a:t> </a:t>
                      </a:r>
                      <a:endParaRPr lang="en-US" sz="1100" dirty="0">
                        <a:effectLst/>
                      </a:endParaRPr>
                    </a:p>
                    <a:p>
                      <a:pPr marL="284480" marR="292100" algn="ctr">
                        <a:lnSpc>
                          <a:spcPct val="107000"/>
                        </a:lnSpc>
                        <a:buNone/>
                      </a:pPr>
                      <a:r>
                        <a:rPr lang="en-US" sz="1100" dirty="0">
                          <a:effectLst/>
                        </a:rPr>
                        <a:t>21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1430" marR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Trees</a:t>
                      </a:r>
                      <a:endParaRPr lang="en-US" sz="1100">
                        <a:effectLst/>
                      </a:endParaRPr>
                    </a:p>
                    <a:p>
                      <a:pPr marL="11430" marR="488315">
                        <a:lnSpc>
                          <a:spcPct val="107000"/>
                        </a:lnSpc>
                        <a:spcBef>
                          <a:spcPts val="145"/>
                        </a:spcBef>
                        <a:buNone/>
                      </a:pPr>
                      <a:r>
                        <a:rPr lang="en-US" sz="1200">
                          <a:effectLst/>
                        </a:rPr>
                        <a:t>Basic</a:t>
                      </a:r>
                      <a:r>
                        <a:rPr lang="en-US" sz="1200" spc="-2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Terminologies</a:t>
                      </a:r>
                      <a:r>
                        <a:rPr lang="en-US" sz="1200" spc="-2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and</a:t>
                      </a:r>
                      <a:r>
                        <a:rPr lang="en-US" sz="1200" spc="-2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memory</a:t>
                      </a:r>
                      <a:r>
                        <a:rPr lang="en-US" sz="1200" spc="-2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representation</a:t>
                      </a:r>
                      <a:r>
                        <a:rPr lang="en-US" sz="1200" spc="-28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Traversing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Binary Trees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buNone/>
                      </a:pPr>
                      <a:r>
                        <a:rPr lang="en-US" sz="130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0" marR="381000" algn="ctr">
                        <a:lnSpc>
                          <a:spcPct val="107000"/>
                        </a:lnSpc>
                        <a:buNone/>
                      </a:pPr>
                      <a:r>
                        <a:rPr lang="en-US" sz="1300">
                          <a:effectLst/>
                        </a:rPr>
                        <a:t>       </a:t>
                      </a:r>
                      <a:r>
                        <a:rPr lang="en-US" sz="1200">
                          <a:effectLst/>
                        </a:rPr>
                        <a:t>CLO_3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83511"/>
                  </a:ext>
                </a:extLst>
              </a:tr>
              <a:tr h="27495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50"/>
                        </a:spcBef>
                        <a:buNone/>
                      </a:pPr>
                      <a:r>
                        <a:rPr lang="en-US" sz="170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284480" marR="292100" algn="ctr">
                        <a:lnSpc>
                          <a:spcPct val="107000"/>
                        </a:lnSpc>
                        <a:buNone/>
                      </a:pPr>
                      <a:r>
                        <a:rPr lang="en-US" sz="1100">
                          <a:effectLst/>
                        </a:rPr>
                        <a:t>22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 rowSpan="2">
                  <a:txBody>
                    <a:bodyPr/>
                    <a:lstStyle/>
                    <a:p>
                      <a:pPr marL="11430" marR="2273300">
                        <a:lnSpc>
                          <a:spcPct val="107000"/>
                        </a:lnSpc>
                        <a:spcBef>
                          <a:spcPts val="125"/>
                        </a:spcBef>
                        <a:buNone/>
                      </a:pPr>
                      <a:r>
                        <a:rPr lang="en-US" sz="1200">
                          <a:effectLst/>
                        </a:rPr>
                        <a:t>Binary</a:t>
                      </a:r>
                      <a:r>
                        <a:rPr lang="en-US" sz="1200" spc="-4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Search</a:t>
                      </a:r>
                      <a:r>
                        <a:rPr lang="en-US" sz="1200" spc="-4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Tree</a:t>
                      </a:r>
                      <a:r>
                        <a:rPr lang="en-US" sz="1200" spc="-28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Searching</a:t>
                      </a:r>
                      <a:r>
                        <a:rPr lang="en-US" sz="1200" spc="-1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on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BST</a:t>
                      </a:r>
                      <a:endParaRPr lang="en-US" sz="1100">
                        <a:effectLst/>
                      </a:endParaRPr>
                    </a:p>
                    <a:p>
                      <a:pPr marL="0" marR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Insertion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on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BST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buNone/>
                      </a:pPr>
                      <a:r>
                        <a:rPr lang="en-US" sz="130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0" marR="381000">
                        <a:lnSpc>
                          <a:spcPct val="107000"/>
                        </a:lnSpc>
                        <a:buNone/>
                      </a:pPr>
                      <a:r>
                        <a:rPr lang="en-US" sz="1500">
                          <a:effectLst/>
                        </a:rPr>
                        <a:t>        </a:t>
                      </a:r>
                      <a:r>
                        <a:rPr lang="en-US" sz="1200">
                          <a:effectLst/>
                        </a:rPr>
                        <a:t>CLO_3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5458982"/>
                  </a:ext>
                </a:extLst>
              </a:tr>
              <a:tr h="38100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buNone/>
                      </a:pPr>
                      <a:r>
                        <a:rPr lang="en-US" sz="1100">
                          <a:effectLst/>
                        </a:rPr>
                        <a:t> 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buNone/>
                      </a:pPr>
                      <a:r>
                        <a:rPr lang="en-US" sz="1100">
                          <a:effectLst/>
                        </a:rPr>
                        <a:t> 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07000"/>
                        </a:lnSpc>
                        <a:buNone/>
                      </a:pPr>
                      <a:r>
                        <a:rPr lang="en-US" sz="1100">
                          <a:effectLst/>
                        </a:rPr>
                        <a:t> 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buNone/>
                      </a:pPr>
                      <a:r>
                        <a:rPr lang="en-US" sz="1100" dirty="0">
                          <a:effectLst/>
                        </a:rPr>
                        <a:t> 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4065037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58729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3318301-F71C-85EB-2A2F-6D8EB1A38B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5068421"/>
              </p:ext>
            </p:extLst>
          </p:nvPr>
        </p:nvGraphicFramePr>
        <p:xfrm>
          <a:off x="1565275" y="614902"/>
          <a:ext cx="9061450" cy="911860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{5C22544A-7EE6-4342-B048-85BDC9FD1C3A}</a:tableStyleId>
              </a:tblPr>
              <a:tblGrid>
                <a:gridCol w="832485">
                  <a:extLst>
                    <a:ext uri="{9D8B030D-6E8A-4147-A177-3AD203B41FA5}">
                      <a16:colId xmlns:a16="http://schemas.microsoft.com/office/drawing/2014/main" val="3137721736"/>
                    </a:ext>
                  </a:extLst>
                </a:gridCol>
                <a:gridCol w="3484245">
                  <a:extLst>
                    <a:ext uri="{9D8B030D-6E8A-4147-A177-3AD203B41FA5}">
                      <a16:colId xmlns:a16="http://schemas.microsoft.com/office/drawing/2014/main" val="2626354788"/>
                    </a:ext>
                  </a:extLst>
                </a:gridCol>
                <a:gridCol w="3484245">
                  <a:extLst>
                    <a:ext uri="{9D8B030D-6E8A-4147-A177-3AD203B41FA5}">
                      <a16:colId xmlns:a16="http://schemas.microsoft.com/office/drawing/2014/main" val="804883964"/>
                    </a:ext>
                  </a:extLst>
                </a:gridCol>
                <a:gridCol w="1260475">
                  <a:extLst>
                    <a:ext uri="{9D8B030D-6E8A-4147-A177-3AD203B41FA5}">
                      <a16:colId xmlns:a16="http://schemas.microsoft.com/office/drawing/2014/main" val="3936849111"/>
                    </a:ext>
                  </a:extLst>
                </a:gridCol>
              </a:tblGrid>
              <a:tr h="360680">
                <a:tc rowSpan="2"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0" marR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0" marR="307975" algn="ctr">
                        <a:lnSpc>
                          <a:spcPct val="107000"/>
                        </a:lnSpc>
                        <a:spcBef>
                          <a:spcPts val="975"/>
                        </a:spcBef>
                        <a:buNone/>
                      </a:pPr>
                      <a:r>
                        <a:rPr lang="en-US" sz="1100">
                          <a:effectLst/>
                        </a:rPr>
                        <a:t>13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50"/>
                        </a:spcBef>
                        <a:buNone/>
                      </a:pPr>
                      <a:r>
                        <a:rPr lang="en-US" sz="175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292100" marR="299085" algn="ctr">
                        <a:lnSpc>
                          <a:spcPct val="107000"/>
                        </a:lnSpc>
                        <a:spcBef>
                          <a:spcPts val="5"/>
                        </a:spcBef>
                        <a:buNone/>
                      </a:pPr>
                      <a:r>
                        <a:rPr lang="en-US" sz="1100">
                          <a:effectLst/>
                        </a:rPr>
                        <a:t>23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1430" marR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Deletion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on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BST</a:t>
                      </a:r>
                      <a:endParaRPr lang="en-US" sz="1100">
                        <a:effectLst/>
                      </a:endParaRPr>
                    </a:p>
                    <a:p>
                      <a:pPr marL="11430" marR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Three</a:t>
                      </a:r>
                      <a:r>
                        <a:rPr lang="en-US" sz="1200" spc="-1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Cases: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No Child,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One</a:t>
                      </a:r>
                      <a:r>
                        <a:rPr lang="en-US" sz="1200" spc="-1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Child, Two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Children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buNone/>
                      </a:pPr>
                      <a:r>
                        <a:rPr lang="en-US" sz="130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0" marR="372110" algn="ctr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CLO_3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76601423"/>
                  </a:ext>
                </a:extLst>
              </a:tr>
              <a:tr h="26352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50"/>
                        </a:spcBef>
                        <a:buNone/>
                      </a:pPr>
                      <a:r>
                        <a:rPr lang="en-US" sz="175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292100" marR="299085" algn="ctr">
                        <a:lnSpc>
                          <a:spcPct val="107000"/>
                        </a:lnSpc>
                        <a:spcBef>
                          <a:spcPts val="5"/>
                        </a:spcBef>
                        <a:buNone/>
                      </a:pPr>
                      <a:r>
                        <a:rPr lang="en-US" sz="1100">
                          <a:effectLst/>
                        </a:rPr>
                        <a:t>24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1430" marR="1268730">
                        <a:lnSpc>
                          <a:spcPct val="107000"/>
                        </a:lnSpc>
                        <a:spcBef>
                          <a:spcPts val="155"/>
                        </a:spcBef>
                        <a:buNone/>
                      </a:pPr>
                      <a:r>
                        <a:rPr lang="en-US" sz="1200">
                          <a:effectLst/>
                        </a:rPr>
                        <a:t>Complete vs Almost Complete BTs</a:t>
                      </a:r>
                      <a:r>
                        <a:rPr lang="en-US" sz="1200" spc="-29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Heap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Sort Algorithm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1550" dirty="0">
                          <a:effectLst/>
                        </a:rPr>
                        <a:t> </a:t>
                      </a:r>
                      <a:endParaRPr lang="en-US" sz="1100" dirty="0">
                        <a:effectLst/>
                      </a:endParaRPr>
                    </a:p>
                    <a:p>
                      <a:pPr marL="0" marR="372110" algn="ctr">
                        <a:lnSpc>
                          <a:spcPct val="107000"/>
                        </a:lnSpc>
                        <a:buNone/>
                      </a:pPr>
                      <a:r>
                        <a:rPr lang="en-US" sz="1200" dirty="0">
                          <a:effectLst/>
                        </a:rPr>
                        <a:t>CLO_3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661484710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687C27C-4305-A5A3-4C05-4C54485215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7709651"/>
              </p:ext>
            </p:extLst>
          </p:nvPr>
        </p:nvGraphicFramePr>
        <p:xfrm>
          <a:off x="1565275" y="1526762"/>
          <a:ext cx="9061450" cy="605346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{5C22544A-7EE6-4342-B048-85BDC9FD1C3A}</a:tableStyleId>
              </a:tblPr>
              <a:tblGrid>
                <a:gridCol w="832485">
                  <a:extLst>
                    <a:ext uri="{9D8B030D-6E8A-4147-A177-3AD203B41FA5}">
                      <a16:colId xmlns:a16="http://schemas.microsoft.com/office/drawing/2014/main" val="2921816419"/>
                    </a:ext>
                  </a:extLst>
                </a:gridCol>
                <a:gridCol w="3484245">
                  <a:extLst>
                    <a:ext uri="{9D8B030D-6E8A-4147-A177-3AD203B41FA5}">
                      <a16:colId xmlns:a16="http://schemas.microsoft.com/office/drawing/2014/main" val="543754367"/>
                    </a:ext>
                  </a:extLst>
                </a:gridCol>
                <a:gridCol w="3484245">
                  <a:extLst>
                    <a:ext uri="{9D8B030D-6E8A-4147-A177-3AD203B41FA5}">
                      <a16:colId xmlns:a16="http://schemas.microsoft.com/office/drawing/2014/main" val="426133436"/>
                    </a:ext>
                  </a:extLst>
                </a:gridCol>
                <a:gridCol w="1260475">
                  <a:extLst>
                    <a:ext uri="{9D8B030D-6E8A-4147-A177-3AD203B41FA5}">
                      <a16:colId xmlns:a16="http://schemas.microsoft.com/office/drawing/2014/main" val="2970404925"/>
                    </a:ext>
                  </a:extLst>
                </a:gridCol>
              </a:tblGrid>
              <a:tr h="223520">
                <a:tc rowSpan="2"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20"/>
                        </a:spcBef>
                        <a:buNone/>
                      </a:pPr>
                      <a:r>
                        <a:rPr lang="en-US" sz="155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0" marR="307975" algn="ctr">
                        <a:lnSpc>
                          <a:spcPct val="107000"/>
                        </a:lnSpc>
                        <a:spcBef>
                          <a:spcPts val="5"/>
                        </a:spcBef>
                        <a:buNone/>
                      </a:pPr>
                      <a:r>
                        <a:rPr lang="en-US" sz="1100">
                          <a:effectLst/>
                        </a:rPr>
                        <a:t>14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299085" algn="ctr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       </a:t>
                      </a:r>
                      <a:r>
                        <a:rPr lang="en-US" sz="1100">
                          <a:effectLst/>
                        </a:rPr>
                        <a:t>25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5"/>
                        </a:spcBef>
                        <a:buNone/>
                      </a:pPr>
                      <a:r>
                        <a:rPr lang="en-US" sz="1200">
                          <a:effectLst/>
                        </a:rPr>
                        <a:t>Huffman</a:t>
                      </a:r>
                      <a:r>
                        <a:rPr lang="en-US" sz="1200" spc="-1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Encoding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Algorithm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371475" algn="ctr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CLO_3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727973461"/>
                  </a:ext>
                </a:extLst>
              </a:tr>
              <a:tr h="4635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299085" algn="ctr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        </a:t>
                      </a:r>
                      <a:r>
                        <a:rPr lang="en-US" sz="1100">
                          <a:effectLst/>
                        </a:rPr>
                        <a:t>26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Graphs</a:t>
                      </a:r>
                      <a:endParaRPr lang="en-US" sz="1100">
                        <a:effectLst/>
                      </a:endParaRPr>
                    </a:p>
                    <a:p>
                      <a:pPr marL="11430" marR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Basic</a:t>
                      </a:r>
                      <a:r>
                        <a:rPr lang="en-US" sz="1200" spc="-1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Terminologies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372110" algn="ctr">
                        <a:lnSpc>
                          <a:spcPct val="107000"/>
                        </a:lnSpc>
                        <a:buNone/>
                      </a:pPr>
                      <a:r>
                        <a:rPr lang="en-US" sz="1200" dirty="0">
                          <a:effectLst/>
                        </a:rPr>
                        <a:t>CLO_3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68771178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89A5890-A79A-8F79-7268-43F1F7765C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8693667"/>
              </p:ext>
            </p:extLst>
          </p:nvPr>
        </p:nvGraphicFramePr>
        <p:xfrm>
          <a:off x="1565275" y="2137251"/>
          <a:ext cx="9061450" cy="959359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{5C22544A-7EE6-4342-B048-85BDC9FD1C3A}</a:tableStyleId>
              </a:tblPr>
              <a:tblGrid>
                <a:gridCol w="832485">
                  <a:extLst>
                    <a:ext uri="{9D8B030D-6E8A-4147-A177-3AD203B41FA5}">
                      <a16:colId xmlns:a16="http://schemas.microsoft.com/office/drawing/2014/main" val="2129781464"/>
                    </a:ext>
                  </a:extLst>
                </a:gridCol>
                <a:gridCol w="3484245">
                  <a:extLst>
                    <a:ext uri="{9D8B030D-6E8A-4147-A177-3AD203B41FA5}">
                      <a16:colId xmlns:a16="http://schemas.microsoft.com/office/drawing/2014/main" val="4186596763"/>
                    </a:ext>
                  </a:extLst>
                </a:gridCol>
                <a:gridCol w="3484245">
                  <a:extLst>
                    <a:ext uri="{9D8B030D-6E8A-4147-A177-3AD203B41FA5}">
                      <a16:colId xmlns:a16="http://schemas.microsoft.com/office/drawing/2014/main" val="3908290950"/>
                    </a:ext>
                  </a:extLst>
                </a:gridCol>
                <a:gridCol w="1260475">
                  <a:extLst>
                    <a:ext uri="{9D8B030D-6E8A-4147-A177-3AD203B41FA5}">
                      <a16:colId xmlns:a16="http://schemas.microsoft.com/office/drawing/2014/main" val="1485665979"/>
                    </a:ext>
                  </a:extLst>
                </a:gridCol>
              </a:tblGrid>
              <a:tr h="194945">
                <a:tc rowSpan="2"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0" marR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0" marR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0" marR="307975" algn="ctr">
                        <a:lnSpc>
                          <a:spcPct val="107000"/>
                        </a:lnSpc>
                        <a:buNone/>
                      </a:pPr>
                      <a:r>
                        <a:rPr lang="en-US" sz="1100">
                          <a:effectLst/>
                        </a:rPr>
                        <a:t>15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30"/>
                        </a:spcBef>
                        <a:buNone/>
                      </a:pPr>
                      <a:r>
                        <a:rPr lang="en-US" sz="150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292100" marR="299085" algn="ctr">
                        <a:lnSpc>
                          <a:spcPct val="107000"/>
                        </a:lnSpc>
                        <a:buNone/>
                      </a:pPr>
                      <a:r>
                        <a:rPr lang="en-US" sz="1100">
                          <a:effectLst/>
                        </a:rPr>
                        <a:t>27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1430" marR="756920">
                        <a:lnSpc>
                          <a:spcPct val="107000"/>
                        </a:lnSpc>
                        <a:spcBef>
                          <a:spcPts val="150"/>
                        </a:spcBef>
                        <a:buNone/>
                      </a:pPr>
                      <a:r>
                        <a:rPr lang="en-US" sz="1200">
                          <a:effectLst/>
                        </a:rPr>
                        <a:t>Adjacency</a:t>
                      </a:r>
                      <a:r>
                        <a:rPr lang="en-US" sz="1200" spc="-2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Matrix</a:t>
                      </a:r>
                      <a:r>
                        <a:rPr lang="en-US" sz="1200" spc="-2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Representation</a:t>
                      </a:r>
                      <a:r>
                        <a:rPr lang="en-US" sz="1200" spc="-2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of</a:t>
                      </a:r>
                      <a:r>
                        <a:rPr lang="en-US" sz="1200" spc="-2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Graphs</a:t>
                      </a:r>
                      <a:r>
                        <a:rPr lang="en-US" sz="1200" spc="-28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Linked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List representation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of Graphs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07000"/>
                        </a:lnSpc>
                        <a:spcBef>
                          <a:spcPts val="50"/>
                        </a:spcBef>
                        <a:buNone/>
                      </a:pPr>
                      <a:r>
                        <a:rPr lang="en-US" sz="1550">
                          <a:effectLst/>
                        </a:rPr>
                        <a:t> </a:t>
                      </a:r>
                      <a:endParaRPr lang="en-US" sz="1100">
                        <a:effectLst/>
                      </a:endParaRPr>
                    </a:p>
                    <a:p>
                      <a:pPr marL="379730" marR="372110" algn="just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CLO_3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049399253"/>
                  </a:ext>
                </a:extLst>
              </a:tr>
              <a:tr h="635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299085" algn="ctr">
                        <a:lnSpc>
                          <a:spcPct val="107000"/>
                        </a:lnSpc>
                        <a:spcBef>
                          <a:spcPts val="1070"/>
                        </a:spcBef>
                        <a:buNone/>
                      </a:pPr>
                      <a:r>
                        <a:rPr lang="en-US" sz="1200">
                          <a:effectLst/>
                        </a:rPr>
                        <a:t>         </a:t>
                      </a:r>
                      <a:r>
                        <a:rPr lang="en-US" sz="1100">
                          <a:effectLst/>
                        </a:rPr>
                        <a:t>28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1430" marR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Shortest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Path</a:t>
                      </a:r>
                      <a:r>
                        <a:rPr lang="en-US" sz="1200" spc="-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Algorithm</a:t>
                      </a:r>
                      <a:endParaRPr lang="en-US" sz="1100">
                        <a:effectLst/>
                      </a:endParaRPr>
                    </a:p>
                    <a:p>
                      <a:pPr marL="11430" marR="0">
                        <a:lnSpc>
                          <a:spcPct val="10700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Dijkstra’s</a:t>
                      </a:r>
                      <a:r>
                        <a:rPr lang="en-US" sz="1200" spc="-15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Algorithm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81000" marR="384175" algn="just">
                        <a:lnSpc>
                          <a:spcPct val="107000"/>
                        </a:lnSpc>
                        <a:spcBef>
                          <a:spcPts val="630"/>
                        </a:spcBef>
                        <a:buNone/>
                      </a:pPr>
                      <a:r>
                        <a:rPr lang="en-US" sz="1200" dirty="0">
                          <a:effectLst/>
                        </a:rPr>
                        <a:t>CLO_3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774534532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F55D2C2-0B11-D248-A706-E2C994C5B7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8142624"/>
              </p:ext>
            </p:extLst>
          </p:nvPr>
        </p:nvGraphicFramePr>
        <p:xfrm>
          <a:off x="1565275" y="3096610"/>
          <a:ext cx="9061450" cy="508826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{5C22544A-7EE6-4342-B048-85BDC9FD1C3A}</a:tableStyleId>
              </a:tblPr>
              <a:tblGrid>
                <a:gridCol w="815975">
                  <a:extLst>
                    <a:ext uri="{9D8B030D-6E8A-4147-A177-3AD203B41FA5}">
                      <a16:colId xmlns:a16="http://schemas.microsoft.com/office/drawing/2014/main" val="3347957980"/>
                    </a:ext>
                  </a:extLst>
                </a:gridCol>
                <a:gridCol w="3514725">
                  <a:extLst>
                    <a:ext uri="{9D8B030D-6E8A-4147-A177-3AD203B41FA5}">
                      <a16:colId xmlns:a16="http://schemas.microsoft.com/office/drawing/2014/main" val="677023586"/>
                    </a:ext>
                  </a:extLst>
                </a:gridCol>
                <a:gridCol w="3457575">
                  <a:extLst>
                    <a:ext uri="{9D8B030D-6E8A-4147-A177-3AD203B41FA5}">
                      <a16:colId xmlns:a16="http://schemas.microsoft.com/office/drawing/2014/main" val="2619538066"/>
                    </a:ext>
                  </a:extLst>
                </a:gridCol>
                <a:gridCol w="1273175">
                  <a:extLst>
                    <a:ext uri="{9D8B030D-6E8A-4147-A177-3AD203B41FA5}">
                      <a16:colId xmlns:a16="http://schemas.microsoft.com/office/drawing/2014/main" val="3201510263"/>
                    </a:ext>
                  </a:extLst>
                </a:gridCol>
              </a:tblGrid>
              <a:tr h="450850">
                <a:tc>
                  <a:txBody>
                    <a:bodyPr/>
                    <a:lstStyle/>
                    <a:p>
                      <a:pPr marL="0" marR="311150" algn="ctr">
                        <a:lnSpc>
                          <a:spcPct val="107000"/>
                        </a:lnSpc>
                        <a:buNone/>
                      </a:pPr>
                      <a:r>
                        <a:rPr lang="en-US" sz="1100" dirty="0">
                          <a:effectLst/>
                        </a:rPr>
                        <a:t>16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00355" marR="296545" algn="ctr">
                        <a:lnSpc>
                          <a:spcPct val="107000"/>
                        </a:lnSpc>
                        <a:spcBef>
                          <a:spcPts val="245"/>
                        </a:spcBef>
                        <a:buNone/>
                      </a:pPr>
                      <a:r>
                        <a:rPr lang="en-US" sz="1100" dirty="0">
                          <a:effectLst/>
                        </a:rPr>
                        <a:t>29</a:t>
                      </a:r>
                    </a:p>
                    <a:p>
                      <a:pPr marL="300355" marR="296545" algn="ctr">
                        <a:lnSpc>
                          <a:spcPct val="107000"/>
                        </a:lnSpc>
                        <a:spcBef>
                          <a:spcPts val="990"/>
                        </a:spcBef>
                        <a:buNone/>
                      </a:pPr>
                      <a:r>
                        <a:rPr lang="en-US" sz="1100" dirty="0">
                          <a:effectLst/>
                        </a:rPr>
                        <a:t>30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7780" marR="0">
                        <a:lnSpc>
                          <a:spcPct val="107000"/>
                        </a:lnSpc>
                        <a:spcBef>
                          <a:spcPts val="245"/>
                        </a:spcBef>
                        <a:buNone/>
                      </a:pPr>
                      <a:r>
                        <a:rPr lang="en-US" sz="1100">
                          <a:effectLst/>
                        </a:rPr>
                        <a:t>Depth</a:t>
                      </a:r>
                      <a:r>
                        <a:rPr lang="en-US" sz="1100" spc="-10">
                          <a:effectLst/>
                        </a:rPr>
                        <a:t> </a:t>
                      </a:r>
                      <a:r>
                        <a:rPr lang="en-US" sz="1100">
                          <a:effectLst/>
                        </a:rPr>
                        <a:t>First</a:t>
                      </a:r>
                      <a:r>
                        <a:rPr lang="en-US" sz="1100" spc="-5">
                          <a:effectLst/>
                        </a:rPr>
                        <a:t> </a:t>
                      </a:r>
                      <a:r>
                        <a:rPr lang="en-US" sz="1100">
                          <a:effectLst/>
                        </a:rPr>
                        <a:t>Traversal</a:t>
                      </a:r>
                    </a:p>
                    <a:p>
                      <a:pPr marL="17780" marR="0">
                        <a:lnSpc>
                          <a:spcPct val="107000"/>
                        </a:lnSpc>
                        <a:spcBef>
                          <a:spcPts val="245"/>
                        </a:spcBef>
                        <a:buNone/>
                      </a:pPr>
                      <a:r>
                        <a:rPr lang="en-US" sz="1100">
                          <a:effectLst/>
                        </a:rPr>
                        <a:t>Breadth</a:t>
                      </a:r>
                      <a:r>
                        <a:rPr lang="en-US" sz="1100" spc="-15">
                          <a:effectLst/>
                        </a:rPr>
                        <a:t> </a:t>
                      </a:r>
                      <a:r>
                        <a:rPr lang="en-US" sz="1100">
                          <a:effectLst/>
                        </a:rPr>
                        <a:t>First</a:t>
                      </a:r>
                      <a:r>
                        <a:rPr lang="en-US" sz="1100" spc="-5">
                          <a:effectLst/>
                        </a:rPr>
                        <a:t> </a:t>
                      </a:r>
                      <a:r>
                        <a:rPr lang="en-US" sz="1100">
                          <a:effectLst/>
                        </a:rPr>
                        <a:t>Traversal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98780" marR="0" algn="just">
                        <a:lnSpc>
                          <a:spcPct val="107000"/>
                        </a:lnSpc>
                        <a:buNone/>
                      </a:pPr>
                      <a:r>
                        <a:rPr lang="en-US" sz="1200" dirty="0">
                          <a:effectLst/>
                        </a:rPr>
                        <a:t>CLO_3</a:t>
                      </a:r>
                      <a:endParaRPr lang="en-US" sz="1100" dirty="0">
                        <a:effectLst/>
                      </a:endParaRPr>
                    </a:p>
                    <a:p>
                      <a:pPr marL="398780" marR="0" algn="just">
                        <a:lnSpc>
                          <a:spcPct val="107000"/>
                        </a:lnSpc>
                        <a:spcBef>
                          <a:spcPts val="1005"/>
                        </a:spcBef>
                        <a:buNone/>
                      </a:pPr>
                      <a:r>
                        <a:rPr lang="en-US" sz="1200" dirty="0">
                          <a:effectLst/>
                        </a:rPr>
                        <a:t>CLO_3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754787988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43EB023-8F74-BC64-C870-CB89A52361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4650828"/>
              </p:ext>
            </p:extLst>
          </p:nvPr>
        </p:nvGraphicFramePr>
        <p:xfrm>
          <a:off x="1565275" y="3605436"/>
          <a:ext cx="9061450" cy="529336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{5C22544A-7EE6-4342-B048-85BDC9FD1C3A}</a:tableStyleId>
              </a:tblPr>
              <a:tblGrid>
                <a:gridCol w="825500">
                  <a:extLst>
                    <a:ext uri="{9D8B030D-6E8A-4147-A177-3AD203B41FA5}">
                      <a16:colId xmlns:a16="http://schemas.microsoft.com/office/drawing/2014/main" val="363091994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215881700"/>
                    </a:ext>
                  </a:extLst>
                </a:gridCol>
                <a:gridCol w="3467100">
                  <a:extLst>
                    <a:ext uri="{9D8B030D-6E8A-4147-A177-3AD203B41FA5}">
                      <a16:colId xmlns:a16="http://schemas.microsoft.com/office/drawing/2014/main" val="3098208290"/>
                    </a:ext>
                  </a:extLst>
                </a:gridCol>
                <a:gridCol w="1263650">
                  <a:extLst>
                    <a:ext uri="{9D8B030D-6E8A-4147-A177-3AD203B41FA5}">
                      <a16:colId xmlns:a16="http://schemas.microsoft.com/office/drawing/2014/main" val="1898617208"/>
                    </a:ext>
                  </a:extLst>
                </a:gridCol>
              </a:tblGrid>
              <a:tr h="353060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buNone/>
                      </a:pPr>
                      <a:r>
                        <a:rPr lang="en-US" sz="1100">
                          <a:effectLst/>
                        </a:rPr>
                        <a:t> 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buNone/>
                      </a:pPr>
                      <a:r>
                        <a:rPr lang="en-US" sz="1100">
                          <a:effectLst/>
                        </a:rPr>
                        <a:t> 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05230" marR="1207770" algn="ctr">
                        <a:lnSpc>
                          <a:spcPct val="107000"/>
                        </a:lnSpc>
                        <a:spcBef>
                          <a:spcPts val="820"/>
                        </a:spcBef>
                        <a:buNone/>
                      </a:pPr>
                      <a:r>
                        <a:rPr lang="en-US" sz="16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Final Exam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93065" marR="440690" algn="just">
                        <a:lnSpc>
                          <a:spcPct val="107000"/>
                        </a:lnSpc>
                        <a:spcBef>
                          <a:spcPts val="10"/>
                        </a:spcBef>
                        <a:buNone/>
                      </a:pPr>
                      <a:r>
                        <a:rPr lang="en-US" sz="1100" dirty="0">
                          <a:effectLst/>
                        </a:rPr>
                        <a:t>CLO_1, CLO_2, CLO_3</a:t>
                      </a:r>
                      <a:endParaRPr lang="en-US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7414818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65663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763E8-0C1D-41D8-E3FF-501F75353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u="sng" dirty="0"/>
              <a:t>Assessment Information: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A7CB105-95D2-DD19-BEF4-E3B5D00382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3393863"/>
              </p:ext>
            </p:extLst>
          </p:nvPr>
        </p:nvGraphicFramePr>
        <p:xfrm>
          <a:off x="838200" y="1801971"/>
          <a:ext cx="5029200" cy="4195873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{5C22544A-7EE6-4342-B048-85BDC9FD1C3A}</a:tableStyleId>
              </a:tblPr>
              <a:tblGrid>
                <a:gridCol w="2111373">
                  <a:extLst>
                    <a:ext uri="{9D8B030D-6E8A-4147-A177-3AD203B41FA5}">
                      <a16:colId xmlns:a16="http://schemas.microsoft.com/office/drawing/2014/main" val="3646556176"/>
                    </a:ext>
                  </a:extLst>
                </a:gridCol>
                <a:gridCol w="1013042">
                  <a:extLst>
                    <a:ext uri="{9D8B030D-6E8A-4147-A177-3AD203B41FA5}">
                      <a16:colId xmlns:a16="http://schemas.microsoft.com/office/drawing/2014/main" val="1125580730"/>
                    </a:ext>
                  </a:extLst>
                </a:gridCol>
                <a:gridCol w="926806">
                  <a:extLst>
                    <a:ext uri="{9D8B030D-6E8A-4147-A177-3AD203B41FA5}">
                      <a16:colId xmlns:a16="http://schemas.microsoft.com/office/drawing/2014/main" val="1217875511"/>
                    </a:ext>
                  </a:extLst>
                </a:gridCol>
                <a:gridCol w="977979">
                  <a:extLst>
                    <a:ext uri="{9D8B030D-6E8A-4147-A177-3AD203B41FA5}">
                      <a16:colId xmlns:a16="http://schemas.microsoft.com/office/drawing/2014/main" val="3696583047"/>
                    </a:ext>
                  </a:extLst>
                </a:gridCol>
              </a:tblGrid>
              <a:tr h="457200">
                <a:tc gridSpan="4">
                  <a:txBody>
                    <a:bodyPr/>
                    <a:lstStyle/>
                    <a:p>
                      <a:pPr marL="1198880" marR="0">
                        <a:lnSpc>
                          <a:spcPts val="1375"/>
                        </a:lnSpc>
                        <a:buNone/>
                      </a:pPr>
                      <a:r>
                        <a:rPr lang="en-US" sz="1200" dirty="0">
                          <a:effectLst/>
                        </a:rPr>
                        <a:t>CLOs</a:t>
                      </a:r>
                      <a:r>
                        <a:rPr lang="en-US" sz="1200" spc="-5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POLICY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8078133"/>
                  </a:ext>
                </a:extLst>
              </a:tr>
              <a:tr h="546076">
                <a:tc>
                  <a:txBody>
                    <a:bodyPr/>
                    <a:lstStyle/>
                    <a:p>
                      <a:pPr marL="194310" marR="182880" algn="ctr">
                        <a:lnSpc>
                          <a:spcPts val="135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Assessment</a:t>
                      </a:r>
                      <a:r>
                        <a:rPr lang="en-US" sz="1200" spc="-1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Items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07950" marR="120015" algn="ctr">
                        <a:lnSpc>
                          <a:spcPts val="1350"/>
                        </a:lnSpc>
                        <a:buNone/>
                      </a:pPr>
                      <a:r>
                        <a:rPr lang="en-US" sz="1200" dirty="0">
                          <a:effectLst/>
                        </a:rPr>
                        <a:t>CLO_1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0485" marR="93980" algn="ctr">
                        <a:lnSpc>
                          <a:spcPts val="135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CLO_2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6515" marR="0">
                        <a:lnSpc>
                          <a:spcPts val="1350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CLO_3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007241929"/>
                  </a:ext>
                </a:extLst>
              </a:tr>
              <a:tr h="507071">
                <a:tc>
                  <a:txBody>
                    <a:bodyPr/>
                    <a:lstStyle/>
                    <a:p>
                      <a:pPr marL="193040" marR="182880" algn="ctr">
                        <a:lnSpc>
                          <a:spcPts val="1315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Assignment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07950" marR="97790" algn="ctr">
                        <a:lnSpc>
                          <a:spcPts val="1315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5%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0485" marR="57150" algn="ctr">
                        <a:lnSpc>
                          <a:spcPts val="1315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5%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47015" marR="234950" algn="ctr">
                        <a:lnSpc>
                          <a:spcPts val="1315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0%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861588655"/>
                  </a:ext>
                </a:extLst>
              </a:tr>
              <a:tr h="507071">
                <a:tc>
                  <a:txBody>
                    <a:bodyPr/>
                    <a:lstStyle/>
                    <a:p>
                      <a:pPr marL="192405" marR="182880" algn="ctr">
                        <a:lnSpc>
                          <a:spcPts val="1315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Quizzes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07950" marR="97790" algn="ctr">
                        <a:lnSpc>
                          <a:spcPts val="1315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5%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0485" marR="57150" algn="ctr">
                        <a:lnSpc>
                          <a:spcPts val="1315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5%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47015" marR="234950" algn="ctr">
                        <a:lnSpc>
                          <a:spcPts val="1315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0%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613795137"/>
                  </a:ext>
                </a:extLst>
              </a:tr>
              <a:tr h="507071">
                <a:tc>
                  <a:txBody>
                    <a:bodyPr/>
                    <a:lstStyle/>
                    <a:p>
                      <a:pPr marL="193040" marR="182880" algn="ctr">
                        <a:lnSpc>
                          <a:spcPts val="1315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Midterm</a:t>
                      </a:r>
                      <a:r>
                        <a:rPr lang="en-US" sz="1200" spc="-1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Exam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07950" marR="97790" algn="ctr">
                        <a:lnSpc>
                          <a:spcPts val="1315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8%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0485" marR="60325" algn="ctr">
                        <a:lnSpc>
                          <a:spcPts val="1315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12%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47015" marR="234950" algn="ctr">
                        <a:lnSpc>
                          <a:spcPts val="1315"/>
                        </a:lnSpc>
                        <a:buNone/>
                      </a:pPr>
                      <a:r>
                        <a:rPr lang="en-US" sz="1200" dirty="0">
                          <a:effectLst/>
                        </a:rPr>
                        <a:t>0%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375251226"/>
                  </a:ext>
                </a:extLst>
              </a:tr>
              <a:tr h="507071">
                <a:tc>
                  <a:txBody>
                    <a:bodyPr/>
                    <a:lstStyle/>
                    <a:p>
                      <a:pPr marL="194310" marR="182880" algn="ctr">
                        <a:lnSpc>
                          <a:spcPts val="1325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Problem Based Learning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0160" marR="0" algn="ctr">
                        <a:lnSpc>
                          <a:spcPts val="1325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0%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0795" marR="0" algn="ctr">
                        <a:lnSpc>
                          <a:spcPts val="1325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5%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065" marR="0" algn="ctr">
                        <a:lnSpc>
                          <a:spcPts val="1325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5%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4294537725"/>
                  </a:ext>
                </a:extLst>
              </a:tr>
              <a:tr h="760606">
                <a:tc>
                  <a:txBody>
                    <a:bodyPr/>
                    <a:lstStyle/>
                    <a:p>
                      <a:pPr marL="194310" marR="182880" algn="ctr">
                        <a:lnSpc>
                          <a:spcPts val="1325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Complex Engineering Problem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0160" marR="0" algn="ctr">
                        <a:lnSpc>
                          <a:spcPts val="1325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0%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0795" marR="0" algn="ctr">
                        <a:lnSpc>
                          <a:spcPts val="1325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0%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065" marR="0" algn="ctr">
                        <a:lnSpc>
                          <a:spcPts val="1325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10%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063138383"/>
                  </a:ext>
                </a:extLst>
              </a:tr>
              <a:tr h="403707">
                <a:tc>
                  <a:txBody>
                    <a:bodyPr/>
                    <a:lstStyle/>
                    <a:p>
                      <a:pPr marL="191770" marR="182880" algn="ctr">
                        <a:lnSpc>
                          <a:spcPts val="1315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Final</a:t>
                      </a:r>
                      <a:r>
                        <a:rPr lang="en-US" sz="1200" spc="-1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Exam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07950" marR="97790" algn="ctr">
                        <a:lnSpc>
                          <a:spcPts val="1315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5%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0485" marR="60325" algn="ctr">
                        <a:lnSpc>
                          <a:spcPts val="1315"/>
                        </a:lnSpc>
                        <a:buNone/>
                      </a:pPr>
                      <a:r>
                        <a:rPr lang="en-US" sz="1200" dirty="0">
                          <a:effectLst/>
                        </a:rPr>
                        <a:t>15%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24155" marR="0">
                        <a:lnSpc>
                          <a:spcPts val="1315"/>
                        </a:lnSpc>
                        <a:buNone/>
                      </a:pPr>
                      <a:r>
                        <a:rPr lang="en-US" sz="1200" dirty="0">
                          <a:effectLst/>
                        </a:rPr>
                        <a:t>20%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619072360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AB8FD496-C136-F0B5-5541-4A90042D49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4485505"/>
              </p:ext>
            </p:extLst>
          </p:nvPr>
        </p:nvGraphicFramePr>
        <p:xfrm>
          <a:off x="6029325" y="1801971"/>
          <a:ext cx="5172075" cy="4151155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{5C22544A-7EE6-4342-B048-85BDC9FD1C3A}</a:tableStyleId>
              </a:tblPr>
              <a:tblGrid>
                <a:gridCol w="3072019">
                  <a:extLst>
                    <a:ext uri="{9D8B030D-6E8A-4147-A177-3AD203B41FA5}">
                      <a16:colId xmlns:a16="http://schemas.microsoft.com/office/drawing/2014/main" val="3769880548"/>
                    </a:ext>
                  </a:extLst>
                </a:gridCol>
                <a:gridCol w="2100056">
                  <a:extLst>
                    <a:ext uri="{9D8B030D-6E8A-4147-A177-3AD203B41FA5}">
                      <a16:colId xmlns:a16="http://schemas.microsoft.com/office/drawing/2014/main" val="2281522939"/>
                    </a:ext>
                  </a:extLst>
                </a:gridCol>
              </a:tblGrid>
              <a:tr h="445184">
                <a:tc gridSpan="2">
                  <a:txBody>
                    <a:bodyPr/>
                    <a:lstStyle/>
                    <a:p>
                      <a:pPr marL="513080" marR="0" algn="ctr">
                        <a:lnSpc>
                          <a:spcPct val="107000"/>
                        </a:lnSpc>
                        <a:spcBef>
                          <a:spcPts val="5"/>
                        </a:spcBef>
                        <a:buNone/>
                      </a:pPr>
                      <a:r>
                        <a:rPr lang="en-US" sz="1200" dirty="0">
                          <a:effectLst/>
                        </a:rPr>
                        <a:t>GRADING</a:t>
                      </a:r>
                      <a:r>
                        <a:rPr lang="en-US" sz="1200" spc="-5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POLICY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6122402"/>
                  </a:ext>
                </a:extLst>
              </a:tr>
              <a:tr h="434559">
                <a:tc>
                  <a:txBody>
                    <a:bodyPr/>
                    <a:lstStyle/>
                    <a:p>
                      <a:pPr marL="187325" marR="189865" algn="ctr">
                        <a:lnSpc>
                          <a:spcPts val="1315"/>
                        </a:lnSpc>
                        <a:buNone/>
                      </a:pPr>
                      <a:r>
                        <a:rPr lang="en-US" sz="1200" dirty="0">
                          <a:effectLst/>
                        </a:rPr>
                        <a:t>Assessment</a:t>
                      </a:r>
                      <a:r>
                        <a:rPr lang="en-US" sz="1200" spc="-10" dirty="0">
                          <a:effectLst/>
                        </a:rPr>
                        <a:t> </a:t>
                      </a:r>
                      <a:r>
                        <a:rPr lang="en-US" sz="1200" dirty="0">
                          <a:effectLst/>
                        </a:rPr>
                        <a:t>Items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46685" marR="161925" algn="ctr">
                        <a:lnSpc>
                          <a:spcPts val="1315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Percentage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753575787"/>
                  </a:ext>
                </a:extLst>
              </a:tr>
              <a:tr h="432434">
                <a:tc>
                  <a:txBody>
                    <a:bodyPr/>
                    <a:lstStyle/>
                    <a:p>
                      <a:pPr marL="187325" marR="189865" algn="ctr">
                        <a:lnSpc>
                          <a:spcPts val="1315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Assignments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46685" marR="158750" algn="ctr">
                        <a:lnSpc>
                          <a:spcPts val="1315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10%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508074933"/>
                  </a:ext>
                </a:extLst>
              </a:tr>
              <a:tr h="432434">
                <a:tc>
                  <a:txBody>
                    <a:bodyPr/>
                    <a:lstStyle/>
                    <a:p>
                      <a:pPr marL="187325" marR="179070" algn="ctr">
                        <a:lnSpc>
                          <a:spcPts val="1315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Quizzes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46685" marR="158750" algn="ctr">
                        <a:lnSpc>
                          <a:spcPts val="1315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10%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999732723"/>
                  </a:ext>
                </a:extLst>
              </a:tr>
              <a:tr h="432434">
                <a:tc>
                  <a:txBody>
                    <a:bodyPr/>
                    <a:lstStyle/>
                    <a:p>
                      <a:pPr marL="187325" marR="179070" algn="ctr">
                        <a:lnSpc>
                          <a:spcPts val="1315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 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46685" marR="158750" algn="ctr">
                        <a:lnSpc>
                          <a:spcPts val="1315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 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516746439"/>
                  </a:ext>
                </a:extLst>
              </a:tr>
              <a:tr h="434559">
                <a:tc>
                  <a:txBody>
                    <a:bodyPr/>
                    <a:lstStyle/>
                    <a:p>
                      <a:pPr marL="187325" marR="178435" algn="ctr">
                        <a:lnSpc>
                          <a:spcPts val="1325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Midterm</a:t>
                      </a:r>
                      <a:r>
                        <a:rPr lang="en-US" sz="1200" spc="-1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Exam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46685" marR="158750" algn="ctr">
                        <a:lnSpc>
                          <a:spcPts val="1325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20%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991412821"/>
                  </a:ext>
                </a:extLst>
              </a:tr>
              <a:tr h="552496">
                <a:tc>
                  <a:txBody>
                    <a:bodyPr/>
                    <a:lstStyle/>
                    <a:p>
                      <a:pPr marL="194310" marR="182880" algn="ctr">
                        <a:lnSpc>
                          <a:spcPts val="1325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Problem Based Learning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46685" marR="160655" algn="ctr">
                        <a:lnSpc>
                          <a:spcPts val="1315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10%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661337226"/>
                  </a:ext>
                </a:extLst>
              </a:tr>
              <a:tr h="552496">
                <a:tc>
                  <a:txBody>
                    <a:bodyPr/>
                    <a:lstStyle/>
                    <a:p>
                      <a:pPr marL="194310" marR="182880" algn="ctr">
                        <a:lnSpc>
                          <a:spcPts val="1325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Complex Engineering Problem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46685" marR="160655" algn="ctr">
                        <a:lnSpc>
                          <a:spcPts val="1315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10%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914567558"/>
                  </a:ext>
                </a:extLst>
              </a:tr>
              <a:tr h="434559">
                <a:tc>
                  <a:txBody>
                    <a:bodyPr/>
                    <a:lstStyle/>
                    <a:p>
                      <a:pPr marL="187325" marR="179705" algn="ctr">
                        <a:lnSpc>
                          <a:spcPts val="1315"/>
                        </a:lnSpc>
                        <a:buNone/>
                      </a:pPr>
                      <a:r>
                        <a:rPr lang="en-US" sz="1200">
                          <a:effectLst/>
                        </a:rPr>
                        <a:t>Final</a:t>
                      </a:r>
                      <a:r>
                        <a:rPr lang="en-US" sz="1200" spc="-10">
                          <a:effectLst/>
                        </a:rPr>
                        <a:t> </a:t>
                      </a:r>
                      <a:r>
                        <a:rPr lang="en-US" sz="1200">
                          <a:effectLst/>
                        </a:rPr>
                        <a:t>Exam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46685" marR="158750" algn="ctr">
                        <a:lnSpc>
                          <a:spcPts val="1315"/>
                        </a:lnSpc>
                        <a:buNone/>
                      </a:pPr>
                      <a:r>
                        <a:rPr lang="en-US" sz="1200" dirty="0">
                          <a:effectLst/>
                        </a:rPr>
                        <a:t>40%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9925291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73731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299</TotalTime>
  <Words>624</Words>
  <Application>Microsoft Office PowerPoint</Application>
  <PresentationFormat>Widescreen</PresentationFormat>
  <Paragraphs>269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Times New Roman</vt:lpstr>
      <vt:lpstr>Office Theme</vt:lpstr>
      <vt:lpstr>PowerPoint Presentation</vt:lpstr>
      <vt:lpstr>Course Outline</vt:lpstr>
      <vt:lpstr>PowerPoint Presentation</vt:lpstr>
      <vt:lpstr>PowerPoint Presentation</vt:lpstr>
      <vt:lpstr>PowerPoint Presentation</vt:lpstr>
      <vt:lpstr>Assessment Information: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Hussain</dc:creator>
  <cp:lastModifiedBy>Muhammad Hussain</cp:lastModifiedBy>
  <cp:revision>6</cp:revision>
  <dcterms:created xsi:type="dcterms:W3CDTF">2025-10-13T08:01:49Z</dcterms:created>
  <dcterms:modified xsi:type="dcterms:W3CDTF">2025-10-14T11:57:53Z</dcterms:modified>
</cp:coreProperties>
</file>