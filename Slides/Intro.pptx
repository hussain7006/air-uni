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6EBA-3E3E-CAE6-B807-D41BA0B3F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E6C83-512B-69C0-620D-C335007E7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70108-EAD6-040E-B4D4-A50286F7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2B7AF-BD88-34EA-C740-EC26CB44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0B52-E4E5-CB32-B39D-846A83B5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5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509A-CCD7-55A9-5839-BD5B4457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D4B9-49E5-ACFB-C83D-20B7B2FC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3CFE6-4376-52D5-6CAB-124407AB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F3A6-4AF5-722B-DFD6-0CE81840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08B48-ED99-B331-B9B2-6F6E630E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5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F52F-6D40-FB75-4240-A323FD68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E7049-C6DE-0102-923B-C7980B7B2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66E3F-B996-BF25-998E-85B1865A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7FDE-69A7-ADA1-26D8-27915F14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ACC03-F3F0-CE32-6556-946D3383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7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5EFA-51AB-FEAD-6130-6800C4E2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43E9-0FEF-3F0D-9978-816F02E50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819A0-575C-5AB5-D333-FA77F5BC9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5A188-73CE-F3B3-BAEA-6838B053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9AD9B-A57E-5401-8059-DD469735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FC69A-12F2-AC3D-6771-A989BF85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5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9B62-3571-0550-4110-ADAD54A2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1801B-7D73-61ED-0685-D2BD20571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4020-5C21-AF3C-020F-DAC1547BA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336DA-B058-8EEE-C45C-2D3936886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6F9F52-2685-006A-E420-5757D2B8F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79912-4BB8-DD35-5BB9-1F3F08EE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89357-B72E-F6D8-2A03-EF47895F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F8207-0B6C-F615-05D2-C59E5746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8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755A-0427-4B80-6CE7-A7A1525C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CFC1F-A7C6-0607-5C6F-33182A7C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37579-AA33-5D25-7B26-AD845AB7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1AAC6-02CA-5B3B-AD3A-7F005A6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9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20C55-3A37-DC29-562E-6189B4E2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33DDB-FF00-C2B0-C454-8F0975C3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E7B4-74A8-4B81-AA71-70914441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3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403F-0C67-D593-115C-DD8BEED2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BCBB3-9921-158B-7729-DA1D8D80D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42240-9B9D-3A38-3A58-EEB330DC5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66859-3C5E-7016-E90E-0F58E266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B369A-7050-0DB2-DDE3-5ECC0658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7C729-C2D2-1D0D-2F8F-C9EFC64B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9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0715-FD9F-1BBD-CBBF-7CE0284A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F4FE37-6609-1B96-58DE-1D88BD30B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CB6F4-B6F2-8B51-E7A8-8ED99D6CC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7A0F-D9F9-E32E-CF9F-ABA5D815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FB193-44B0-5540-E5B4-43EFDE06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618C4-8887-6410-A54C-7D0456FB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1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83BF-AFAC-708D-3E7B-BD9CBEE3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9117F-6F86-AF47-1C69-E31496724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8943-916D-7323-2BAB-5515AEAD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78DDF-5437-12C2-E4DD-BFD2A29B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6992C-45F1-155E-1651-0BECE34F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1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8F839-428B-A73D-A947-A2EBBDE1F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522BB-CEF0-9EF0-9CBB-8837A22D5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49B3-2D7B-1638-DA54-7D274E92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F5C8E-0611-C706-D19B-97A5160F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630EF-A1CF-CD09-53AC-30F575F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2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1FFB8B-D4F0-4969-0F2C-5E6B62A7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053C5-957C-F231-F19B-2317A707E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7475-383E-1CAD-5D40-3319796E9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98D18-60DA-44A0-8BB7-8968EFFFEA5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0B9F-B589-0A77-76A3-0EAB5B7F0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5B2F-10F4-71CB-5499-5DC578DA1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7B9B5-DDD6-4A08-9E5F-02156C30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6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81AC7B6-5526-93E0-5DAA-0A8FBFDF8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819150"/>
            <a:ext cx="9144000" cy="4857749"/>
          </a:xfrm>
        </p:spPr>
        <p:txBody>
          <a:bodyPr>
            <a:normAutofit/>
          </a:bodyPr>
          <a:lstStyle/>
          <a:p>
            <a:r>
              <a:rPr lang="en-US" sz="4800" b="1" dirty="0"/>
              <a:t>Algorithms and Data Structures</a:t>
            </a:r>
          </a:p>
          <a:p>
            <a:br>
              <a:rPr lang="en-US" sz="3200" dirty="0"/>
            </a:br>
            <a:r>
              <a:rPr lang="en-US" sz="3200" b="1" dirty="0"/>
              <a:t>Muhammad Hussain</a:t>
            </a:r>
          </a:p>
          <a:p>
            <a:r>
              <a:rPr lang="en-US" sz="3200" dirty="0"/>
              <a:t>Lecturer, Air University</a:t>
            </a:r>
          </a:p>
          <a:p>
            <a:endParaRPr lang="en-US" sz="3200" dirty="0"/>
          </a:p>
          <a:p>
            <a:r>
              <a:rPr lang="en-US" sz="3200" dirty="0"/>
              <a:t>BE (Electrical), MS (Computer Science)</a:t>
            </a:r>
          </a:p>
          <a:p>
            <a:r>
              <a:rPr lang="en-US" sz="3200" dirty="0"/>
              <a:t>Contact: m.hussain7006@gmail.com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0DC75F-EBA9-97D6-9481-523212454DC1}"/>
              </a:ext>
            </a:extLst>
          </p:cNvPr>
          <p:cNvCxnSpPr/>
          <p:nvPr/>
        </p:nvCxnSpPr>
        <p:spPr>
          <a:xfrm>
            <a:off x="1476375" y="1781175"/>
            <a:ext cx="8963025" cy="0"/>
          </a:xfrm>
          <a:prstGeom prst="line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04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F7C9-7A96-3F97-BF5E-39C9605A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456" y="392016"/>
            <a:ext cx="3866515" cy="93618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Course Outline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975A833-749A-7F04-8F7C-A2E48AAFB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915961"/>
              </p:ext>
            </p:extLst>
          </p:nvPr>
        </p:nvGraphicFramePr>
        <p:xfrm>
          <a:off x="1590357" y="1428655"/>
          <a:ext cx="9049385" cy="16854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302319422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69578785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53043512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79189831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186055" marR="183515" algn="ctr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Week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 marR="130810" algn="ctr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Lecture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Topics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3705" marR="0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CLOs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23075581"/>
                  </a:ext>
                </a:extLst>
              </a:tr>
              <a:tr h="53848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1110"/>
                        </a:spcBef>
                        <a:buNone/>
                      </a:pPr>
                      <a:r>
                        <a:rPr lang="en-US" sz="1300" dirty="0">
                          <a:effectLst/>
                        </a:rPr>
                        <a:t>         </a:t>
                      </a: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111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           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Introduction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to</a:t>
                      </a:r>
                      <a:r>
                        <a:rPr lang="en-US" sz="1200" spc="-1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Data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Structures</a:t>
                      </a:r>
                      <a:endParaRPr lang="en-US" sz="1100" dirty="0">
                        <a:effectLst/>
                      </a:endParaRPr>
                    </a:p>
                    <a:p>
                      <a:pPr marL="14605" marR="1096645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What</a:t>
                      </a:r>
                      <a:r>
                        <a:rPr lang="en-US" sz="1200" spc="-2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is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Data?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What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is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Data</a:t>
                      </a:r>
                      <a:r>
                        <a:rPr lang="en-US" sz="1200" spc="-1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Structure?</a:t>
                      </a:r>
                      <a:r>
                        <a:rPr lang="en-US" sz="1200" spc="-28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Classification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of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Data Structure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1110"/>
                        </a:spcBef>
                        <a:buNone/>
                      </a:pPr>
                      <a:r>
                        <a:rPr lang="en-US" sz="1300">
                          <a:effectLst/>
                        </a:rPr>
                        <a:t>         </a:t>
                      </a:r>
                      <a:r>
                        <a:rPr lang="en-US" sz="1200">
                          <a:effectLst/>
                        </a:rPr>
                        <a:t>CLO_1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60476148"/>
                  </a:ext>
                </a:extLst>
              </a:tr>
              <a:tr h="681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7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762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Introduction</a:t>
                      </a:r>
                      <a:r>
                        <a:rPr lang="en-US" sz="1200" spc="-1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to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Algorithms</a:t>
                      </a:r>
                      <a:endParaRPr lang="en-US" sz="1100" dirty="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The</a:t>
                      </a:r>
                      <a:r>
                        <a:rPr lang="en-US" sz="1200" spc="-1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Big Picture</a:t>
                      </a:r>
                      <a:endParaRPr lang="en-US" sz="1100" dirty="0">
                        <a:effectLst/>
                      </a:endParaRPr>
                    </a:p>
                    <a:p>
                      <a:pPr marL="14605" marR="180594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Flowchart</a:t>
                      </a:r>
                      <a:r>
                        <a:rPr lang="en-US" sz="1200" spc="-4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Building</a:t>
                      </a:r>
                      <a:r>
                        <a:rPr lang="en-US" sz="1200" spc="-4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Blocks</a:t>
                      </a:r>
                      <a:r>
                        <a:rPr lang="en-US" sz="1200" spc="-28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Stepwise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Refinements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40386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794032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35CCD07-AC6A-B5E2-7C79-4891BEC93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851209"/>
              </p:ext>
            </p:extLst>
          </p:nvPr>
        </p:nvGraphicFramePr>
        <p:xfrm>
          <a:off x="1590357" y="3114073"/>
          <a:ext cx="9049385" cy="149129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364052398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3353573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06629644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612077450"/>
                    </a:ext>
                  </a:extLst>
                </a:gridCol>
              </a:tblGrid>
              <a:tr h="91376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81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35"/>
                        </a:spcBef>
                        <a:buNone/>
                      </a:pPr>
                      <a:r>
                        <a:rPr lang="en-US" sz="155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762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2074545">
                        <a:lnSpc>
                          <a:spcPct val="107000"/>
                        </a:lnSpc>
                        <a:spcBef>
                          <a:spcPts val="6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Analysis of Algorithm</a:t>
                      </a:r>
                      <a:r>
                        <a:rPr lang="en-US" sz="1200" spc="-29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Time Complexity</a:t>
                      </a:r>
                      <a:endParaRPr lang="en-US" sz="110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Worst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Case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Analysis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35"/>
                        </a:spcBef>
                        <a:buNone/>
                      </a:pPr>
                      <a:r>
                        <a:rPr lang="en-US" sz="15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8735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2345617"/>
                  </a:ext>
                </a:extLst>
              </a:tr>
              <a:tr h="336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14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762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148082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Worst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Case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Analysis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continues..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Space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Complexity</a:t>
                      </a:r>
                      <a:endParaRPr lang="en-US" sz="110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Time-Space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Trade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145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38735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0948403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7694C92-8295-A330-BA89-680322A7D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442725"/>
              </p:ext>
            </p:extLst>
          </p:nvPr>
        </p:nvGraphicFramePr>
        <p:xfrm>
          <a:off x="1590356" y="4605371"/>
          <a:ext cx="9049385" cy="92443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245533356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4165362968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39750489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513775386"/>
                    </a:ext>
                  </a:extLst>
                </a:gridCol>
              </a:tblGrid>
              <a:tr h="31559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85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381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Big-O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Notation</a:t>
                      </a:r>
                      <a:endParaRPr lang="en-US" sz="110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Scalability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38735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65386089"/>
                  </a:ext>
                </a:extLst>
              </a:tr>
              <a:tr h="287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Arrays</a:t>
                      </a:r>
                      <a:endParaRPr lang="en-US" sz="110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Insertion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Deletion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operations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          </a:t>
                      </a:r>
                      <a:r>
                        <a:rPr lang="en-US" sz="1200" dirty="0">
                          <a:effectLst/>
                        </a:rPr>
                        <a:t>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359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85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43ECE5-9E54-E9A6-7F03-06D95FD0D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695335"/>
              </p:ext>
            </p:extLst>
          </p:nvPr>
        </p:nvGraphicFramePr>
        <p:xfrm>
          <a:off x="1580832" y="649827"/>
          <a:ext cx="9049385" cy="15718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2069388754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408369293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64396423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714638866"/>
                    </a:ext>
                  </a:extLst>
                </a:gridCol>
              </a:tblGrid>
              <a:tr h="62420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lang="en-US" sz="12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81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spcBef>
                          <a:spcPts val="5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Searching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Sorting</a:t>
                      </a:r>
                      <a:endParaRPr lang="en-US" sz="1100">
                        <a:effectLst/>
                      </a:endParaRPr>
                    </a:p>
                    <a:p>
                      <a:pPr marL="14605" marR="1933575">
                        <a:lnSpc>
                          <a:spcPct val="107000"/>
                        </a:lnSpc>
                        <a:spcBef>
                          <a:spcPts val="18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Linear</a:t>
                      </a:r>
                      <a:r>
                        <a:rPr lang="en-US" sz="1200" spc="-4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Search</a:t>
                      </a:r>
                      <a:r>
                        <a:rPr lang="en-US" sz="1200" spc="-4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Binary Search Algorithm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          CLO_1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01634479"/>
                  </a:ext>
                </a:extLst>
              </a:tr>
              <a:tr h="287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5"/>
                        </a:spcBef>
                        <a:buNone/>
                      </a:pPr>
                      <a:r>
                        <a:rPr lang="en-US" sz="14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762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Hashing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techniques</a:t>
                      </a:r>
                      <a:endParaRPr lang="en-US" sz="1100">
                        <a:effectLst/>
                      </a:endParaRPr>
                    </a:p>
                    <a:p>
                      <a:pPr marL="14605" marR="1544320">
                        <a:lnSpc>
                          <a:spcPct val="1070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Hash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Table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Hash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functions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Collision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resolution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techniques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381000">
                        <a:lnSpc>
                          <a:spcPct val="107000"/>
                        </a:lnSpc>
                        <a:buNone/>
                      </a:pPr>
                      <a:r>
                        <a:rPr lang="en-US" sz="1450" dirty="0">
                          <a:effectLst/>
                        </a:rPr>
                        <a:t>        </a:t>
                      </a:r>
                      <a:r>
                        <a:rPr lang="en-US" sz="1200" dirty="0">
                          <a:effectLst/>
                        </a:rPr>
                        <a:t>CLO_1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05007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67D9E8-CF01-2B48-CC5D-562EA011C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9147"/>
              </p:ext>
            </p:extLst>
          </p:nvPr>
        </p:nvGraphicFramePr>
        <p:xfrm>
          <a:off x="1580832" y="2222151"/>
          <a:ext cx="9049385" cy="83934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117272711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889263594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88359734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148044975"/>
                    </a:ext>
                  </a:extLst>
                </a:gridCol>
              </a:tblGrid>
              <a:tr h="38417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ts val="100"/>
                        </a:lnSpc>
                        <a:buNone/>
                        <a:tabLst>
                          <a:tab pos="739775" algn="l"/>
                        </a:tabLst>
                      </a:pPr>
                      <a:r>
                        <a:rPr lang="en-US" sz="100">
                          <a:effectLst/>
                        </a:rPr>
                        <a:t>	</a:t>
                      </a:r>
                      <a:r>
                        <a:rPr lang="en-US" sz="1100">
                          <a:effectLst/>
                        </a:rPr>
                        <a:t>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35"/>
                        </a:spcBef>
                        <a:buNone/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81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93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Linear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Quadratic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probing</a:t>
                      </a:r>
                      <a:endParaRPr lang="en-US" sz="110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Double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hashing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81000" algn="ctr">
                        <a:lnSpc>
                          <a:spcPct val="107000"/>
                        </a:lnSpc>
                        <a:spcBef>
                          <a:spcPts val="93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         CLO_1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4405266"/>
                  </a:ext>
                </a:extLst>
              </a:tr>
              <a:tr h="3956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lang="en-US" sz="16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117475" marR="11049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1026795">
                        <a:lnSpc>
                          <a:spcPct val="107000"/>
                        </a:lnSpc>
                        <a:spcBef>
                          <a:spcPts val="9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Selection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Insertion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Sort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Algorithms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Bubble Sort Algorithm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          CLO_1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3855652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4FEC02DE-EA0E-01E5-3A21-9B10C32475DC}"/>
              </a:ext>
            </a:extLst>
          </p:cNvPr>
          <p:cNvGrpSpPr>
            <a:grpSpLocks/>
          </p:cNvGrpSpPr>
          <p:nvPr/>
        </p:nvGrpSpPr>
        <p:grpSpPr bwMode="auto">
          <a:xfrm>
            <a:off x="1581150" y="2221707"/>
            <a:ext cx="12700" cy="12700"/>
            <a:chOff x="0" y="0"/>
            <a:chExt cx="19" cy="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5D59E1-2EAB-C855-F899-9D59248E9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" cy="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590A1A-7072-41CA-CEA7-78D9B1C28A29}"/>
              </a:ext>
            </a:extLst>
          </p:cNvPr>
          <p:cNvGrpSpPr>
            <a:grpSpLocks/>
          </p:cNvGrpSpPr>
          <p:nvPr/>
        </p:nvGrpSpPr>
        <p:grpSpPr bwMode="auto">
          <a:xfrm>
            <a:off x="1581150" y="2221707"/>
            <a:ext cx="12700" cy="12700"/>
            <a:chOff x="0" y="0"/>
            <a:chExt cx="20" cy="2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562523-88D5-4429-57B1-817A9E825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" cy="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3EA3EE-4F43-50B1-4111-CE316A7AA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237049"/>
              </p:ext>
            </p:extLst>
          </p:nvPr>
        </p:nvGraphicFramePr>
        <p:xfrm>
          <a:off x="1593850" y="3061494"/>
          <a:ext cx="9049385" cy="11550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3215372109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22803063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76429925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226351486"/>
                    </a:ext>
                  </a:extLst>
                </a:gridCol>
              </a:tblGrid>
              <a:tr h="25273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54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10490" algn="ctr">
                        <a:lnSpc>
                          <a:spcPct val="107000"/>
                        </a:lnSpc>
                        <a:spcBef>
                          <a:spcPts val="83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Quick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Sort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</a:t>
                      </a:r>
                      <a:endParaRPr lang="en-US" sz="1100">
                        <a:effectLst/>
                      </a:endParaRPr>
                    </a:p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Complexity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comparison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81000">
                        <a:lnSpc>
                          <a:spcPct val="107000"/>
                        </a:lnSpc>
                        <a:spcBef>
                          <a:spcPts val="830"/>
                        </a:spcBef>
                        <a:buNone/>
                      </a:pPr>
                      <a:r>
                        <a:rPr lang="en-US" sz="1300">
                          <a:effectLst/>
                        </a:rPr>
                        <a:t>          </a:t>
                      </a:r>
                      <a:r>
                        <a:rPr lang="en-US" sz="1200">
                          <a:effectLst/>
                        </a:rPr>
                        <a:t>CLO_1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6110646"/>
                  </a:ext>
                </a:extLst>
              </a:tr>
              <a:tr h="5156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117475" marR="110490" algn="ctr">
                        <a:lnSpc>
                          <a:spcPct val="107000"/>
                        </a:lnSpc>
                        <a:spcBef>
                          <a:spcPts val="116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Stack</a:t>
                      </a:r>
                      <a:endParaRPr lang="en-US" sz="1100">
                        <a:effectLst/>
                      </a:endParaRPr>
                    </a:p>
                    <a:p>
                      <a:pPr marL="14605" marR="214757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Operations on Stack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Expression</a:t>
                      </a:r>
                      <a:r>
                        <a:rPr lang="en-US" sz="1200" spc="-7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Notations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81000">
                        <a:lnSpc>
                          <a:spcPct val="107000"/>
                        </a:lnSpc>
                        <a:spcBef>
                          <a:spcPts val="1160"/>
                        </a:spcBef>
                        <a:buNone/>
                      </a:pPr>
                      <a:r>
                        <a:rPr lang="en-US" sz="1300" dirty="0">
                          <a:effectLst/>
                        </a:rPr>
                        <a:t>        </a:t>
                      </a:r>
                      <a:r>
                        <a:rPr lang="en-US" sz="1200" dirty="0">
                          <a:effectLst/>
                        </a:rPr>
                        <a:t>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11419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6C56E8-DEE3-E535-0F21-D482A63AE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657001"/>
              </p:ext>
            </p:extLst>
          </p:nvPr>
        </p:nvGraphicFramePr>
        <p:xfrm>
          <a:off x="1593850" y="4216560"/>
          <a:ext cx="9070975" cy="100825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410921114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1919411830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108248018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27274369"/>
                    </a:ext>
                  </a:extLst>
                </a:gridCol>
              </a:tblGrid>
              <a:tr h="36639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5715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8448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2136775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Applications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Stack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Recursion</a:t>
                      </a:r>
                      <a:endParaRPr lang="en-US" sz="1100">
                        <a:effectLst/>
                      </a:endParaRPr>
                    </a:p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Tower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Hanoi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      </a:t>
                      </a:r>
                      <a:r>
                        <a:rPr lang="en-US" sz="1200">
                          <a:effectLst/>
                        </a:rPr>
                        <a:t>CLO_2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7131803"/>
                  </a:ext>
                </a:extLst>
              </a:tr>
              <a:tr h="298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8448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610995">
                        <a:lnSpc>
                          <a:spcPct val="107000"/>
                        </a:lnSpc>
                        <a:spcBef>
                          <a:spcPts val="11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Infix to Postfix Conversion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Evaluating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Postfix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Expression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37846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19345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845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427F074-5479-7CE7-D692-ED9811ADA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812380"/>
              </p:ext>
            </p:extLst>
          </p:nvPr>
        </p:nvGraphicFramePr>
        <p:xfrm>
          <a:off x="1622425" y="900464"/>
          <a:ext cx="9070975" cy="137617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463213250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4091233306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3666740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2838027"/>
                    </a:ext>
                  </a:extLst>
                </a:gridCol>
              </a:tblGrid>
              <a:tr h="73850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5715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5"/>
                        </a:spcBef>
                        <a:buNone/>
                      </a:pPr>
                      <a:r>
                        <a:rPr lang="en-US" sz="18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8448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>
                        <a:lnSpc>
                          <a:spcPct val="107000"/>
                        </a:lnSpc>
                        <a:spcBef>
                          <a:spcPts val="45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Queues</a:t>
                      </a:r>
                      <a:endParaRPr lang="en-US" sz="1100">
                        <a:effectLst/>
                      </a:endParaRPr>
                    </a:p>
                    <a:p>
                      <a:pPr marL="11430" marR="2162175">
                        <a:lnSpc>
                          <a:spcPct val="107000"/>
                        </a:lnSpc>
                        <a:spcBef>
                          <a:spcPts val="16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Operations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Queue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Circular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Queue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5"/>
                        </a:spcBef>
                        <a:buNone/>
                      </a:pPr>
                      <a:r>
                        <a:rPr lang="en-US" sz="18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7846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23102010"/>
                  </a:ext>
                </a:extLst>
              </a:tr>
              <a:tr h="3778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8448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941830">
                        <a:lnSpc>
                          <a:spcPct val="107000"/>
                        </a:lnSpc>
                        <a:spcBef>
                          <a:spcPts val="11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Input Restricted Deque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Output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Restricted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Deque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378460" marR="3937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9925874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FCDC97-7A8E-5065-20BF-447F58026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19654"/>
              </p:ext>
            </p:extLst>
          </p:nvPr>
        </p:nvGraphicFramePr>
        <p:xfrm>
          <a:off x="1622425" y="2352837"/>
          <a:ext cx="9070975" cy="4775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775602504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134776303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301007855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1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5715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8285" marR="1887220" algn="ctr">
                        <a:lnSpc>
                          <a:spcPct val="107000"/>
                        </a:lnSpc>
                        <a:spcBef>
                          <a:spcPts val="690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MID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TERM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 marR="35052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CLO_1,</a:t>
                      </a:r>
                      <a:r>
                        <a:rPr lang="en-US" sz="1200" spc="-29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277893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B28BFA-6450-5A71-8208-7C68FD6B1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05223"/>
              </p:ext>
            </p:extLst>
          </p:nvPr>
        </p:nvGraphicFramePr>
        <p:xfrm>
          <a:off x="1622424" y="2870991"/>
          <a:ext cx="9070975" cy="111855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3848219464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992562973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151318022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089325057"/>
                    </a:ext>
                  </a:extLst>
                </a:gridCol>
              </a:tblGrid>
              <a:tr h="52070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02260"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      </a:t>
                      </a: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8448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>
                        <a:lnSpc>
                          <a:spcPct val="107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Linked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List</a:t>
                      </a:r>
                      <a:endParaRPr lang="en-US" sz="1100">
                        <a:effectLst/>
                      </a:endParaRPr>
                    </a:p>
                    <a:p>
                      <a:pPr marL="11430" marR="1380490">
                        <a:lnSpc>
                          <a:spcPct val="107000"/>
                        </a:lnSpc>
                        <a:spcBef>
                          <a:spcPts val="17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Representation of Linked list in C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Insertion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 Singly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Linked List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810" marR="39370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3440081"/>
                  </a:ext>
                </a:extLst>
              </a:tr>
              <a:tr h="5156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292735" algn="ctr">
                        <a:lnSpc>
                          <a:spcPct val="107000"/>
                        </a:lnSpc>
                        <a:spcBef>
                          <a:spcPts val="86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       18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Insertion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Singly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Linked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List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continues..</a:t>
                      </a:r>
                      <a:endParaRPr lang="en-US" sz="1100">
                        <a:effectLst/>
                      </a:endParaRPr>
                    </a:p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Searching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in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Linked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810" marR="393700" algn="ctr">
                        <a:lnSpc>
                          <a:spcPct val="107000"/>
                        </a:lnSpc>
                        <a:spcBef>
                          <a:spcPts val="615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269481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2A4C21-B8BA-BE22-3E33-9FE3EB15D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57785"/>
              </p:ext>
            </p:extLst>
          </p:nvPr>
        </p:nvGraphicFramePr>
        <p:xfrm>
          <a:off x="1622424" y="3989544"/>
          <a:ext cx="9070975" cy="56794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2558130709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319733028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259014707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57558822"/>
                    </a:ext>
                  </a:extLst>
                </a:gridCol>
              </a:tblGrid>
              <a:tr h="215900">
                <a:tc rowSpan="2">
                  <a:txBody>
                    <a:bodyPr/>
                    <a:lstStyle/>
                    <a:p>
                      <a:pPr marL="0" marR="30226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        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550" dirty="0">
                          <a:effectLst/>
                        </a:rPr>
                        <a:t>       </a:t>
                      </a:r>
                      <a:r>
                        <a:rPr lang="en-US" sz="1200" dirty="0">
                          <a:effectLst/>
                        </a:rPr>
                        <a:t>19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55067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Deletion on Singly Linked List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Types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 Linked Lists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8100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         CLO_2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30770054"/>
                  </a:ext>
                </a:extLst>
              </a:tr>
              <a:tr h="1035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29273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         20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Stack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 Queue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using Linked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81000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        CLO_2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4968186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7161F0-A948-D154-F76D-C25C490CC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515799"/>
              </p:ext>
            </p:extLst>
          </p:nvPr>
        </p:nvGraphicFramePr>
        <p:xfrm>
          <a:off x="1622424" y="4567014"/>
          <a:ext cx="9090844" cy="120859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3730215802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847416285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2391608819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556325960"/>
                    </a:ext>
                  </a:extLst>
                </a:gridCol>
                <a:gridCol w="29394">
                  <a:extLst>
                    <a:ext uri="{9D8B030D-6E8A-4147-A177-3AD203B41FA5}">
                      <a16:colId xmlns:a16="http://schemas.microsoft.com/office/drawing/2014/main" val="3092625853"/>
                    </a:ext>
                  </a:extLst>
                </a:gridCol>
              </a:tblGrid>
              <a:tr h="48069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02260" algn="ctr">
                        <a:lnSpc>
                          <a:spcPct val="107000"/>
                        </a:lnSpc>
                        <a:spcBef>
                          <a:spcPts val="90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lang="en-US" sz="175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284480" marR="2921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21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Trees</a:t>
                      </a:r>
                      <a:endParaRPr lang="en-US" sz="1100">
                        <a:effectLst/>
                      </a:endParaRPr>
                    </a:p>
                    <a:p>
                      <a:pPr marL="11430" marR="488315">
                        <a:lnSpc>
                          <a:spcPct val="107000"/>
                        </a:lnSpc>
                        <a:spcBef>
                          <a:spcPts val="14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Basic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Terminologies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and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memory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representation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Traversing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Binary Trees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810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       </a:t>
                      </a:r>
                      <a:r>
                        <a:rPr lang="en-US" sz="1200">
                          <a:effectLst/>
                        </a:rPr>
                        <a:t>CLO_3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3511"/>
                  </a:ext>
                </a:extLst>
              </a:tr>
              <a:tr h="274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7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84480" marR="292100"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22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1430" marR="2273300">
                        <a:lnSpc>
                          <a:spcPct val="107000"/>
                        </a:lnSpc>
                        <a:spcBef>
                          <a:spcPts val="12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Binary</a:t>
                      </a:r>
                      <a:r>
                        <a:rPr lang="en-US" sz="1200" spc="-4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Search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Tree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Searching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BST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Insertion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BST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81000">
                        <a:lnSpc>
                          <a:spcPct val="107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        </a:t>
                      </a:r>
                      <a:r>
                        <a:rPr lang="en-US" sz="1200">
                          <a:effectLst/>
                        </a:rPr>
                        <a:t>CLO_3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458982"/>
                  </a:ext>
                </a:extLst>
              </a:tr>
              <a:tr h="38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0650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7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318301-F71C-85EB-2A2F-6D8EB1A38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068421"/>
              </p:ext>
            </p:extLst>
          </p:nvPr>
        </p:nvGraphicFramePr>
        <p:xfrm>
          <a:off x="1565275" y="614902"/>
          <a:ext cx="9061450" cy="9118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3137721736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2626354788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804883964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3936849111"/>
                    </a:ext>
                  </a:extLst>
                </a:gridCol>
              </a:tblGrid>
              <a:tr h="36068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07975" algn="ctr">
                        <a:lnSpc>
                          <a:spcPct val="107000"/>
                        </a:lnSpc>
                        <a:spcBef>
                          <a:spcPts val="97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7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92100" marR="299085" algn="ctr">
                        <a:lnSpc>
                          <a:spcPct val="107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23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Deletion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BST</a:t>
                      </a:r>
                      <a:endParaRPr lang="en-US" sz="1100">
                        <a:effectLst/>
                      </a:endParaRPr>
                    </a:p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Three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Cases: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No Child,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One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Child, Two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Children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7211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76601423"/>
                  </a:ext>
                </a:extLst>
              </a:tr>
              <a:tr h="263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7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92100" marR="299085" algn="ctr">
                        <a:lnSpc>
                          <a:spcPct val="107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268730">
                        <a:lnSpc>
                          <a:spcPct val="107000"/>
                        </a:lnSpc>
                        <a:spcBef>
                          <a:spcPts val="15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Complete vs Almost Complete BTs</a:t>
                      </a:r>
                      <a:r>
                        <a:rPr lang="en-US" sz="1200" spc="-29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Heap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Sort Algorithm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155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37211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614847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87C27C-4305-A5A3-4C05-4C5448521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709651"/>
              </p:ext>
            </p:extLst>
          </p:nvPr>
        </p:nvGraphicFramePr>
        <p:xfrm>
          <a:off x="1565275" y="1526762"/>
          <a:ext cx="9061450" cy="60534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2921816419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543754367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426133436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970404925"/>
                    </a:ext>
                  </a:extLst>
                </a:gridCol>
              </a:tblGrid>
              <a:tr h="22352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15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07975" algn="ctr">
                        <a:lnSpc>
                          <a:spcPct val="107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9908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       </a:t>
                      </a:r>
                      <a:r>
                        <a:rPr lang="en-US" sz="1100">
                          <a:effectLst/>
                        </a:rPr>
                        <a:t>25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Huffman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Encoding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7147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27973461"/>
                  </a:ext>
                </a:extLst>
              </a:tr>
              <a:tr h="463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299085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        </a:t>
                      </a:r>
                      <a:r>
                        <a:rPr lang="en-US" sz="1100">
                          <a:effectLst/>
                        </a:rPr>
                        <a:t>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Graphs</a:t>
                      </a:r>
                      <a:endParaRPr lang="en-US" sz="1100">
                        <a:effectLst/>
                      </a:endParaRPr>
                    </a:p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Basic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Terminologies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7211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7711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9A5890-A79A-8F79-7268-43F1F776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693667"/>
              </p:ext>
            </p:extLst>
          </p:nvPr>
        </p:nvGraphicFramePr>
        <p:xfrm>
          <a:off x="1565275" y="2137251"/>
          <a:ext cx="9061450" cy="95935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2129781464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4186596763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3908290950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1485665979"/>
                    </a:ext>
                  </a:extLst>
                </a:gridCol>
              </a:tblGrid>
              <a:tr h="19494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307975"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"/>
                        </a:spcBef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292100" marR="299085"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27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756920">
                        <a:lnSpc>
                          <a:spcPct val="107000"/>
                        </a:lnSpc>
                        <a:spcBef>
                          <a:spcPts val="15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Adjacency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Matrix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Representation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Graphs</a:t>
                      </a:r>
                      <a:r>
                        <a:rPr lang="en-US" sz="1200" spc="-28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Linked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List representation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 Graphs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50"/>
                        </a:spcBef>
                        <a:buNone/>
                      </a:pPr>
                      <a:r>
                        <a:rPr lang="en-US" sz="15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79730" marR="372110"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49399253"/>
                  </a:ext>
                </a:extLst>
              </a:tr>
              <a:tr h="63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299085" algn="ctr">
                        <a:lnSpc>
                          <a:spcPct val="107000"/>
                        </a:lnSpc>
                        <a:spcBef>
                          <a:spcPts val="1070"/>
                        </a:spcBef>
                        <a:buNone/>
                      </a:pPr>
                      <a:r>
                        <a:rPr lang="en-US" sz="1200">
                          <a:effectLst/>
                        </a:rPr>
                        <a:t>         </a:t>
                      </a:r>
                      <a:r>
                        <a:rPr lang="en-US" sz="11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Shortest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Path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</a:t>
                      </a:r>
                      <a:endParaRPr lang="en-US" sz="1100">
                        <a:effectLst/>
                      </a:endParaRPr>
                    </a:p>
                    <a:p>
                      <a:pPr marL="11430" marR="0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Dijkstra’s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Algorithm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0" marR="384175" algn="just">
                        <a:lnSpc>
                          <a:spcPct val="107000"/>
                        </a:lnSpc>
                        <a:spcBef>
                          <a:spcPts val="630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CLO_3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745345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F55D2C2-0B11-D248-A706-E2C994C5B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142624"/>
              </p:ext>
            </p:extLst>
          </p:nvPr>
        </p:nvGraphicFramePr>
        <p:xfrm>
          <a:off x="1565275" y="3096610"/>
          <a:ext cx="9061450" cy="50882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3347957980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677023586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619538066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320151026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311150"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16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296545" algn="ctr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100" dirty="0">
                          <a:effectLst/>
                        </a:rPr>
                        <a:t>29</a:t>
                      </a:r>
                    </a:p>
                    <a:p>
                      <a:pPr marL="300355" marR="296545" algn="ctr">
                        <a:lnSpc>
                          <a:spcPct val="107000"/>
                        </a:lnSpc>
                        <a:spcBef>
                          <a:spcPts val="990"/>
                        </a:spcBef>
                        <a:buNone/>
                      </a:pPr>
                      <a:r>
                        <a:rPr lang="en-US" sz="1100" dirty="0">
                          <a:effectLst/>
                        </a:rPr>
                        <a:t>30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marR="0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Depth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First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Traversal</a:t>
                      </a:r>
                    </a:p>
                    <a:p>
                      <a:pPr marL="17780" marR="0">
                        <a:lnSpc>
                          <a:spcPct val="107000"/>
                        </a:lnSpc>
                        <a:spcBef>
                          <a:spcPts val="245"/>
                        </a:spcBef>
                        <a:buNone/>
                      </a:pPr>
                      <a:r>
                        <a:rPr lang="en-US" sz="1100">
                          <a:effectLst/>
                        </a:rPr>
                        <a:t>Breadth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First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Traversal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8780" marR="0"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CLO_3</a:t>
                      </a:r>
                      <a:endParaRPr lang="en-US" sz="1100" dirty="0">
                        <a:effectLst/>
                      </a:endParaRPr>
                    </a:p>
                    <a:p>
                      <a:pPr marL="398780" marR="0" algn="just">
                        <a:lnSpc>
                          <a:spcPct val="107000"/>
                        </a:lnSpc>
                        <a:spcBef>
                          <a:spcPts val="1005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CLO_3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78798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3EB023-8F74-BC64-C870-CB89A5236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50828"/>
              </p:ext>
            </p:extLst>
          </p:nvPr>
        </p:nvGraphicFramePr>
        <p:xfrm>
          <a:off x="1565275" y="3605436"/>
          <a:ext cx="9061450" cy="52933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36309199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158817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309820829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1898617208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5230" marR="1207770" algn="ctr">
                        <a:lnSpc>
                          <a:spcPct val="107000"/>
                        </a:lnSpc>
                        <a:spcBef>
                          <a:spcPts val="820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 Exam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065" marR="440690" algn="just">
                        <a:lnSpc>
                          <a:spcPct val="10700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1100" dirty="0">
                          <a:effectLst/>
                        </a:rPr>
                        <a:t>CLO_1, CLO_2, CLO_3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41481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56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63E8-0C1D-41D8-E3FF-501F7535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Assessment Information: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7CB105-95D2-DD19-BEF4-E3B5D0038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93863"/>
              </p:ext>
            </p:extLst>
          </p:nvPr>
        </p:nvGraphicFramePr>
        <p:xfrm>
          <a:off x="838200" y="1801971"/>
          <a:ext cx="5029200" cy="419587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111373">
                  <a:extLst>
                    <a:ext uri="{9D8B030D-6E8A-4147-A177-3AD203B41FA5}">
                      <a16:colId xmlns:a16="http://schemas.microsoft.com/office/drawing/2014/main" val="3646556176"/>
                    </a:ext>
                  </a:extLst>
                </a:gridCol>
                <a:gridCol w="1013042">
                  <a:extLst>
                    <a:ext uri="{9D8B030D-6E8A-4147-A177-3AD203B41FA5}">
                      <a16:colId xmlns:a16="http://schemas.microsoft.com/office/drawing/2014/main" val="1125580730"/>
                    </a:ext>
                  </a:extLst>
                </a:gridCol>
                <a:gridCol w="926806">
                  <a:extLst>
                    <a:ext uri="{9D8B030D-6E8A-4147-A177-3AD203B41FA5}">
                      <a16:colId xmlns:a16="http://schemas.microsoft.com/office/drawing/2014/main" val="1217875511"/>
                    </a:ext>
                  </a:extLst>
                </a:gridCol>
                <a:gridCol w="977979">
                  <a:extLst>
                    <a:ext uri="{9D8B030D-6E8A-4147-A177-3AD203B41FA5}">
                      <a16:colId xmlns:a16="http://schemas.microsoft.com/office/drawing/2014/main" val="3696583047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marL="1198880" marR="0">
                        <a:lnSpc>
                          <a:spcPts val="137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CLOs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POLICY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078133"/>
                  </a:ext>
                </a:extLst>
              </a:tr>
              <a:tr h="546076">
                <a:tc>
                  <a:txBody>
                    <a:bodyPr/>
                    <a:lstStyle/>
                    <a:p>
                      <a:pPr marL="194310" marR="18288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Assessment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Items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120015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CLO_1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 marR="93980" algn="ctr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 marR="0">
                        <a:lnSpc>
                          <a:spcPts val="135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CLO_3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7241929"/>
                  </a:ext>
                </a:extLst>
              </a:tr>
              <a:tr h="507071">
                <a:tc>
                  <a:txBody>
                    <a:bodyPr/>
                    <a:lstStyle/>
                    <a:p>
                      <a:pPr marL="193040" marR="18288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Assignment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9779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 marR="571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015" marR="2349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61588655"/>
                  </a:ext>
                </a:extLst>
              </a:tr>
              <a:tr h="507071">
                <a:tc>
                  <a:txBody>
                    <a:bodyPr/>
                    <a:lstStyle/>
                    <a:p>
                      <a:pPr marL="192405" marR="18288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Quizzes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9779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 marR="571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015" marR="2349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13795137"/>
                  </a:ext>
                </a:extLst>
              </a:tr>
              <a:tr h="507071">
                <a:tc>
                  <a:txBody>
                    <a:bodyPr/>
                    <a:lstStyle/>
                    <a:p>
                      <a:pPr marL="193040" marR="18288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Midterm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Exam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9779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8%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 marR="6032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12%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015" marR="2349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0%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5251226"/>
                  </a:ext>
                </a:extLst>
              </a:tr>
              <a:tr h="507071">
                <a:tc>
                  <a:txBody>
                    <a:bodyPr/>
                    <a:lstStyle/>
                    <a:p>
                      <a:pPr marL="194310" marR="18288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Problem Based Learning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marR="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marR="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marR="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94537725"/>
                  </a:ext>
                </a:extLst>
              </a:tr>
              <a:tr h="760606">
                <a:tc>
                  <a:txBody>
                    <a:bodyPr/>
                    <a:lstStyle/>
                    <a:p>
                      <a:pPr marL="194310" marR="18288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Complex Engineering Problem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marR="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marR="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marR="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631383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pPr marL="191770" marR="18288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Final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Exam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9779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 marR="6032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15%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5" marR="0">
                        <a:lnSpc>
                          <a:spcPts val="131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20%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190723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8FD496-C136-F0B5-5541-4A90042D4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485505"/>
              </p:ext>
            </p:extLst>
          </p:nvPr>
        </p:nvGraphicFramePr>
        <p:xfrm>
          <a:off x="6029325" y="1801971"/>
          <a:ext cx="5172075" cy="415115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072019">
                  <a:extLst>
                    <a:ext uri="{9D8B030D-6E8A-4147-A177-3AD203B41FA5}">
                      <a16:colId xmlns:a16="http://schemas.microsoft.com/office/drawing/2014/main" val="3769880548"/>
                    </a:ext>
                  </a:extLst>
                </a:gridCol>
                <a:gridCol w="2100056">
                  <a:extLst>
                    <a:ext uri="{9D8B030D-6E8A-4147-A177-3AD203B41FA5}">
                      <a16:colId xmlns:a16="http://schemas.microsoft.com/office/drawing/2014/main" val="2281522939"/>
                    </a:ext>
                  </a:extLst>
                </a:gridCol>
              </a:tblGrid>
              <a:tr h="445184">
                <a:tc gridSpan="2">
                  <a:txBody>
                    <a:bodyPr/>
                    <a:lstStyle/>
                    <a:p>
                      <a:pPr marL="513080" marR="0" algn="ctr">
                        <a:lnSpc>
                          <a:spcPct val="107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GRADING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POLICY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122402"/>
                  </a:ext>
                </a:extLst>
              </a:tr>
              <a:tr h="434559">
                <a:tc>
                  <a:txBody>
                    <a:bodyPr/>
                    <a:lstStyle/>
                    <a:p>
                      <a:pPr marL="187325" marR="18986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Assessment</a:t>
                      </a:r>
                      <a:r>
                        <a:rPr lang="en-US" sz="1200" spc="-1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Items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6192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Percentage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53575787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187325" marR="18986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Assignments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587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8074933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187325" marR="17907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Quizzes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587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9732723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187325" marR="17907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587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16746439"/>
                  </a:ext>
                </a:extLst>
              </a:tr>
              <a:tr h="434559">
                <a:tc>
                  <a:txBody>
                    <a:bodyPr/>
                    <a:lstStyle/>
                    <a:p>
                      <a:pPr marL="187325" marR="178435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Midterm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Exam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5875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20%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1412821"/>
                  </a:ext>
                </a:extLst>
              </a:tr>
              <a:tr h="552496">
                <a:tc>
                  <a:txBody>
                    <a:bodyPr/>
                    <a:lstStyle/>
                    <a:p>
                      <a:pPr marL="194310" marR="18288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Problem Based Learning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6065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61337226"/>
                  </a:ext>
                </a:extLst>
              </a:tr>
              <a:tr h="552496">
                <a:tc>
                  <a:txBody>
                    <a:bodyPr/>
                    <a:lstStyle/>
                    <a:p>
                      <a:pPr marL="194310" marR="182880" algn="ctr">
                        <a:lnSpc>
                          <a:spcPts val="132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Complex Engineering Problem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6065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14567558"/>
                  </a:ext>
                </a:extLst>
              </a:tr>
              <a:tr h="434559">
                <a:tc>
                  <a:txBody>
                    <a:bodyPr/>
                    <a:lstStyle/>
                    <a:p>
                      <a:pPr marL="187325" marR="179705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Final</a:t>
                      </a:r>
                      <a:r>
                        <a:rPr lang="en-US" sz="1200" spc="-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Exam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685" marR="158750" algn="ctr">
                        <a:lnSpc>
                          <a:spcPts val="131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40%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92529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37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624</Words>
  <Application>Microsoft Office PowerPoint</Application>
  <PresentationFormat>Widescreen</PresentationFormat>
  <Paragraphs>269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Course Outline</vt:lpstr>
      <vt:lpstr>PowerPoint Presentation</vt:lpstr>
      <vt:lpstr>PowerPoint Presentation</vt:lpstr>
      <vt:lpstr>PowerPoint Presentation</vt:lpstr>
      <vt:lpstr>Assessment Information: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Hussain</dc:creator>
  <cp:lastModifiedBy>Muhammad Hussain</cp:lastModifiedBy>
  <cp:revision>6</cp:revision>
  <dcterms:created xsi:type="dcterms:W3CDTF">2025-10-13T08:01:49Z</dcterms:created>
  <dcterms:modified xsi:type="dcterms:W3CDTF">2025-10-13T09:37:49Z</dcterms:modified>
</cp:coreProperties>
</file>